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4034" r:id="rId4"/>
  </p:sldMasterIdLst>
  <p:notesMasterIdLst>
    <p:notesMasterId r:id="rId23"/>
  </p:notesMasterIdLst>
  <p:handoutMasterIdLst>
    <p:handoutMasterId r:id="rId24"/>
  </p:handoutMasterIdLst>
  <p:sldIdLst>
    <p:sldId id="2147482720" r:id="rId5"/>
    <p:sldId id="2147482731" r:id="rId6"/>
    <p:sldId id="2147482689" r:id="rId7"/>
    <p:sldId id="2147482752" r:id="rId8"/>
    <p:sldId id="2147482753" r:id="rId9"/>
    <p:sldId id="2147482754" r:id="rId10"/>
    <p:sldId id="2147482755" r:id="rId11"/>
    <p:sldId id="2147482757" r:id="rId12"/>
    <p:sldId id="2147482756" r:id="rId13"/>
    <p:sldId id="2147482758" r:id="rId14"/>
    <p:sldId id="2147482763" r:id="rId15"/>
    <p:sldId id="2147482759" r:id="rId16"/>
    <p:sldId id="2147482760" r:id="rId17"/>
    <p:sldId id="2147482761" r:id="rId18"/>
    <p:sldId id="2147482762" r:id="rId19"/>
    <p:sldId id="2147482751" r:id="rId20"/>
    <p:sldId id="2147482745" r:id="rId21"/>
    <p:sldId id="2147482707" r:id="rId22"/>
  </p:sldIdLst>
  <p:sldSz cx="12192000" cy="6858000"/>
  <p:notesSz cx="6858000" cy="9144000"/>
  <p:embeddedFontLst>
    <p:embeddedFont>
      <p:font typeface="Inter" panose="02000503000000020004" pitchFamily="2" charset="0"/>
      <p:regular r:id="rId25"/>
      <p:bold r:id="rId26"/>
      <p:italic r:id="rId27"/>
      <p:boldItalic r:id="rId28"/>
    </p:embeddedFont>
    <p:embeddedFont>
      <p:font typeface="Inter Light" panose="02000403000000020004" pitchFamily="2" charset="0"/>
      <p:regular r:id="rId29"/>
      <p:italic r:id="rId30"/>
    </p:embeddedFont>
    <p:embeddedFont>
      <p:font typeface="Inter SemiBold" panose="02000503000000020004" pitchFamily="2" charset="0"/>
      <p:regular r:id="rId31"/>
      <p:bold r:id="rId32"/>
      <p:italic r:id="rId33"/>
      <p:boldItalic r:id="rId34"/>
    </p:embeddedFont>
    <p:embeddedFont>
      <p:font typeface="MS PGothic" panose="020B0600070205080204" pitchFamily="34" charset="-128"/>
      <p:regular r:id="rId35"/>
    </p:embeddedFont>
    <p:embeddedFont>
      <p:font typeface="Source Code Pro" panose="020B0509030403020204" pitchFamily="49" charset="0"/>
      <p:regular r:id="rId36"/>
      <p:bold r:id="rId37"/>
      <p:italic r:id="rId38"/>
      <p:boldItalic r:id="rId39"/>
    </p:embeddedFont>
    <p:embeddedFont>
      <p:font typeface="Splunk Data Sans Pro" panose="020B0504030202020204" pitchFamily="34" charset="0"/>
      <p:regular r:id="rId40"/>
      <p:bold r:id="rId41"/>
      <p:italic r:id="rId42"/>
      <p:boldItalic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Title Slides" id="{6B5BE202-19CA-474B-817E-1B720625FA32}">
          <p14:sldIdLst>
            <p14:sldId id="2147482720"/>
            <p14:sldId id="2147482731"/>
            <p14:sldId id="2147482689"/>
            <p14:sldId id="2147482752"/>
            <p14:sldId id="2147482753"/>
            <p14:sldId id="2147482754"/>
            <p14:sldId id="2147482755"/>
            <p14:sldId id="2147482757"/>
            <p14:sldId id="2147482756"/>
            <p14:sldId id="2147482758"/>
            <p14:sldId id="2147482763"/>
            <p14:sldId id="2147482759"/>
            <p14:sldId id="2147482760"/>
            <p14:sldId id="2147482761"/>
            <p14:sldId id="2147482762"/>
          </p14:sldIdLst>
        </p14:section>
        <p14:section name="Closing" id="{B139BF10-315B-4780-A8A1-1F17D5CB2565}">
          <p14:sldIdLst>
            <p14:sldId id="2147482751"/>
            <p14:sldId id="2147482745"/>
            <p14:sldId id="2147482707"/>
          </p14:sldIdLst>
        </p14:section>
      </p14:sectionLst>
    </p:ext>
    <p:ext uri="{EFAFB233-063F-42B5-8137-9DF3F51BA10A}">
      <p15:sldGuideLst xmlns:p15="http://schemas.microsoft.com/office/powerpoint/2012/main">
        <p15:guide id="2" pos="3840" userDrawn="1">
          <p15:clr>
            <a:srgbClr val="F26B43"/>
          </p15:clr>
        </p15:guide>
        <p15:guide id="3" orient="horz" pos="2160" userDrawn="1">
          <p15:clr>
            <a:srgbClr val="F26B43"/>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9AA2E3D1-FE07-41BA-0E3E-41F857C6F48F}" name="Kortney Melchiorre (kmelchio)" initials="KM(" userId="S::kmelchio@cisco.com::b8741b67-5639-4640-877b-9e127070f56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BFDFE"/>
    <a:srgbClr val="000B3F"/>
    <a:srgbClr val="04070B"/>
    <a:srgbClr val="0B1118"/>
    <a:srgbClr val="009DE2"/>
    <a:srgbClr val="EB4651"/>
    <a:srgbClr val="45991F"/>
    <a:srgbClr val="B4B9C0"/>
    <a:srgbClr val="525E6C"/>
    <a:srgbClr val="6B6B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0120FD-6E38-824A-9E41-C86A53EEB39A}" v="16" dt="2026-07-24T09:17:23.3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26" autoAdjust="0"/>
    <p:restoredTop sz="61555" autoAdjust="0"/>
  </p:normalViewPr>
  <p:slideViewPr>
    <p:cSldViewPr snapToGrid="0" showGuides="1">
      <p:cViewPr varScale="1">
        <p:scale>
          <a:sx n="113" d="100"/>
          <a:sy n="113" d="100"/>
        </p:scale>
        <p:origin x="200" y="1048"/>
      </p:cViewPr>
      <p:guideLst>
        <p:guide pos="3840"/>
        <p:guide orient="horz" pos="2160"/>
      </p:guideLst>
    </p:cSldViewPr>
  </p:slideViewPr>
  <p:outlineViewPr>
    <p:cViewPr>
      <p:scale>
        <a:sx n="33" d="100"/>
        <a:sy n="33" d="100"/>
      </p:scale>
      <p:origin x="0" y="0"/>
    </p:cViewPr>
  </p:outlineViewPr>
  <p:notesTextViewPr>
    <p:cViewPr>
      <p:scale>
        <a:sx n="3" d="2"/>
        <a:sy n="3" d="2"/>
      </p:scale>
      <p:origin x="0" y="0"/>
    </p:cViewPr>
  </p:notesTextViewPr>
  <p:sorterViewPr>
    <p:cViewPr>
      <p:scale>
        <a:sx n="200" d="100"/>
        <a:sy n="200" d="100"/>
      </p:scale>
      <p:origin x="0" y="-7428"/>
    </p:cViewPr>
  </p:sorterViewPr>
  <p:notesViewPr>
    <p:cSldViewPr snapToGrid="0">
      <p:cViewPr varScale="1">
        <p:scale>
          <a:sx n="139" d="100"/>
          <a:sy n="139" d="100"/>
        </p:scale>
        <p:origin x="3472"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17.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font" Target="fonts/font5.fntdata"/><Relationship Id="rId11" Type="http://schemas.openxmlformats.org/officeDocument/2006/relationships/slide" Target="slides/slide7.xml"/><Relationship Id="rId24" Type="http://schemas.openxmlformats.org/officeDocument/2006/relationships/handoutMaster" Target="handoutMasters/handout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font" Target="fonts/font12.fntdata"/><Relationship Id="rId49"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7.fntdata"/><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font" Target="fonts/font17.fntdata"/><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9160F12-8836-E7B4-E4D7-6BC3D171F24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AF74747-B370-D928-1BB9-0C19B2EBFA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B074C1-390D-874D-9D28-A0ABB3D06F25}" type="datetimeFigureOut">
              <a:rPr lang="en-US" smtClean="0"/>
              <a:t>8/3/26</a:t>
            </a:fld>
            <a:endParaRPr lang="en-US"/>
          </a:p>
        </p:txBody>
      </p:sp>
      <p:sp>
        <p:nvSpPr>
          <p:cNvPr id="4" name="Footer Placeholder 3">
            <a:extLst>
              <a:ext uri="{FF2B5EF4-FFF2-40B4-BE49-F238E27FC236}">
                <a16:creationId xmlns:a16="http://schemas.microsoft.com/office/drawing/2014/main" id="{D4A30FFE-7860-3800-3DFE-875324BBCF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F882DAE-C070-8F4E-FEB0-279E3987084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AC68FE2-D02A-974F-8241-2FBB35007C94}" type="slidenum">
              <a:rPr lang="en-US" smtClean="0"/>
              <a:t>‹#›</a:t>
            </a:fld>
            <a:endParaRPr lang="en-US"/>
          </a:p>
        </p:txBody>
      </p:sp>
    </p:spTree>
    <p:extLst>
      <p:ext uri="{BB962C8B-B14F-4D97-AF65-F5344CB8AC3E}">
        <p14:creationId xmlns:p14="http://schemas.microsoft.com/office/powerpoint/2010/main" val="38626490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Inter" panose="02000503000000020004"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Inter" panose="02000503000000020004" pitchFamily="2" charset="0"/>
              </a:defRPr>
            </a:lvl1pPr>
          </a:lstStyle>
          <a:p>
            <a:fld id="{2C72104B-A22A-485F-8181-8B2CD5833538}" type="datetimeFigureOut">
              <a:rPr lang="en-US" smtClean="0"/>
              <a:pPr/>
              <a:t>8/3/26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Inter" panose="02000503000000020004"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Inter" panose="02000503000000020004" pitchFamily="2" charset="0"/>
              </a:defRPr>
            </a:lvl1pPr>
          </a:lstStyle>
          <a:p>
            <a:fld id="{4DBB4990-0A23-4A10-BE7D-7E64CAB85BE3}" type="slidenum">
              <a:rPr lang="en-US" smtClean="0"/>
              <a:pPr/>
              <a:t>‹#›</a:t>
            </a:fld>
            <a:endParaRPr lang="en-US" dirty="0"/>
          </a:p>
        </p:txBody>
      </p:sp>
    </p:spTree>
    <p:extLst>
      <p:ext uri="{BB962C8B-B14F-4D97-AF65-F5344CB8AC3E}">
        <p14:creationId xmlns:p14="http://schemas.microsoft.com/office/powerpoint/2010/main" val="62820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Inter" panose="02000503000000020004" pitchFamily="2" charset="0"/>
        <a:ea typeface="+mn-ea"/>
        <a:cs typeface="CiscoSansTT" panose="020B0503020201020303" pitchFamily="34" charset="0"/>
      </a:defRPr>
    </a:lvl1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cyberdefensemagazine.com/whitepapers/CDM-Exclusive-Future-of-Cybersecurity-Whitepaper-with-Dr-David-G-DeWalt-2018.pdf" TargetMode="External"/><Relationship Id="rId2" Type="http://schemas.openxmlformats.org/officeDocument/2006/relationships/slide" Target="../slides/slide3.xml"/><Relationship Id="rId1" Type="http://schemas.openxmlformats.org/officeDocument/2006/relationships/notesMaster" Target="../notesMasters/notesMaster1.xml"/><Relationship Id="rId6" Type="http://schemas.openxmlformats.org/officeDocument/2006/relationships/hyperlink" Target="https://www.nist.gov/cyberframework/identify" TargetMode="External"/><Relationship Id="rId5" Type="http://schemas.openxmlformats.org/officeDocument/2006/relationships/hyperlink" Target="https://www.ncsc.gov.uk/collection/cyber-assessment-framework" TargetMode="External"/><Relationship Id="rId4" Type="http://schemas.openxmlformats.org/officeDocument/2006/relationships/hyperlink" Target="https://www.bankinfosecurity.com/interviews/one-on-one-fireeyes-dave-dewalt-i-2499"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endParaRPr lang="en-GB" dirty="0"/>
          </a:p>
          <a:p>
            <a:endParaRPr lang="en-GB" dirty="0"/>
          </a:p>
          <a:p>
            <a:r>
              <a:rPr lang="en-GB" dirty="0"/>
              <a:t>Credit: Image </a:t>
            </a:r>
          </a:p>
          <a:p>
            <a:r>
              <a:rPr lang="en-GB" dirty="0"/>
              <a:t>Source: Photo of myself, taken by myself</a:t>
            </a:r>
          </a:p>
          <a:p>
            <a:endParaRPr lang="en-GB" dirty="0"/>
          </a:p>
          <a:p>
            <a:endParaRPr lang="en-GB" dirty="0"/>
          </a:p>
        </p:txBody>
      </p:sp>
      <p:sp>
        <p:nvSpPr>
          <p:cNvPr id="4" name="Slide Number Placeholder 3"/>
          <p:cNvSpPr>
            <a:spLocks noGrp="1"/>
          </p:cNvSpPr>
          <p:nvPr>
            <p:ph type="sldNum" sz="quarter" idx="5"/>
          </p:nvPr>
        </p:nvSpPr>
        <p:spPr/>
        <p:txBody>
          <a:bodyPr/>
          <a:lstStyle/>
          <a:p>
            <a:fld id="{4DBB4990-0A23-4A10-BE7D-7E64CAB85BE3}" type="slidenum">
              <a:rPr lang="en-US" smtClean="0"/>
              <a:pPr/>
              <a:t>1</a:t>
            </a:fld>
            <a:endParaRPr lang="en-US" dirty="0"/>
          </a:p>
        </p:txBody>
      </p:sp>
    </p:spTree>
    <p:extLst>
      <p:ext uri="{BB962C8B-B14F-4D97-AF65-F5344CB8AC3E}">
        <p14:creationId xmlns:p14="http://schemas.microsoft.com/office/powerpoint/2010/main" val="2994939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Why open SEC1053 on this quote</a:t>
            </a:r>
          </a:p>
          <a:p>
            <a:r>
              <a:rPr lang="en-GB" dirty="0"/>
              <a:t>Dave DeWalt — former CEO of McAfee and FireEye, and founder of the cyber investment firm NightDragon — has made this point repeatedly across interviews and industry whitepapers: security teams cannot protect, or even scope the risk of, an asset they don’t know exists. It is a deliberately simple line for a deliberately hard problem: asset visibility is the foundation every other control sits on top of.</a:t>
            </a:r>
          </a:p>
          <a:p>
            <a:r>
              <a:rPr lang="en-GB" dirty="0"/>
              <a:t>Sources for the quote: </a:t>
            </a:r>
            <a:r>
              <a:rPr lang="en-GB" dirty="0">
                <a:hlinkClick r:id="rId3"/>
              </a:rPr>
              <a:t>CyberDefense Magazine whitepaper with Dr. David G. DeWalt</a:t>
            </a:r>
            <a:r>
              <a:rPr lang="en-GB" dirty="0"/>
              <a:t> and a </a:t>
            </a:r>
            <a:r>
              <a:rPr lang="en-GB" dirty="0">
                <a:hlinkClick r:id="rId4"/>
              </a:rPr>
              <a:t>BankInfoSecurity interview with FireEye’s Dave DeWalt</a:t>
            </a:r>
            <a:r>
              <a:rPr lang="en-GB" dirty="0"/>
              <a:t>.</a:t>
            </a:r>
          </a:p>
          <a:p>
            <a:r>
              <a:rPr lang="en-GB" b="1" dirty="0"/>
              <a:t>Link to the UK NCSC Cyber Assessment Framework (CAF)</a:t>
            </a:r>
          </a:p>
          <a:p>
            <a:r>
              <a:rPr lang="en-GB" dirty="0"/>
              <a:t>CAF Objective A — “Managing security risk” — opens with Principle A3, Asset Management: “Everything required to deliver, maintain or support networks and information systems necessary for essential functions is determined and understood.” Contributing outcome A3.a expects a maintained, accurate inventory covering hardware, software, data and supporting infrastructure, with ownership, prioritisation and lifecycle status — the exact capability the quote is describing. Every downstream CAF objective, especially A2 Risk Management and the technical/monitoring outcomes in Objectives B and C, assumes this inventory already exists; you cannot risk-assess or defend what you have not first identified. This maps directly across CAF versions, including the current CAF 4.0 used for NIS Regulations/GovAssure audits.</a:t>
            </a:r>
          </a:p>
          <a:p>
            <a:r>
              <a:rPr lang="en-GB" dirty="0">
                <a:hlinkClick r:id="rId5"/>
              </a:rPr>
              <a:t>ncsc.gov.uk/collection/cyber-assessment-framework</a:t>
            </a:r>
          </a:p>
          <a:p>
            <a:r>
              <a:rPr lang="en-GB" b="1" dirty="0"/>
              <a:t>Link to NIST CSF</a:t>
            </a:r>
          </a:p>
          <a:p>
            <a:r>
              <a:rPr lang="en-GB" dirty="0"/>
              <a:t>NIST CSF places the same idea at the very start of the framework, under the Identify function, category ID.AM (Asset Management) — inventorying and managing physical devices, software platforms, data flows and their business context so risk can be assessed accurately. CSF 2.0 strengthens this further by tying ID.AM explicitly to organisational context and governance, reinforcing that asset visibility is the prerequisite for every later Protect, Detect, Respond and Recover activity.</a:t>
            </a:r>
          </a:p>
          <a:p>
            <a:r>
              <a:rPr lang="en-GB" dirty="0">
                <a:hlinkClick r:id="rId6"/>
              </a:rPr>
              <a:t>nist.gov/cyberframework/identify</a:t>
            </a:r>
          </a:p>
          <a:p>
            <a:r>
              <a:rPr lang="en-GB" dirty="0"/>
              <a:t>Transition line: this is exactly the gap Splunk Enterprise Security’s asset and identity framework closes — which is what the rest of SEC1053 covers.</a:t>
            </a:r>
          </a:p>
        </p:txBody>
      </p:sp>
      <p:sp>
        <p:nvSpPr>
          <p:cNvPr id="4" name="Slide Number Placeholder 3"/>
          <p:cNvSpPr>
            <a:spLocks noGrp="1"/>
          </p:cNvSpPr>
          <p:nvPr>
            <p:ph type="sldNum" sz="quarter" idx="5"/>
          </p:nvPr>
        </p:nvSpPr>
        <p:spPr/>
        <p:txBody>
          <a:bodyPr/>
          <a:lstStyle/>
          <a:p>
            <a:fld id="{4DBB4990-0A23-4A10-BE7D-7E64CAB85BE3}" type="slidenum">
              <a:rPr lang="en-US" smtClean="0"/>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assets and identities are two axes of the same risk. An asset is compromised *through* an identity; an identity's blast radius is defined by *which assets it can reach*. You can't reason about risk with only one half of the picture.</a:t>
            </a:r>
          </a:p>
          <a:p>
            <a:pPr marL="0" indent="0">
              <a:buFontTx/>
              <a:buNone/>
            </a:pPr>
            <a:r>
              <a:rPr lang="en-GB" dirty="0"/>
              <a:t>Anchor this to the frameworks early: NIST CSF's ID.AM category already spans both physical/software assets *and* personnel, and CAF Principle A3 (Asset Management) expects you to know what you have before you can protect it.</a:t>
            </a:r>
            <a:br>
              <a:rPr lang="en-GB" dirty="0"/>
            </a:br>
            <a:br>
              <a:rPr lang="en-GB" dirty="0"/>
            </a:br>
            <a:r>
              <a:rPr lang="en-GB" dirty="0"/>
              <a:t>Credit: Photo by </a:t>
            </a:r>
            <a:r>
              <a:rPr lang="en-GB" dirty="0" err="1"/>
              <a:t>Schäferle</a:t>
            </a:r>
            <a:r>
              <a:rPr lang="en-GB" dirty="0"/>
              <a:t> on </a:t>
            </a:r>
            <a:r>
              <a:rPr lang="en-GB" dirty="0" err="1"/>
              <a:t>Pixabay</a:t>
            </a:r>
            <a:br>
              <a:rPr lang="en-GB" dirty="0"/>
            </a:br>
            <a:r>
              <a:rPr lang="en-GB" dirty="0"/>
              <a:t>https://</a:t>
            </a:r>
            <a:r>
              <a:rPr lang="en-GB" dirty="0" err="1"/>
              <a:t>pixabay.com</a:t>
            </a:r>
            <a:r>
              <a:rPr lang="en-GB" dirty="0"/>
              <a:t>/photos/server-space-the-server-room-dark-2160321/</a:t>
            </a:r>
            <a:br>
              <a:rPr lang="en-GB" dirty="0"/>
            </a:br>
            <a:br>
              <a:rPr lang="en-GB" dirty="0"/>
            </a:br>
            <a:r>
              <a:rPr lang="en-GB" dirty="0"/>
              <a:t>Credit: Photo by u_h0yvbj97 on </a:t>
            </a:r>
            <a:r>
              <a:rPr lang="en-GB" dirty="0" err="1"/>
              <a:t>Pixabay</a:t>
            </a:r>
            <a:br>
              <a:rPr lang="en-GB" dirty="0"/>
            </a:br>
            <a:r>
              <a:rPr lang="en-GB" dirty="0"/>
              <a:t>https://</a:t>
            </a:r>
            <a:r>
              <a:rPr lang="en-GB" dirty="0" err="1"/>
              <a:t>pixabay.com</a:t>
            </a:r>
            <a:r>
              <a:rPr lang="en-GB" dirty="0"/>
              <a:t>/photos/fingerprint-sensor-4703841/</a:t>
            </a:r>
          </a:p>
          <a:p>
            <a:endParaRPr lang="en-GB" dirty="0"/>
          </a:p>
          <a:p>
            <a:endParaRPr lang="en-GB" dirty="0"/>
          </a:p>
        </p:txBody>
      </p:sp>
      <p:sp>
        <p:nvSpPr>
          <p:cNvPr id="4" name="Slide Number Placeholder 3"/>
          <p:cNvSpPr>
            <a:spLocks noGrp="1"/>
          </p:cNvSpPr>
          <p:nvPr>
            <p:ph type="sldNum" sz="quarter" idx="5"/>
          </p:nvPr>
        </p:nvSpPr>
        <p:spPr/>
        <p:txBody>
          <a:bodyPr/>
          <a:lstStyle/>
          <a:p>
            <a:fld id="{4DBB4990-0A23-4A10-BE7D-7E64CAB85BE3}" type="slidenum">
              <a:rPr lang="en-US" smtClean="0"/>
              <a:pPr/>
              <a:t>4</a:t>
            </a:fld>
            <a:endParaRPr lang="en-US" dirty="0"/>
          </a:p>
        </p:txBody>
      </p:sp>
    </p:spTree>
    <p:extLst>
      <p:ext uri="{BB962C8B-B14F-4D97-AF65-F5344CB8AC3E}">
        <p14:creationId xmlns:p14="http://schemas.microsoft.com/office/powerpoint/2010/main" val="12955675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Set the stakes: without asset visibility, ES notable events have no risk context, no ownership, no priority — every alert is just noise with a hostname attached.</a:t>
            </a:r>
          </a:p>
        </p:txBody>
      </p:sp>
      <p:sp>
        <p:nvSpPr>
          <p:cNvPr id="4" name="Slide Number Placeholder 3"/>
          <p:cNvSpPr>
            <a:spLocks noGrp="1"/>
          </p:cNvSpPr>
          <p:nvPr>
            <p:ph type="sldNum" sz="quarter" idx="5"/>
          </p:nvPr>
        </p:nvSpPr>
        <p:spPr/>
        <p:txBody>
          <a:bodyPr/>
          <a:lstStyle/>
          <a:p>
            <a:fld id="{4DBB4990-0A23-4A10-BE7D-7E64CAB85BE3}" type="slidenum">
              <a:rPr lang="en-US" smtClean="0"/>
              <a:pPr/>
              <a:t>5</a:t>
            </a:fld>
            <a:endParaRPr lang="en-US" dirty="0"/>
          </a:p>
        </p:txBody>
      </p:sp>
    </p:spTree>
    <p:extLst>
      <p:ext uri="{BB962C8B-B14F-4D97-AF65-F5344CB8AC3E}">
        <p14:creationId xmlns:p14="http://schemas.microsoft.com/office/powerpoint/2010/main" val="3879053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Credit: Image </a:t>
            </a:r>
          </a:p>
          <a:p>
            <a:r>
              <a:rPr lang="en-GB" dirty="0"/>
              <a:t>Source: Own ES Instance at Unshakeable Salt.</a:t>
            </a:r>
          </a:p>
          <a:p>
            <a:endParaRPr lang="en-GB" dirty="0"/>
          </a:p>
          <a:p>
            <a:endParaRPr lang="en-GB" dirty="0"/>
          </a:p>
        </p:txBody>
      </p:sp>
      <p:sp>
        <p:nvSpPr>
          <p:cNvPr id="4" name="Slide Number Placeholder 3"/>
          <p:cNvSpPr>
            <a:spLocks noGrp="1"/>
          </p:cNvSpPr>
          <p:nvPr>
            <p:ph type="sldNum" sz="quarter" idx="5"/>
          </p:nvPr>
        </p:nvSpPr>
        <p:spPr/>
        <p:txBody>
          <a:bodyPr/>
          <a:lstStyle/>
          <a:p>
            <a:fld id="{4DBB4990-0A23-4A10-BE7D-7E64CAB85BE3}" type="slidenum">
              <a:rPr lang="en-US" smtClean="0"/>
              <a:pPr/>
              <a:t>7</a:t>
            </a:fld>
            <a:endParaRPr lang="en-US" dirty="0"/>
          </a:p>
        </p:txBody>
      </p:sp>
    </p:spTree>
    <p:extLst>
      <p:ext uri="{BB962C8B-B14F-4D97-AF65-F5344CB8AC3E}">
        <p14:creationId xmlns:p14="http://schemas.microsoft.com/office/powerpoint/2010/main" val="3533617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**Classic blind spots:** unmanaged BYOD, shadow IT/SaaS nobody provisioned through IT, decommissioned-but-still-live cloud resources nobody tore down, OT/IoT devices with no agent capability, contractor/third-party laptops, orphaned service accounts, undocumented API integrations, pre-EDR-rollout assets, and M&amp;A-inherited environments never fully onboarded.</a:t>
            </a:r>
          </a:p>
          <a:p>
            <a:r>
              <a:rPr lang="en-GB" dirty="0"/>
              <a:t>- **The core point:** an unmonitored asset isn't a "known unknown" on a risk register — it's genuinely invisible. Your SIEM, EDR, and vulnerability scanner are only as good as their coverage; nothing </a:t>
            </a:r>
            <a:r>
              <a:rPr lang="en-GB" dirty="0" err="1"/>
              <a:t>analyzes</a:t>
            </a:r>
            <a:r>
              <a:rPr lang="en-GB" dirty="0"/>
              <a:t> telemetry that was never generated.</a:t>
            </a:r>
          </a:p>
          <a:p>
            <a:r>
              <a:rPr lang="en-GB" dirty="0"/>
              <a:t>- **Reframe the failure mode:** security incidents are rarely "the SOC missed the alert." They're far more often "there was no telemetry source there at all" — the forgotten storage bucket, the still-routable decommissioned VPN concentrator, the admin account nobody remembered existed.</a:t>
            </a:r>
          </a:p>
          <a:p>
            <a:r>
              <a:rPr lang="en-GB" dirty="0"/>
              <a:t>- **Bridge to Takeaway 1:** this is exactly why *continuous* discovery matters more than a one-off inventory project — the goal isn't to close the gap once, it's to keep noticing when something new and unmonitored appears.</a:t>
            </a:r>
          </a:p>
          <a:p>
            <a:r>
              <a:rPr lang="en-GB" dirty="0"/>
              <a:t>- **Possible callback (see cross-session note above):** when Splunk detects something and genuinely can't classify it, that's a candidate use case for the agentic AI pattern from SEC1215 — an LLM reasoning over the raw signal to propose what it might be and writing that back into the asset/identity KV Store, rather than the gap just sitting there until a human investigates.</a:t>
            </a:r>
          </a:p>
        </p:txBody>
      </p:sp>
      <p:sp>
        <p:nvSpPr>
          <p:cNvPr id="4" name="Slide Number Placeholder 3"/>
          <p:cNvSpPr>
            <a:spLocks noGrp="1"/>
          </p:cNvSpPr>
          <p:nvPr>
            <p:ph type="sldNum" sz="quarter" idx="5"/>
          </p:nvPr>
        </p:nvSpPr>
        <p:spPr/>
        <p:txBody>
          <a:bodyPr/>
          <a:lstStyle/>
          <a:p>
            <a:fld id="{4DBB4990-0A23-4A10-BE7D-7E64CAB85BE3}" type="slidenum">
              <a:rPr lang="en-US" smtClean="0"/>
              <a:pPr/>
              <a:t>9</a:t>
            </a:fld>
            <a:endParaRPr lang="en-US" dirty="0"/>
          </a:p>
        </p:txBody>
      </p:sp>
    </p:spTree>
    <p:extLst>
      <p:ext uri="{BB962C8B-B14F-4D97-AF65-F5344CB8AC3E}">
        <p14:creationId xmlns:p14="http://schemas.microsoft.com/office/powerpoint/2010/main" val="3432568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real challenge with the data you *do* have isn't gathering it, it's correlating hostname/IP/MAC/cloud-instance-ID into one canonical asset identity over time — through DHCP churn, VPN NAT, ephemeral instances. Introduce the need for a normalization schema here.</a:t>
            </a:r>
          </a:p>
          <a:p>
            <a:endParaRPr lang="en-GB" dirty="0"/>
          </a:p>
          <a:p>
            <a:r>
              <a:rPr lang="en-GB" dirty="0"/>
              <a:t>Credit: Image </a:t>
            </a:r>
          </a:p>
          <a:p>
            <a:r>
              <a:rPr lang="en-GB" dirty="0"/>
              <a:t>Source: Created by myself using Visio, merged and collated into larger view using Perplexity AI</a:t>
            </a:r>
            <a:br>
              <a:rPr lang="en-GB" dirty="0"/>
            </a:br>
            <a:endParaRPr lang="en-GB" dirty="0"/>
          </a:p>
          <a:p>
            <a:endParaRPr lang="en-GB" dirty="0"/>
          </a:p>
        </p:txBody>
      </p:sp>
      <p:sp>
        <p:nvSpPr>
          <p:cNvPr id="4" name="Slide Number Placeholder 3"/>
          <p:cNvSpPr>
            <a:spLocks noGrp="1"/>
          </p:cNvSpPr>
          <p:nvPr>
            <p:ph type="sldNum" sz="quarter" idx="5"/>
          </p:nvPr>
        </p:nvSpPr>
        <p:spPr/>
        <p:txBody>
          <a:bodyPr/>
          <a:lstStyle/>
          <a:p>
            <a:fld id="{4DBB4990-0A23-4A10-BE7D-7E64CAB85BE3}" type="slidenum">
              <a:rPr lang="en-US" smtClean="0"/>
              <a:pPr/>
              <a:t>10</a:t>
            </a:fld>
            <a:endParaRPr lang="en-US" dirty="0"/>
          </a:p>
        </p:txBody>
      </p:sp>
    </p:spTree>
    <p:extLst>
      <p:ext uri="{BB962C8B-B14F-4D97-AF65-F5344CB8AC3E}">
        <p14:creationId xmlns:p14="http://schemas.microsoft.com/office/powerpoint/2010/main" val="916953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Discovering Assets and Digital Identities</a:t>
            </a:r>
          </a:p>
          <a:p>
            <a:endParaRPr lang="en-GB" dirty="0"/>
          </a:p>
          <a:p>
            <a:r>
              <a:rPr lang="en-GB" dirty="0"/>
              <a:t>Credit: Image </a:t>
            </a:r>
          </a:p>
          <a:p>
            <a:r>
              <a:rPr lang="en-GB" dirty="0"/>
              <a:t>Source: Created by myself using Visio, merged and collated into larger view using Perplexity AI</a:t>
            </a:r>
          </a:p>
        </p:txBody>
      </p:sp>
      <p:sp>
        <p:nvSpPr>
          <p:cNvPr id="4" name="Slide Number Placeholder 3"/>
          <p:cNvSpPr>
            <a:spLocks noGrp="1"/>
          </p:cNvSpPr>
          <p:nvPr>
            <p:ph type="sldNum" sz="quarter" idx="5"/>
          </p:nvPr>
        </p:nvSpPr>
        <p:spPr/>
        <p:txBody>
          <a:bodyPr/>
          <a:lstStyle/>
          <a:p>
            <a:fld id="{4DBB4990-0A23-4A10-BE7D-7E64CAB85BE3}" type="slidenum">
              <a:rPr lang="en-US" smtClean="0"/>
              <a:pPr/>
              <a:t>11</a:t>
            </a:fld>
            <a:endParaRPr lang="en-US" dirty="0"/>
          </a:p>
        </p:txBody>
      </p:sp>
    </p:spTree>
    <p:extLst>
      <p:ext uri="{BB962C8B-B14F-4D97-AF65-F5344CB8AC3E}">
        <p14:creationId xmlns:p14="http://schemas.microsoft.com/office/powerpoint/2010/main" val="171186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566CC-F32C-58EA-A357-AB7367F635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CC318B-E812-21A8-C3B3-31A9884209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7DD8B9-2D2F-9DD0-2D8A-3BA754F6F26A}"/>
              </a:ext>
            </a:extLst>
          </p:cNvPr>
          <p:cNvSpPr>
            <a:spLocks noGrp="1"/>
          </p:cNvSpPr>
          <p:nvPr>
            <p:ph type="body" idx="1"/>
          </p:nvPr>
        </p:nvSpPr>
        <p:spPr/>
        <p:txBody>
          <a:bodyPr/>
          <a:lstStyle/>
          <a:p>
            <a:r>
              <a:rPr lang="en-GB" dirty="0"/>
              <a:t>Scheduled searches normalize and push identity data into KV Store lookups — continuously refreshed, always current. Reference Asset and Risk Intelligence (ARI) as Splunk's productized version of this exact pattern.</a:t>
            </a:r>
          </a:p>
          <a:p>
            <a:endParaRPr lang="en-GB" dirty="0"/>
          </a:p>
          <a:p>
            <a:r>
              <a:rPr lang="en-GB" dirty="0"/>
              <a:t>Credit: Image </a:t>
            </a:r>
          </a:p>
          <a:p>
            <a:r>
              <a:rPr lang="en-GB" dirty="0"/>
              <a:t>Source: Created by myself using Visio, merged and collated into larger view using Perplexity AI</a:t>
            </a:r>
          </a:p>
        </p:txBody>
      </p:sp>
      <p:sp>
        <p:nvSpPr>
          <p:cNvPr id="4" name="Slide Number Placeholder 3">
            <a:extLst>
              <a:ext uri="{FF2B5EF4-FFF2-40B4-BE49-F238E27FC236}">
                <a16:creationId xmlns:a16="http://schemas.microsoft.com/office/drawing/2014/main" id="{C7FB655A-7EBD-A41B-7915-5E133ED59FC0}"/>
              </a:ext>
            </a:extLst>
          </p:cNvPr>
          <p:cNvSpPr>
            <a:spLocks noGrp="1"/>
          </p:cNvSpPr>
          <p:nvPr>
            <p:ph type="sldNum" sz="quarter" idx="5"/>
          </p:nvPr>
        </p:nvSpPr>
        <p:spPr/>
        <p:txBody>
          <a:bodyPr/>
          <a:lstStyle/>
          <a:p>
            <a:fld id="{4DBB4990-0A23-4A10-BE7D-7E64CAB85BE3}" type="slidenum">
              <a:rPr lang="en-US" smtClean="0"/>
              <a:pPr/>
              <a:t>12</a:t>
            </a:fld>
            <a:endParaRPr lang="en-US" dirty="0"/>
          </a:p>
        </p:txBody>
      </p:sp>
    </p:spTree>
    <p:extLst>
      <p:ext uri="{BB962C8B-B14F-4D97-AF65-F5344CB8AC3E}">
        <p14:creationId xmlns:p14="http://schemas.microsoft.com/office/powerpoint/2010/main" val="33634837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Data flow diagram: sources → normalization searches → KV Store lookup → ES Asset framework → enriched notable events. Show the actual lookup schemas here — `</a:t>
            </a:r>
            <a:r>
              <a:rPr lang="en-GB" dirty="0" err="1"/>
              <a:t>asset_lookup_schema.json</a:t>
            </a:r>
            <a:r>
              <a:rPr lang="en-GB" dirty="0"/>
              <a:t>` / `</a:t>
            </a:r>
            <a:r>
              <a:rPr lang="en-GB" dirty="0" err="1"/>
              <a:t>identity_lookup_schema.json</a:t>
            </a:r>
            <a:r>
              <a:rPr lang="en-GB" dirty="0"/>
              <a:t>` and the ES 8.5.1 YAML templates already in `conf26/SEC1053/</a:t>
            </a:r>
            <a:r>
              <a:rPr lang="en-GB" dirty="0" err="1"/>
              <a:t>Proof_of_concept</a:t>
            </a:r>
            <a:r>
              <a:rPr lang="en-GB" dirty="0"/>
              <a:t>/`.</a:t>
            </a:r>
          </a:p>
          <a:p>
            <a:endParaRPr lang="en-GB" dirty="0"/>
          </a:p>
          <a:p>
            <a:endParaRPr lang="en-GB" dirty="0"/>
          </a:p>
          <a:p>
            <a:r>
              <a:rPr lang="en-GB" dirty="0"/>
              <a:t>Credit: Image </a:t>
            </a:r>
          </a:p>
          <a:p>
            <a:r>
              <a:rPr lang="en-GB" dirty="0"/>
              <a:t>Source: Created by myself using Visio, merged and collated into larger view using Perplexity AI</a:t>
            </a:r>
          </a:p>
          <a:p>
            <a:endParaRPr lang="en-GB" dirty="0"/>
          </a:p>
          <a:p>
            <a:endParaRPr lang="en-GB" dirty="0"/>
          </a:p>
        </p:txBody>
      </p:sp>
      <p:sp>
        <p:nvSpPr>
          <p:cNvPr id="4" name="Slide Number Placeholder 3"/>
          <p:cNvSpPr>
            <a:spLocks noGrp="1"/>
          </p:cNvSpPr>
          <p:nvPr>
            <p:ph type="sldNum" sz="quarter" idx="5"/>
          </p:nvPr>
        </p:nvSpPr>
        <p:spPr/>
        <p:txBody>
          <a:bodyPr/>
          <a:lstStyle/>
          <a:p>
            <a:fld id="{4DBB4990-0A23-4A10-BE7D-7E64CAB85BE3}" type="slidenum">
              <a:rPr lang="en-US" smtClean="0"/>
              <a:pPr/>
              <a:t>13</a:t>
            </a:fld>
            <a:endParaRPr lang="en-US" dirty="0"/>
          </a:p>
        </p:txBody>
      </p:sp>
    </p:spTree>
    <p:extLst>
      <p:ext uri="{BB962C8B-B14F-4D97-AF65-F5344CB8AC3E}">
        <p14:creationId xmlns:p14="http://schemas.microsoft.com/office/powerpoint/2010/main" val="15807935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Once you have continuous coverage, map it directly to CAF Principle A3 (Asset Management) and NIST CSF ID.AM. Completeness, freshness, and ownership become auditable KPIs instead of a point-in-time spreadsheet an auditor has to take on faith.</a:t>
            </a:r>
          </a:p>
          <a:p>
            <a:endParaRPr lang="en-GB" dirty="0"/>
          </a:p>
          <a:p>
            <a:r>
              <a:rPr lang="en-GB" dirty="0"/>
              <a:t>CAF Principle A3 — Asset Management has one contributing outcome, A3.a: “All assets relevant to the secure operation of essential function(s) are identified and inventoried… the inventory is kept up-to-date”.</a:t>
            </a:r>
          </a:p>
          <a:p>
            <a:endParaRPr lang="en-GB" dirty="0"/>
          </a:p>
          <a:p>
            <a:r>
              <a:rPr lang="en-GB" dirty="0"/>
              <a:t>NIST CSF 2.0 ID.AM (Asset Management) subcategories most relevant here are ID.AM-01 (hardware inventories maintained) and ID.AM-02 (software/services/systems inventories maintained).</a:t>
            </a:r>
          </a:p>
          <a:p>
            <a:endParaRPr lang="en-GB" dirty="0"/>
          </a:p>
          <a:p>
            <a:r>
              <a:rPr lang="en-GB" dirty="0"/>
              <a:t> Every correlation search is tagged at creation — compliance mapping isn't a spreadsheet, it's metadata that runs. </a:t>
            </a:r>
          </a:p>
          <a:p>
            <a:endParaRPr lang="en-GB" dirty="0"/>
          </a:p>
          <a:p>
            <a:endParaRPr lang="en-GB" dirty="0"/>
          </a:p>
          <a:p>
            <a:r>
              <a:rPr lang="en-GB" dirty="0"/>
              <a:t>Credit: Image </a:t>
            </a:r>
          </a:p>
          <a:p>
            <a:r>
              <a:rPr lang="en-GB" dirty="0"/>
              <a:t>Source: Created by myself using Visio, merged and collated into larger view using Perplexity AI</a:t>
            </a:r>
          </a:p>
          <a:p>
            <a:endParaRPr lang="en-GB" dirty="0"/>
          </a:p>
          <a:p>
            <a:endParaRPr lang="en-GB" dirty="0"/>
          </a:p>
        </p:txBody>
      </p:sp>
      <p:sp>
        <p:nvSpPr>
          <p:cNvPr id="4" name="Slide Number Placeholder 3"/>
          <p:cNvSpPr>
            <a:spLocks noGrp="1"/>
          </p:cNvSpPr>
          <p:nvPr>
            <p:ph type="sldNum" sz="quarter" idx="5"/>
          </p:nvPr>
        </p:nvSpPr>
        <p:spPr/>
        <p:txBody>
          <a:bodyPr/>
          <a:lstStyle/>
          <a:p>
            <a:fld id="{4DBB4990-0A23-4A10-BE7D-7E64CAB85BE3}" type="slidenum">
              <a:rPr lang="en-US" smtClean="0"/>
              <a:pPr/>
              <a:t>14</a:t>
            </a:fld>
            <a:endParaRPr lang="en-US" dirty="0"/>
          </a:p>
        </p:txBody>
      </p:sp>
    </p:spTree>
    <p:extLst>
      <p:ext uri="{BB962C8B-B14F-4D97-AF65-F5344CB8AC3E}">
        <p14:creationId xmlns:p14="http://schemas.microsoft.com/office/powerpoint/2010/main" val="1422206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Tagged, risk-scored assets let you automate: rogue-asset detection when something unmanaged appears on the network, automatic ticket creation, dynamic risk re-scoring. The compliance report stops being a PDF and becomes a live trigger.</a:t>
            </a:r>
          </a:p>
        </p:txBody>
      </p:sp>
      <p:sp>
        <p:nvSpPr>
          <p:cNvPr id="4" name="Slide Number Placeholder 3"/>
          <p:cNvSpPr>
            <a:spLocks noGrp="1"/>
          </p:cNvSpPr>
          <p:nvPr>
            <p:ph type="sldNum" sz="quarter" idx="5"/>
          </p:nvPr>
        </p:nvSpPr>
        <p:spPr/>
        <p:txBody>
          <a:bodyPr/>
          <a:lstStyle/>
          <a:p>
            <a:fld id="{4DBB4990-0A23-4A10-BE7D-7E64CAB85BE3}" type="slidenum">
              <a:rPr lang="en-US" smtClean="0"/>
              <a:pPr/>
              <a:t>15</a:t>
            </a:fld>
            <a:endParaRPr lang="en-US" dirty="0"/>
          </a:p>
        </p:txBody>
      </p:sp>
    </p:spTree>
    <p:extLst>
      <p:ext uri="{BB962C8B-B14F-4D97-AF65-F5344CB8AC3E}">
        <p14:creationId xmlns:p14="http://schemas.microsoft.com/office/powerpoint/2010/main" val="41262376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E66B3-AEC8-2BF3-1E3A-2C967D5E47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F8CC20-A7ED-BA27-EA44-3D73C5275C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6F5721-B89D-6D36-C963-00B27735647A}"/>
              </a:ext>
            </a:extLst>
          </p:cNvPr>
          <p:cNvSpPr>
            <a:spLocks noGrp="1"/>
          </p:cNvSpPr>
          <p:nvPr>
            <p:ph type="body" idx="1"/>
          </p:nvPr>
        </p:nvSpPr>
        <p:spPr/>
        <p:txBody>
          <a:bodyPr/>
          <a:lstStyle/>
          <a:p>
            <a:r>
              <a:rPr lang="en-GB" dirty="0"/>
              <a:t>Structure: one real architecture, built twice — what we shipped first, what it taught us, and</a:t>
            </a:r>
          </a:p>
          <a:p>
            <a:r>
              <a:rPr lang="en-GB" dirty="0"/>
              <a:t>the simpler version running today → a live look at each phase → the pitfalls that drove the</a:t>
            </a:r>
          </a:p>
          <a:p>
            <a:r>
              <a:rPr lang="en-GB" dirty="0"/>
              <a:t>rebuild, so you don't have to hit them yourself.</a:t>
            </a:r>
          </a:p>
          <a:p>
            <a:endParaRPr lang="en-GB" dirty="0"/>
          </a:p>
          <a:p>
            <a:r>
              <a:rPr lang="en-GB" dirty="0"/>
              <a:t>## Speakers Notes</a:t>
            </a:r>
          </a:p>
          <a:p>
            <a:endParaRPr lang="en-GB" dirty="0"/>
          </a:p>
          <a:p>
            <a:r>
              <a:rPr lang="en-GB" dirty="0"/>
              <a:t>These three takeaways come directly from the session abstract and are the spine of the</a:t>
            </a:r>
          </a:p>
          <a:p>
            <a:r>
              <a:rPr lang="en-GB" dirty="0"/>
              <a:t>whole talk — every section maps back to one of them, and slide 14 closes by revisiting all</a:t>
            </a:r>
          </a:p>
          <a:p>
            <a:r>
              <a:rPr lang="en-GB" dirty="0"/>
              <a:t>three explicitly. </a:t>
            </a:r>
          </a:p>
          <a:p>
            <a:endParaRPr lang="en-GB" dirty="0"/>
          </a:p>
          <a:p>
            <a:endParaRPr lang="en-GB" dirty="0"/>
          </a:p>
          <a:p>
            <a:r>
              <a:rPr lang="en-GB" dirty="0"/>
              <a:t>Set expectations here: this isn't a roadmap or a vision talk. </a:t>
            </a:r>
          </a:p>
          <a:p>
            <a:endParaRPr lang="en-GB" dirty="0"/>
          </a:p>
          <a:p>
            <a:r>
              <a:rPr lang="en-GB" dirty="0"/>
              <a:t>Credit: Image </a:t>
            </a:r>
          </a:p>
          <a:p>
            <a:r>
              <a:rPr lang="en-GB" dirty="0"/>
              <a:t>Source: Created by myself using Visio, merged and collated into larger view using Perplexity AI</a:t>
            </a:r>
          </a:p>
          <a:p>
            <a:endParaRPr lang="en-GB" dirty="0"/>
          </a:p>
        </p:txBody>
      </p:sp>
      <p:sp>
        <p:nvSpPr>
          <p:cNvPr id="4" name="Slide Number Placeholder 3">
            <a:extLst>
              <a:ext uri="{FF2B5EF4-FFF2-40B4-BE49-F238E27FC236}">
                <a16:creationId xmlns:a16="http://schemas.microsoft.com/office/drawing/2014/main" id="{52F1EDF1-D2BC-6B25-3797-F55E22F56260}"/>
              </a:ext>
            </a:extLst>
          </p:cNvPr>
          <p:cNvSpPr>
            <a:spLocks noGrp="1"/>
          </p:cNvSpPr>
          <p:nvPr>
            <p:ph type="sldNum" sz="quarter" idx="5"/>
          </p:nvPr>
        </p:nvSpPr>
        <p:spPr/>
        <p:txBody>
          <a:bodyPr/>
          <a:lstStyle/>
          <a:p>
            <a:fld id="{4DBB4990-0A23-4A10-BE7D-7E64CAB85BE3}" type="slidenum">
              <a:rPr lang="en-US" smtClean="0"/>
              <a:pPr/>
              <a:t>16</a:t>
            </a:fld>
            <a:endParaRPr lang="en-US" dirty="0"/>
          </a:p>
        </p:txBody>
      </p:sp>
    </p:spTree>
    <p:extLst>
      <p:ext uri="{BB962C8B-B14F-4D97-AF65-F5344CB8AC3E}">
        <p14:creationId xmlns:p14="http://schemas.microsoft.com/office/powerpoint/2010/main" val="12403747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0B427-056F-E081-FD3D-83B21994BD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A9DB5B-4F0A-17FA-8943-4407BC7AD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EC41DD-51F3-0A59-342A-6FB69E39DA5A}"/>
              </a:ext>
            </a:extLst>
          </p:cNvPr>
          <p:cNvSpPr>
            <a:spLocks noGrp="1"/>
          </p:cNvSpPr>
          <p:nvPr>
            <p:ph type="body" idx="1"/>
          </p:nvPr>
        </p:nvSpPr>
        <p:spPr/>
        <p:txBody>
          <a:bodyPr/>
          <a:lstStyle/>
          <a:p>
            <a:endParaRPr lang="en-GB" dirty="0"/>
          </a:p>
          <a:p>
            <a:endParaRPr lang="en-GB" dirty="0"/>
          </a:p>
          <a:p>
            <a:endParaRPr lang="en-GB" dirty="0"/>
          </a:p>
          <a:p>
            <a:r>
              <a:rPr lang="en-GB" dirty="0"/>
              <a:t>Credit: Image </a:t>
            </a:r>
          </a:p>
          <a:p>
            <a:r>
              <a:rPr lang="en-GB" dirty="0"/>
              <a:t>Source: Standard QR Generation within Adobe</a:t>
            </a:r>
          </a:p>
        </p:txBody>
      </p:sp>
      <p:sp>
        <p:nvSpPr>
          <p:cNvPr id="4" name="Slide Number Placeholder 3">
            <a:extLst>
              <a:ext uri="{FF2B5EF4-FFF2-40B4-BE49-F238E27FC236}">
                <a16:creationId xmlns:a16="http://schemas.microsoft.com/office/drawing/2014/main" id="{0C6F8054-5E5D-2FF2-B4E8-A58E6B1E0C39}"/>
              </a:ext>
            </a:extLst>
          </p:cNvPr>
          <p:cNvSpPr>
            <a:spLocks noGrp="1"/>
          </p:cNvSpPr>
          <p:nvPr>
            <p:ph type="sldNum" sz="quarter" idx="5"/>
          </p:nvPr>
        </p:nvSpPr>
        <p:spPr/>
        <p:txBody>
          <a:bodyPr/>
          <a:lstStyle/>
          <a:p>
            <a:fld id="{4DBB4990-0A23-4A10-BE7D-7E64CAB85BE3}" type="slidenum">
              <a:rPr lang="en-US" smtClean="0"/>
              <a:pPr/>
              <a:t>17</a:t>
            </a:fld>
            <a:endParaRPr lang="en-US" dirty="0"/>
          </a:p>
        </p:txBody>
      </p:sp>
    </p:spTree>
    <p:extLst>
      <p:ext uri="{BB962C8B-B14F-4D97-AF65-F5344CB8AC3E}">
        <p14:creationId xmlns:p14="http://schemas.microsoft.com/office/powerpoint/2010/main" val="36755587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plunk - Title Slide 2, Two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1260471"/>
            <a:ext cx="10888663" cy="4351342"/>
          </a:xfrm>
          <a:prstGeom prst="rect">
            <a:avLst/>
          </a:prstGeom>
          <a:gradFill>
            <a:gsLst>
              <a:gs pos="16000">
                <a:schemeClr val="bg1">
                  <a:alpha val="10000"/>
                </a:schemeClr>
              </a:gs>
              <a:gs pos="43000">
                <a:srgbClr val="F7F9FC">
                  <a:alpha val="16000"/>
                </a:srgbClr>
              </a:gs>
              <a:gs pos="74000">
                <a:schemeClr val="bg2">
                  <a:alpha val="20000"/>
                </a:schemeClr>
              </a:gs>
              <a:gs pos="100000">
                <a:schemeClr val="accent5">
                  <a:alpha val="20000"/>
                </a:schemeClr>
              </a:gs>
            </a:gsLst>
            <a:lin ang="48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pic>
        <p:nvPicPr>
          <p:cNvPr id="14" name="Graphic 13">
            <a:extLst>
              <a:ext uri="{FF2B5EF4-FFF2-40B4-BE49-F238E27FC236}">
                <a16:creationId xmlns:a16="http://schemas.microsoft.com/office/drawing/2014/main" id="{36791DBD-BFC3-41C2-4DB3-EB3EF559FA1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25542" y="2749346"/>
            <a:ext cx="1817915" cy="1233978"/>
          </a:xfrm>
          <a:prstGeom prst="rect">
            <a:avLst/>
          </a:prstGeom>
        </p:spPr>
      </p:pic>
    </p:spTree>
    <p:extLst>
      <p:ext uri="{BB962C8B-B14F-4D97-AF65-F5344CB8AC3E}">
        <p14:creationId xmlns:p14="http://schemas.microsoft.com/office/powerpoint/2010/main" val="46585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plunk - Title Slide 2, Four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DE1C428-FB01-B3E9-D347-5F55C93684C9}"/>
              </a:ext>
              <a:ext uri="{C183D7F6-B498-43B3-948B-1728B52AA6E4}">
                <adec:decorative xmlns:adec="http://schemas.microsoft.com/office/drawing/2017/decorative" val="1"/>
              </a:ext>
            </a:extLst>
          </p:cNvPr>
          <p:cNvSpPr/>
          <p:nvPr userDrawn="1"/>
        </p:nvSpPr>
        <p:spPr>
          <a:xfrm>
            <a:off x="0" y="1260471"/>
            <a:ext cx="10888663" cy="4351342"/>
          </a:xfrm>
          <a:prstGeom prst="rect">
            <a:avLst/>
          </a:prstGeom>
          <a:gradFill>
            <a:gsLst>
              <a:gs pos="16000">
                <a:schemeClr val="bg1">
                  <a:alpha val="10000"/>
                </a:schemeClr>
              </a:gs>
              <a:gs pos="43000">
                <a:srgbClr val="F7F9FC">
                  <a:alpha val="16000"/>
                </a:srgbClr>
              </a:gs>
              <a:gs pos="74000">
                <a:schemeClr val="bg2">
                  <a:alpha val="20000"/>
                </a:schemeClr>
              </a:gs>
              <a:gs pos="100000">
                <a:schemeClr val="accent5">
                  <a:alpha val="20000"/>
                </a:schemeClr>
              </a:gs>
            </a:gsLst>
            <a:lin ang="48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097997"/>
            <a:ext cx="6656388" cy="1324092"/>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514159"/>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047562"/>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047562"/>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674169"/>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674169"/>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tx1"/>
                </a:solidFill>
              </a:defRPr>
            </a:lvl1pPr>
          </a:lstStyle>
          <a:p>
            <a:pPr lvl="0"/>
            <a:r>
              <a:rPr lang="en-US" dirty="0"/>
              <a:t>Date</a:t>
            </a:r>
          </a:p>
        </p:txBody>
      </p:sp>
      <p:pic>
        <p:nvPicPr>
          <p:cNvPr id="8" name="Graphic 7">
            <a:extLst>
              <a:ext uri="{FF2B5EF4-FFF2-40B4-BE49-F238E27FC236}">
                <a16:creationId xmlns:a16="http://schemas.microsoft.com/office/drawing/2014/main" id="{CD8807AC-0F19-1296-4BA5-E7FCC65B50A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25542" y="2749346"/>
            <a:ext cx="1817915" cy="1233978"/>
          </a:xfrm>
          <a:prstGeom prst="rect">
            <a:avLst/>
          </a:prstGeom>
        </p:spPr>
      </p:pic>
    </p:spTree>
    <p:extLst>
      <p:ext uri="{BB962C8B-B14F-4D97-AF65-F5344CB8AC3E}">
        <p14:creationId xmlns:p14="http://schemas.microsoft.com/office/powerpoint/2010/main" val="1510877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Event Only Title Slide 1, Two Speakers">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425885"/>
            <a:ext cx="6656388" cy="1554169"/>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072124"/>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605527"/>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605527"/>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pic>
        <p:nvPicPr>
          <p:cNvPr id="7" name="Graphic 6">
            <a:extLst>
              <a:ext uri="{FF2B5EF4-FFF2-40B4-BE49-F238E27FC236}">
                <a16:creationId xmlns:a16="http://schemas.microsoft.com/office/drawing/2014/main" id="{A300E2A1-4C63-3529-6916-C98B0C1EBFF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08266" y="520861"/>
            <a:ext cx="1617676" cy="1098058"/>
          </a:xfrm>
          <a:prstGeom prst="rect">
            <a:avLst/>
          </a:prstGeom>
        </p:spPr>
      </p:pic>
    </p:spTree>
    <p:extLst>
      <p:ext uri="{BB962C8B-B14F-4D97-AF65-F5344CB8AC3E}">
        <p14:creationId xmlns:p14="http://schemas.microsoft.com/office/powerpoint/2010/main" val="3917062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Event Only Title Slide 1, Two Speakers">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562040"/>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562040"/>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EE004421-30A3-EF43-F56A-284A9116990D}"/>
              </a:ext>
            </a:extLst>
          </p:cNvPr>
          <p:cNvSpPr>
            <a:spLocks noGrp="1"/>
          </p:cNvSpPr>
          <p:nvPr>
            <p:ph type="body" sz="quarter" idx="15" hasCustomPrompt="1"/>
          </p:nvPr>
        </p:nvSpPr>
        <p:spPr>
          <a:xfrm>
            <a:off x="323850" y="4187513"/>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F7739363-8971-A945-5479-6A7D52A23CC1}"/>
              </a:ext>
            </a:extLst>
          </p:cNvPr>
          <p:cNvSpPr>
            <a:spLocks noGrp="1"/>
          </p:cNvSpPr>
          <p:nvPr>
            <p:ph type="body" sz="quarter" idx="16" hasCustomPrompt="1"/>
          </p:nvPr>
        </p:nvSpPr>
        <p:spPr>
          <a:xfrm>
            <a:off x="4230687" y="4187513"/>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pic>
        <p:nvPicPr>
          <p:cNvPr id="5" name="Graphic 4">
            <a:extLst>
              <a:ext uri="{FF2B5EF4-FFF2-40B4-BE49-F238E27FC236}">
                <a16:creationId xmlns:a16="http://schemas.microsoft.com/office/drawing/2014/main" id="{A502ABFF-E971-B3AB-65D8-4ED252E2F6D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08266" y="520861"/>
            <a:ext cx="1617676" cy="1098058"/>
          </a:xfrm>
          <a:prstGeom prst="rect">
            <a:avLst/>
          </a:prstGeom>
        </p:spPr>
      </p:pic>
      <p:sp>
        <p:nvSpPr>
          <p:cNvPr id="8" name="Title 2">
            <a:extLst>
              <a:ext uri="{FF2B5EF4-FFF2-40B4-BE49-F238E27FC236}">
                <a16:creationId xmlns:a16="http://schemas.microsoft.com/office/drawing/2014/main" id="{F953B218-B267-8ACF-928F-D548E25E2EF4}"/>
              </a:ext>
            </a:extLst>
          </p:cNvPr>
          <p:cNvSpPr>
            <a:spLocks noGrp="1"/>
          </p:cNvSpPr>
          <p:nvPr>
            <p:ph type="title" hasCustomPrompt="1"/>
          </p:nvPr>
        </p:nvSpPr>
        <p:spPr>
          <a:xfrm>
            <a:off x="323850" y="1425885"/>
            <a:ext cx="6656388" cy="1554169"/>
          </a:xfrm>
        </p:spPr>
        <p:txBody>
          <a:bodyPr anchor="b" anchorCtr="0"/>
          <a:lstStyle>
            <a:lvl1pPr>
              <a:defRPr sz="3600">
                <a:solidFill>
                  <a:schemeClr val="tx1"/>
                </a:solidFill>
              </a:defRPr>
            </a:lvl1pPr>
          </a:lstStyle>
          <a:p>
            <a:r>
              <a:rPr lang="en-US" dirty="0"/>
              <a:t>Presentation Title</a:t>
            </a:r>
          </a:p>
        </p:txBody>
      </p:sp>
      <p:sp>
        <p:nvSpPr>
          <p:cNvPr id="9" name="Text Placeholder 10">
            <a:extLst>
              <a:ext uri="{FF2B5EF4-FFF2-40B4-BE49-F238E27FC236}">
                <a16:creationId xmlns:a16="http://schemas.microsoft.com/office/drawing/2014/main" id="{57E30597-0560-4CF8-0081-17A9912783EF}"/>
              </a:ext>
            </a:extLst>
          </p:cNvPr>
          <p:cNvSpPr>
            <a:spLocks noGrp="1"/>
          </p:cNvSpPr>
          <p:nvPr>
            <p:ph type="body" sz="quarter" idx="13" hasCustomPrompt="1"/>
          </p:nvPr>
        </p:nvSpPr>
        <p:spPr>
          <a:xfrm>
            <a:off x="323850" y="3072124"/>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Tree>
    <p:extLst>
      <p:ext uri="{BB962C8B-B14F-4D97-AF65-F5344CB8AC3E}">
        <p14:creationId xmlns:p14="http://schemas.microsoft.com/office/powerpoint/2010/main" val="793513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3_Event Only Title Slide 1, Two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5746302" y="1739457"/>
            <a:ext cx="5879640" cy="1554169"/>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5746302" y="3385696"/>
            <a:ext cx="5879640"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5746302" y="3919099"/>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5" name="Picture Placeholder 16">
            <a:extLst>
              <a:ext uri="{FF2B5EF4-FFF2-40B4-BE49-F238E27FC236}">
                <a16:creationId xmlns:a16="http://schemas.microsoft.com/office/drawing/2014/main" id="{6CE2252C-F998-68C6-8B51-5EEF8087580B}"/>
              </a:ext>
            </a:extLst>
          </p:cNvPr>
          <p:cNvSpPr>
            <a:spLocks noGrp="1"/>
          </p:cNvSpPr>
          <p:nvPr>
            <p:ph type="pic" sz="quarter" idx="19"/>
          </p:nvPr>
        </p:nvSpPr>
        <p:spPr>
          <a:xfrm>
            <a:off x="856903" y="1514518"/>
            <a:ext cx="3725864" cy="3628710"/>
          </a:xfrm>
          <a:prstGeom prst="roundRect">
            <a:avLst>
              <a:gd name="adj" fmla="val 5474"/>
            </a:avLst>
          </a:prstGeom>
        </p:spPr>
        <p:txBody>
          <a:bodyPr/>
          <a:lstStyle/>
          <a:p>
            <a:endParaRPr lang="en-US"/>
          </a:p>
        </p:txBody>
      </p:sp>
      <p:pic>
        <p:nvPicPr>
          <p:cNvPr id="2" name="Graphic 1">
            <a:extLst>
              <a:ext uri="{FF2B5EF4-FFF2-40B4-BE49-F238E27FC236}">
                <a16:creationId xmlns:a16="http://schemas.microsoft.com/office/drawing/2014/main" id="{D9B55C1B-BA0C-BB1A-B3B1-488EFB23554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08266" y="520861"/>
            <a:ext cx="1617676" cy="1098058"/>
          </a:xfrm>
          <a:prstGeom prst="rect">
            <a:avLst/>
          </a:prstGeom>
        </p:spPr>
      </p:pic>
    </p:spTree>
    <p:extLst>
      <p:ext uri="{BB962C8B-B14F-4D97-AF65-F5344CB8AC3E}">
        <p14:creationId xmlns:p14="http://schemas.microsoft.com/office/powerpoint/2010/main" val="1282297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A470DCA-01D3-75CC-4B81-AF6AC1F46C85}"/>
              </a:ext>
            </a:extLst>
          </p:cNvPr>
          <p:cNvSpPr>
            <a:spLocks noGrp="1"/>
          </p:cNvSpPr>
          <p:nvPr>
            <p:ph type="title" hasCustomPrompt="1"/>
          </p:nvPr>
        </p:nvSpPr>
        <p:spPr>
          <a:xfrm>
            <a:off x="323850" y="298146"/>
            <a:ext cx="2749550" cy="492443"/>
          </a:xfrm>
        </p:spPr>
        <p:txBody>
          <a:bodyPr/>
          <a:lstStyle>
            <a:lvl1pPr>
              <a:defRPr>
                <a:solidFill>
                  <a:schemeClr val="tx1"/>
                </a:solidFill>
              </a:defRPr>
            </a:lvl1pPr>
          </a:lstStyle>
          <a:p>
            <a:r>
              <a:rPr lang="en-US" dirty="0"/>
              <a:t>Agenda</a:t>
            </a:r>
          </a:p>
        </p:txBody>
      </p:sp>
      <p:sp>
        <p:nvSpPr>
          <p:cNvPr id="4" name="Text Placeholder 3">
            <a:extLst>
              <a:ext uri="{FF2B5EF4-FFF2-40B4-BE49-F238E27FC236}">
                <a16:creationId xmlns:a16="http://schemas.microsoft.com/office/drawing/2014/main" id="{BD66DE8E-18DA-4564-080D-AD4F9F492D6B}"/>
              </a:ext>
            </a:extLst>
          </p:cNvPr>
          <p:cNvSpPr>
            <a:spLocks noGrp="1"/>
          </p:cNvSpPr>
          <p:nvPr>
            <p:ph type="body" sz="quarter" idx="20" hasCustomPrompt="1"/>
          </p:nvPr>
        </p:nvSpPr>
        <p:spPr>
          <a:xfrm>
            <a:off x="5208588" y="296863"/>
            <a:ext cx="550862" cy="365125"/>
          </a:xfrm>
        </p:spPr>
        <p:txBody>
          <a:bodyPr vert="horz" lIns="0" tIns="0" rIns="0" bIns="0" rtlCol="0" anchor="t" anchorCtr="0"/>
          <a:lstStyle>
            <a:lvl1pPr marL="0" indent="0">
              <a:lnSpc>
                <a:spcPct val="90000"/>
              </a:lnSpc>
              <a:buNone/>
              <a:defRPr kumimoji="0" lang="en-US" sz="3200" b="0" i="0" u="none" strike="noStrike" cap="none" spc="27" normalizeH="0" baseline="0" dirty="0" smtClean="0">
                <a:ln>
                  <a:noFill/>
                </a:ln>
                <a:solidFill>
                  <a:schemeClr val="tx2">
                    <a:lumMod val="60000"/>
                    <a:lumOff val="40000"/>
                  </a:schemeClr>
                </a:solidFill>
                <a:effectLst/>
                <a:uLnTx/>
                <a:uFillTx/>
                <a:latin typeface="+mj-lt"/>
                <a:cs typeface="CiscoSansTT Light" panose="020B0503020201020303" pitchFamily="34" charset="0"/>
              </a:defRPr>
            </a:lvl1pPr>
          </a:lstStyle>
          <a:p>
            <a:pPr marL="0" lvl="0" algn="r" defTabSz="914400" latinLnBrk="0"/>
            <a:r>
              <a:rPr lang="en-US" dirty="0"/>
              <a:t>##</a:t>
            </a:r>
          </a:p>
        </p:txBody>
      </p:sp>
      <p:sp>
        <p:nvSpPr>
          <p:cNvPr id="5" name="Text Placeholder 4">
            <a:extLst>
              <a:ext uri="{FF2B5EF4-FFF2-40B4-BE49-F238E27FC236}">
                <a16:creationId xmlns:a16="http://schemas.microsoft.com/office/drawing/2014/main" id="{5421C779-BAEC-654A-5E9A-684AEBA7E395}"/>
              </a:ext>
            </a:extLst>
          </p:cNvPr>
          <p:cNvSpPr>
            <a:spLocks noGrp="1"/>
          </p:cNvSpPr>
          <p:nvPr>
            <p:ph type="body" sz="quarter" idx="18" hasCustomPrompt="1"/>
          </p:nvPr>
        </p:nvSpPr>
        <p:spPr>
          <a:xfrm>
            <a:off x="6184900" y="296863"/>
            <a:ext cx="5683250" cy="365125"/>
          </a:xfrm>
          <a:noFill/>
        </p:spPr>
        <p:txBody>
          <a:bodyPr anchor="t" anchorCtr="0"/>
          <a:lstStyle>
            <a:lvl1pPr marL="0" indent="0" algn="l" defTabSz="912276" rtl="0" eaLnBrk="1" fontAlgn="base" hangingPunct="1">
              <a:lnSpc>
                <a:spcPct val="90000"/>
              </a:lnSpc>
              <a:spcBef>
                <a:spcPct val="0"/>
              </a:spcBef>
              <a:spcAft>
                <a:spcPts val="1000"/>
              </a:spcAft>
              <a:buClrTx/>
              <a:buSzPct val="70000"/>
              <a:buFont typeface="Arial" panose="020B0604020202020204" pitchFamily="34" charset="0"/>
              <a:buNone/>
              <a:defRPr lang="en-US" sz="3200" b="0" i="0" u="none" kern="1200" dirty="0">
                <a:solidFill>
                  <a:schemeClr val="tx1"/>
                </a:solidFill>
                <a:latin typeface="Inter" panose="02000503000000020004" pitchFamily="2" charset="0"/>
                <a:ea typeface="Inter" panose="02000503000000020004" pitchFamily="2" charset="0"/>
                <a:cs typeface="CiscoSansTT Thin" charset="0"/>
              </a:defRPr>
            </a:lvl1pPr>
          </a:lstStyle>
          <a:p>
            <a:pPr lvl="0"/>
            <a:r>
              <a:rPr lang="en-US" dirty="0"/>
              <a:t>Agenda list placeholder</a:t>
            </a:r>
          </a:p>
        </p:txBody>
      </p:sp>
      <p:sp>
        <p:nvSpPr>
          <p:cNvPr id="3" name="Footer Placeholder 2">
            <a:extLst>
              <a:ext uri="{FF2B5EF4-FFF2-40B4-BE49-F238E27FC236}">
                <a16:creationId xmlns:a16="http://schemas.microsoft.com/office/drawing/2014/main" id="{E637F1A5-67B6-4A78-7FA7-0860E1B6F9B0}"/>
              </a:ext>
            </a:extLst>
          </p:cNvPr>
          <p:cNvSpPr>
            <a:spLocks noGrp="1"/>
          </p:cNvSpPr>
          <p:nvPr>
            <p:ph type="ftr" sz="quarter" idx="2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2" name="Slide Number Placeholder 1">
            <a:extLst>
              <a:ext uri="{FF2B5EF4-FFF2-40B4-BE49-F238E27FC236}">
                <a16:creationId xmlns:a16="http://schemas.microsoft.com/office/drawing/2014/main" id="{FB200302-2202-F22C-D162-871BF904F46C}"/>
              </a:ext>
            </a:extLst>
          </p:cNvPr>
          <p:cNvSpPr>
            <a:spLocks noGrp="1"/>
          </p:cNvSpPr>
          <p:nvPr>
            <p:ph type="sldNum" sz="quarter" idx="19"/>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959039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Onl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58653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ubtitle Only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76278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2 Slide Title, Top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4703763"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6184900" y="320675"/>
            <a:ext cx="5683250"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Subheading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357941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Title Only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tx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16714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Title, Subtitl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8" name="Text Placeholder 7">
            <a:extLst>
              <a:ext uri="{FF2B5EF4-FFF2-40B4-BE49-F238E27FC236}">
                <a16:creationId xmlns:a16="http://schemas.microsoft.com/office/drawing/2014/main" id="{6A259C3D-581C-B8BC-32B4-EE2B22A753A2}"/>
              </a:ext>
            </a:extLst>
          </p:cNvPr>
          <p:cNvSpPr>
            <a:spLocks noGrp="1"/>
          </p:cNvSpPr>
          <p:nvPr>
            <p:ph type="body" sz="quarter" idx="13" hasCustomPrompt="1"/>
          </p:nvPr>
        </p:nvSpPr>
        <p:spPr>
          <a:xfrm>
            <a:off x="323850" y="1114425"/>
            <a:ext cx="5772150" cy="441325"/>
          </a:xfrm>
        </p:spPr>
        <p:txBody>
          <a:bodyPr/>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718286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2 Slide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59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2 Slide, Section, Title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65889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2 Slide, Section, Title 2">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5376922-1A18-EB35-1718-708DF44FBF1B}"/>
              </a:ext>
            </a:extLst>
          </p:cNvPr>
          <p:cNvSpPr>
            <a:spLocks noGrp="1"/>
          </p:cNvSpPr>
          <p:nvPr>
            <p:ph type="body" sz="quarter" idx="13"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033990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2 Slide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49657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2 Slide Section,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a:extLst>
              <a:ext uri="{FF2B5EF4-FFF2-40B4-BE49-F238E27FC236}">
                <a16:creationId xmlns:a16="http://schemas.microsoft.com/office/drawing/2014/main" id="{73B0377C-E9B5-910F-ED3D-37BEFE794881}"/>
              </a:ext>
            </a:extLst>
          </p:cNvPr>
          <p:cNvSpPr>
            <a:spLocks noGrp="1"/>
          </p:cNvSpPr>
          <p:nvPr>
            <p:ph type="body" sz="quarter" idx="14"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Tree>
    <p:extLst>
      <p:ext uri="{BB962C8B-B14F-4D97-AF65-F5344CB8AC3E}">
        <p14:creationId xmlns:p14="http://schemas.microsoft.com/office/powerpoint/2010/main" val="2494054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1 Column with Bullet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F7953DF5-78A1-7006-522C-1EF18B91ADAA}"/>
              </a:ext>
            </a:extLst>
          </p:cNvPr>
          <p:cNvSpPr>
            <a:spLocks noGrp="1"/>
          </p:cNvSpPr>
          <p:nvPr>
            <p:ph type="body" sz="quarter" idx="12"/>
          </p:nvPr>
        </p:nvSpPr>
        <p:spPr>
          <a:xfrm>
            <a:off x="323850" y="952500"/>
            <a:ext cx="11544300" cy="5122863"/>
          </a:xfrm>
        </p:spPr>
        <p:txBody>
          <a:bodyPr/>
          <a:lstStyle>
            <a:lvl1pPr>
              <a:buClr>
                <a:schemeClr val="tx1"/>
              </a:buClr>
              <a:defRPr sz="2000"/>
            </a:lvl1pPr>
            <a:lvl2pPr>
              <a:buClr>
                <a:schemeClr val="tx1"/>
              </a:buClr>
              <a:defRPr sz="2000"/>
            </a:lvl2pPr>
            <a:lvl3pPr>
              <a:buClr>
                <a:schemeClr val="tx1"/>
              </a:buClr>
              <a:defRPr sz="2000"/>
            </a:lvl3pPr>
            <a:lvl4pPr>
              <a:buClr>
                <a:schemeClr val="tx1"/>
              </a:buClr>
              <a:defRPr sz="2000"/>
            </a:lvl4pPr>
            <a:lvl5pPr>
              <a:buClr>
                <a:schemeClr val="tx1"/>
              </a:buCl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57232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Title, 1 Column with co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F7953DF5-78A1-7006-522C-1EF18B91ADAA}"/>
              </a:ext>
            </a:extLst>
          </p:cNvPr>
          <p:cNvSpPr>
            <a:spLocks noGrp="1"/>
          </p:cNvSpPr>
          <p:nvPr>
            <p:ph type="body" sz="quarter" idx="12"/>
          </p:nvPr>
        </p:nvSpPr>
        <p:spPr>
          <a:xfrm>
            <a:off x="323850" y="952500"/>
            <a:ext cx="11544300" cy="5122863"/>
          </a:xfrm>
        </p:spPr>
        <p:txBody>
          <a:bodyPr/>
          <a:lstStyle>
            <a:lvl1pPr>
              <a:buNone/>
              <a:defRPr sz="1600">
                <a:latin typeface="Source Code Pro" panose="020B0509030403020204" pitchFamily="49" charset="0"/>
                <a:ea typeface="Source Code Pro" panose="020B0509030403020204" pitchFamily="49" charset="0"/>
              </a:defRPr>
            </a:lvl1pPr>
            <a:lvl2pPr>
              <a:buNone/>
              <a:defRPr sz="1600">
                <a:latin typeface="Source Code Pro" panose="020B0509030403020204" pitchFamily="49" charset="0"/>
                <a:ea typeface="Source Code Pro" panose="020B0509030403020204" pitchFamily="49" charset="0"/>
              </a:defRPr>
            </a:lvl2pPr>
            <a:lvl3pPr>
              <a:buNone/>
              <a:defRPr sz="1600">
                <a:latin typeface="Source Code Pro" panose="020B0509030403020204" pitchFamily="49" charset="0"/>
                <a:ea typeface="Source Code Pro" panose="020B0509030403020204" pitchFamily="49" charset="0"/>
              </a:defRPr>
            </a:lvl3pPr>
            <a:lvl4pPr>
              <a:buNone/>
              <a:defRPr sz="1600">
                <a:latin typeface="Source Code Pro" panose="020B0509030403020204" pitchFamily="49" charset="0"/>
                <a:ea typeface="Source Code Pro" panose="020B0509030403020204" pitchFamily="49" charset="0"/>
              </a:defRPr>
            </a:lvl4pPr>
            <a:lvl5pPr>
              <a:buNone/>
              <a:defRPr sz="1600">
                <a:latin typeface="Source Code Pro" panose="020B0509030403020204" pitchFamily="49" charset="0"/>
                <a:ea typeface="Source Code Pro" panose="020B050903040302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14390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2 Columns with Bullet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15685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84245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23848" y="2179638"/>
            <a:ext cx="347472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4358639" y="2179638"/>
            <a:ext cx="347472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8393430" y="2181225"/>
            <a:ext cx="347472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71065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46888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351107" y="2179638"/>
            <a:ext cx="246888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72014" y="2179638"/>
            <a:ext cx="246888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9392920" y="2179638"/>
            <a:ext cx="246888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3293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Subtitle, 5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011680" cy="2495550"/>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2710180" y="2179638"/>
            <a:ext cx="2011680" cy="2495550"/>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5090160" y="2179638"/>
            <a:ext cx="2011680" cy="2495550"/>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7470140" y="2179638"/>
            <a:ext cx="2011680" cy="2495550"/>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3">
            <a:extLst>
              <a:ext uri="{FF2B5EF4-FFF2-40B4-BE49-F238E27FC236}">
                <a16:creationId xmlns:a16="http://schemas.microsoft.com/office/drawing/2014/main" id="{3B7038BF-5DE9-94EF-1E39-92627DD8ACA8}"/>
              </a:ext>
            </a:extLst>
          </p:cNvPr>
          <p:cNvSpPr>
            <a:spLocks noGrp="1"/>
          </p:cNvSpPr>
          <p:nvPr>
            <p:ph type="body" sz="quarter" idx="17"/>
          </p:nvPr>
        </p:nvSpPr>
        <p:spPr>
          <a:xfrm>
            <a:off x="9850120" y="2181225"/>
            <a:ext cx="2011680" cy="2493963"/>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68962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2 Slide, Title,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5281613"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6107430" y="320675"/>
            <a:ext cx="5760720" cy="5759451"/>
          </a:xfrm>
          <a:prstGeom prst="roundRect">
            <a:avLst>
              <a:gd name="adj" fmla="val 1618"/>
            </a:avLst>
          </a:prstGeom>
          <a:solidFill>
            <a:schemeClr val="bg1">
              <a:alpha val="10000"/>
            </a:schemeClr>
          </a:solidFill>
        </p:spPr>
        <p:txBody>
          <a:bodyPr tIns="155448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787848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7235825" cy="94773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8140700" y="320675"/>
            <a:ext cx="3727450" cy="5759451"/>
          </a:xfrm>
          <a:prstGeom prst="roundRect">
            <a:avLst>
              <a:gd name="adj" fmla="val 1618"/>
            </a:avLst>
          </a:prstGeom>
          <a:solidFill>
            <a:schemeClr val="bg1">
              <a:alpha val="10000"/>
            </a:schemeClr>
          </a:solidFill>
        </p:spPr>
        <p:txBody>
          <a:bodyPr tIns="137160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41743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3328987"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4049713" y="320676"/>
            <a:ext cx="7818436" cy="5754688"/>
          </a:xfrm>
          <a:prstGeom prst="roundRect">
            <a:avLst>
              <a:gd name="adj" fmla="val 1618"/>
            </a:avLst>
          </a:prstGeom>
          <a:solidFill>
            <a:schemeClr val="bg1">
              <a:alpha val="10000"/>
            </a:schemeClr>
          </a:solidFill>
        </p:spPr>
        <p:txBody>
          <a:bodyPr tIns="146304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148907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2 Slide Title, Photo 3">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3116793"/>
            <a:ext cx="5284788" cy="1246188"/>
          </a:xfrm>
        </p:spPr>
        <p:txBody>
          <a:bodyPr wrap="square" anchor="t" anchorCtr="0">
            <a:noAutofit/>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903A889C-4BCD-59AA-132B-C3FD4F8E65F1}"/>
              </a:ext>
            </a:extLst>
          </p:cNvPr>
          <p:cNvSpPr>
            <a:spLocks noGrp="1"/>
          </p:cNvSpPr>
          <p:nvPr>
            <p:ph type="pic" sz="quarter" idx="12" hasCustomPrompt="1"/>
          </p:nvPr>
        </p:nvSpPr>
        <p:spPr>
          <a:xfrm>
            <a:off x="6184901" y="795338"/>
            <a:ext cx="5284788" cy="5284788"/>
          </a:xfrm>
          <a:prstGeom prst="roundRect">
            <a:avLst>
              <a:gd name="adj" fmla="val 1618"/>
            </a:avLst>
          </a:prstGeom>
          <a:solidFill>
            <a:schemeClr val="bg1">
              <a:alpha val="10000"/>
            </a:schemeClr>
          </a:solidFill>
        </p:spPr>
        <p:txBody>
          <a:bodyPr tIns="146304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209929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3 Slide Title, Section, Body, 2/3 Photo">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bg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49" y="622300"/>
            <a:ext cx="3328989" cy="1558925"/>
          </a:xfrm>
        </p:spPr>
        <p:txBody>
          <a:bodyPr/>
          <a:lstStyle>
            <a:lvl1pPr>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6653D0B-638B-EB5D-F379-EF10C80DCCA3}"/>
              </a:ext>
            </a:extLst>
          </p:cNvPr>
          <p:cNvSpPr>
            <a:spLocks noGrp="1"/>
          </p:cNvSpPr>
          <p:nvPr>
            <p:ph type="body" sz="quarter" idx="13"/>
          </p:nvPr>
        </p:nvSpPr>
        <p:spPr>
          <a:xfrm>
            <a:off x="323851" y="3429000"/>
            <a:ext cx="3328988" cy="2646363"/>
          </a:xfrm>
        </p:spPr>
        <p:txBody>
          <a:bodyPr anchor="b" anchorCtr="0"/>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5">
            <a:extLst>
              <a:ext uri="{FF2B5EF4-FFF2-40B4-BE49-F238E27FC236}">
                <a16:creationId xmlns:a16="http://schemas.microsoft.com/office/drawing/2014/main" id="{798C8AA3-6350-A299-E288-D693A8EC8932}"/>
              </a:ext>
            </a:extLst>
          </p:cNvPr>
          <p:cNvSpPr>
            <a:spLocks noGrp="1"/>
          </p:cNvSpPr>
          <p:nvPr>
            <p:ph type="pic" sz="quarter" idx="14" hasCustomPrompt="1"/>
          </p:nvPr>
        </p:nvSpPr>
        <p:spPr>
          <a:xfrm>
            <a:off x="4049713" y="622300"/>
            <a:ext cx="7818436" cy="5453063"/>
          </a:xfrm>
          <a:prstGeom prst="roundRect">
            <a:avLst>
              <a:gd name="adj" fmla="val 1618"/>
            </a:avLst>
          </a:prstGeom>
          <a:solidFill>
            <a:schemeClr val="bg1">
              <a:alpha val="10000"/>
            </a:schemeClr>
          </a:solidFill>
        </p:spPr>
        <p:txBody>
          <a:bodyPr tIns="146304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671478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2 Slide Section, Title 1,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2739B37-658D-FBF5-94C3-66EECB73F7D0}"/>
              </a:ext>
            </a:extLst>
          </p:cNvPr>
          <p:cNvSpPr>
            <a:spLocks noGrp="1"/>
          </p:cNvSpPr>
          <p:nvPr>
            <p:ph type="pic" sz="quarter" idx="13" hasCustomPrompt="1"/>
          </p:nvPr>
        </p:nvSpPr>
        <p:spPr>
          <a:xfrm>
            <a:off x="6096001" y="320675"/>
            <a:ext cx="5766436" cy="5754687"/>
          </a:xfrm>
          <a:prstGeom prst="roundRect">
            <a:avLst>
              <a:gd name="adj" fmla="val 1714"/>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a:t>
            </a:r>
            <a:br>
              <a:rPr lang="en-US" dirty="0"/>
            </a:br>
            <a:r>
              <a:rPr lang="en-US" dirty="0"/>
              <a:t>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013670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Full Margin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323850" y="952500"/>
            <a:ext cx="11544300" cy="5122863"/>
          </a:xfrm>
          <a:prstGeom prst="roundRect">
            <a:avLst>
              <a:gd name="adj" fmla="val 1503"/>
            </a:avLst>
          </a:prstGeom>
          <a:solidFill>
            <a:schemeClr val="bg1">
              <a:alpha val="10000"/>
            </a:schemeClr>
          </a:solidFill>
        </p:spPr>
        <p:txBody>
          <a:bodyPr vert="horz" lIns="0" tIns="118872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635668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Subtitle, Full Margin Photo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1154430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2" name="Picture Placeholder 5">
            <a:extLst>
              <a:ext uri="{FF2B5EF4-FFF2-40B4-BE49-F238E27FC236}">
                <a16:creationId xmlns:a16="http://schemas.microsoft.com/office/drawing/2014/main" id="{99D23610-D323-6271-753B-C40A3678BD66}"/>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18872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484658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ection, Title, Full Margin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170B322-9DD5-07FB-D258-3DA95EF8E7B1}"/>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28016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126087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ull-bleed Photo,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B168980-BFE5-40AF-63BF-9DB031B379C4}"/>
              </a:ext>
            </a:extLst>
          </p:cNvPr>
          <p:cNvSpPr>
            <a:spLocks noGrp="1"/>
          </p:cNvSpPr>
          <p:nvPr>
            <p:ph type="ftr" sz="quarter" idx="13"/>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5" name="Slide Number Placeholder 4">
            <a:extLst>
              <a:ext uri="{FF2B5EF4-FFF2-40B4-BE49-F238E27FC236}">
                <a16:creationId xmlns:a16="http://schemas.microsoft.com/office/drawing/2014/main" id="{7E7B9760-CDAA-BC58-F236-F1837F40C2DB}"/>
              </a:ext>
            </a:extLst>
          </p:cNvPr>
          <p:cNvSpPr>
            <a:spLocks noGrp="1"/>
          </p:cNvSpPr>
          <p:nvPr>
            <p:ph type="sldNum" sz="quarter" idx="14"/>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4927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Full Bleed Photo, Titl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722312" y="4540250"/>
            <a:ext cx="10747375" cy="1071563"/>
          </a:xfrm>
        </p:spPr>
        <p:txBody>
          <a:bodyPr anchor="b" anchorCtr="0"/>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7201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Full-bleed Photo, Section,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14840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plunk - Full-bleed Photo, Section,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08775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Upper 2/3 Photo, Section, Titl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7937"/>
            <a:ext cx="12192000" cy="4675188"/>
          </a:xfrm>
          <a:prstGeom prst="roundRect">
            <a:avLst>
              <a:gd name="adj" fmla="val 0"/>
            </a:avLst>
          </a:prstGeom>
          <a:solidFill>
            <a:schemeClr val="bg1">
              <a:alpha val="10000"/>
            </a:schemeClr>
          </a:solidFill>
        </p:spPr>
        <p:txBody>
          <a:bodyPr vert="horz" lIns="0" tIns="137160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323850" y="-7937"/>
            <a:ext cx="8612188" cy="466344"/>
          </a:xfrm>
        </p:spPr>
        <p:txBody>
          <a:bodyPr anchor="b" anchorCtr="0"/>
          <a:lstStyle>
            <a:lvl1pPr marL="0" indent="0" algn="l">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323850" y="5003800"/>
            <a:ext cx="8612188" cy="1071563"/>
          </a:xfrm>
        </p:spPr>
        <p:txBody>
          <a:bodyPr/>
          <a:lstStyle>
            <a:lvl1pPr algn="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31009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plunk - Quote 1">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1132840"/>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9050" cap="flat">
            <a:gradFill flip="none" rotWithShape="1">
              <a:gsLst>
                <a:gs pos="0">
                  <a:schemeClr val="accent3"/>
                </a:gs>
                <a:gs pos="100000">
                  <a:schemeClr val="accent4"/>
                </a:gs>
              </a:gsLst>
              <a:lin ang="2700000" scaled="1"/>
              <a:tileRect/>
            </a:gradFill>
            <a:prstDash val="solid"/>
            <a:miter/>
          </a:ln>
        </p:spPr>
        <p:txBody>
          <a:bodyPr rtlCol="0" anchor="ctr"/>
          <a:lstStyle/>
          <a:p>
            <a:endParaRPr lang="en-US" b="0" i="0" dirty="0">
              <a:latin typeface="Inter" panose="02000503000000020004" pitchFamily="2" charset="0"/>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876424"/>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360863"/>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073615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plunk -  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963295"/>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9050" cap="flat">
            <a:solidFill>
              <a:schemeClr val="tx1"/>
            </a:solidFill>
            <a:prstDash val="solid"/>
            <a:miter/>
          </a:ln>
        </p:spPr>
        <p:txBody>
          <a:bodyPr rtlCol="0" anchor="ctr"/>
          <a:lstStyle/>
          <a:p>
            <a:endParaRPr lang="en-US" b="0" i="0" dirty="0">
              <a:latin typeface="Inter" panose="02000503000000020004" pitchFamily="2" charset="0"/>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706879"/>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191318"/>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827892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plunk - 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6096000" y="1244600"/>
            <a:ext cx="5373688" cy="3167380"/>
          </a:xfrm>
        </p:spPr>
        <p:txBody>
          <a:bodyPr/>
          <a:lstStyle>
            <a:lvl1pPr algn="l">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no </a:t>
            </a:r>
            <a:r>
              <a:rPr lang="en-GB" dirty="0" err="1"/>
              <a:t>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6096000" y="4726305"/>
            <a:ext cx="5373688" cy="673417"/>
          </a:xfrm>
        </p:spPr>
        <p:txBody>
          <a:bodyPr/>
          <a:lstStyle>
            <a:lvl1pPr marL="0" indent="0" algn="l">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876097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plunk - 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5683250"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323850" y="1555750"/>
            <a:ext cx="5683250" cy="923925"/>
          </a:xfrm>
        </p:spPr>
        <p:txBody>
          <a:bodyPr/>
          <a:lstStyle>
            <a:lvl1pPr marL="0" indent="0">
              <a:buNone/>
              <a:defRPr sz="16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Body copy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21114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Splunk - 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2" name="Title 5">
            <a:extLst>
              <a:ext uri="{FF2B5EF4-FFF2-40B4-BE49-F238E27FC236}">
                <a16:creationId xmlns:a16="http://schemas.microsoft.com/office/drawing/2014/main" id="{ED550F9B-7608-E02A-538E-8BA8CA6C733C}"/>
              </a:ext>
            </a:extLst>
          </p:cNvPr>
          <p:cNvSpPr>
            <a:spLocks noGrp="1"/>
          </p:cNvSpPr>
          <p:nvPr>
            <p:ph type="title"/>
          </p:nvPr>
        </p:nvSpPr>
        <p:spPr>
          <a:xfrm>
            <a:off x="323850" y="298146"/>
            <a:ext cx="11544300" cy="492443"/>
          </a:xfrm>
        </p:spPr>
        <p:txBody>
          <a:bodyPr/>
          <a:lstStyle/>
          <a:p>
            <a:r>
              <a:rPr lang="en-US"/>
              <a:t>Click to edit Master title style</a:t>
            </a:r>
          </a:p>
        </p:txBody>
      </p:sp>
      <p:sp>
        <p:nvSpPr>
          <p:cNvPr id="7" name="Text Placeholder 4">
            <a:extLst>
              <a:ext uri="{FF2B5EF4-FFF2-40B4-BE49-F238E27FC236}">
                <a16:creationId xmlns:a16="http://schemas.microsoft.com/office/drawing/2014/main" id="{9295254C-FBCA-2AA8-981E-12D91F5F8973}"/>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8" name="TextBox 7">
            <a:extLst>
              <a:ext uri="{FF2B5EF4-FFF2-40B4-BE49-F238E27FC236}">
                <a16:creationId xmlns:a16="http://schemas.microsoft.com/office/drawing/2014/main" id="{D0A48D09-C5BE-1D78-A95E-11B4AE086B4A}"/>
              </a:ext>
            </a:extLst>
          </p:cNvPr>
          <p:cNvSpPr txBox="1"/>
          <p:nvPr userDrawn="1"/>
        </p:nvSpPr>
        <p:spPr>
          <a:xfrm>
            <a:off x="4218039" y="4414684"/>
            <a:ext cx="0" cy="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US" sz="1600" kern="1200" dirty="0" err="1">
              <a:solidFill>
                <a:schemeClr val="bg1"/>
              </a:solidFill>
              <a:latin typeface="+mn-lt"/>
              <a:ea typeface="ＭＳ Ｐゴシック" charset="0"/>
            </a:endParaRPr>
          </a:p>
        </p:txBody>
      </p:sp>
      <p:sp>
        <p:nvSpPr>
          <p:cNvPr id="9" name="Text Placeholder 1">
            <a:extLst>
              <a:ext uri="{FF2B5EF4-FFF2-40B4-BE49-F238E27FC236}">
                <a16:creationId xmlns:a16="http://schemas.microsoft.com/office/drawing/2014/main" id="{80BAB371-C746-1346-84D4-B04FB1C2AA9F}"/>
              </a:ext>
            </a:extLst>
          </p:cNvPr>
          <p:cNvSpPr>
            <a:spLocks noGrp="1"/>
          </p:cNvSpPr>
          <p:nvPr>
            <p:ph type="body" sz="quarter" idx="13" hasCustomPrompt="1"/>
          </p:nvPr>
        </p:nvSpPr>
        <p:spPr>
          <a:xfrm>
            <a:off x="570136" y="4591673"/>
            <a:ext cx="3485896" cy="389467"/>
          </a:xfrm>
        </p:spPr>
        <p:txBody>
          <a:bodyPr/>
          <a:lstStyle>
            <a:lvl1pPr algn="ctr">
              <a:buNone/>
              <a:defRPr sz="1800"/>
            </a:lvl1pPr>
          </a:lstStyle>
          <a:p>
            <a:r>
              <a:rPr lang="en-US" dirty="0"/>
              <a:t>First, Last Name</a:t>
            </a:r>
          </a:p>
        </p:txBody>
      </p:sp>
      <p:sp>
        <p:nvSpPr>
          <p:cNvPr id="10" name="Text Placeholder 2">
            <a:extLst>
              <a:ext uri="{FF2B5EF4-FFF2-40B4-BE49-F238E27FC236}">
                <a16:creationId xmlns:a16="http://schemas.microsoft.com/office/drawing/2014/main" id="{11ED3745-9702-C144-0864-2711F9D9151B}"/>
              </a:ext>
            </a:extLst>
          </p:cNvPr>
          <p:cNvSpPr>
            <a:spLocks noGrp="1"/>
          </p:cNvSpPr>
          <p:nvPr>
            <p:ph type="body" sz="quarter" idx="14" hasCustomPrompt="1"/>
          </p:nvPr>
        </p:nvSpPr>
        <p:spPr>
          <a:xfrm>
            <a:off x="570136" y="5063536"/>
            <a:ext cx="3485896" cy="713024"/>
          </a:xfrm>
        </p:spPr>
        <p:txBody>
          <a:bodyPr/>
          <a:lstStyle>
            <a:lvl1pPr algn="ctr">
              <a:spcAft>
                <a:spcPts val="600"/>
              </a:spcAft>
              <a:buNone/>
              <a:defRPr sz="1100"/>
            </a:lvl1pPr>
          </a:lstStyle>
          <a:p>
            <a:r>
              <a:rPr lang="en-US" dirty="0"/>
              <a:t>Job Title </a:t>
            </a:r>
          </a:p>
          <a:p>
            <a:r>
              <a:rPr lang="en-US" dirty="0"/>
              <a:t>Company</a:t>
            </a:r>
          </a:p>
        </p:txBody>
      </p:sp>
      <p:sp>
        <p:nvSpPr>
          <p:cNvPr id="12" name="Text Placeholder 3">
            <a:extLst>
              <a:ext uri="{FF2B5EF4-FFF2-40B4-BE49-F238E27FC236}">
                <a16:creationId xmlns:a16="http://schemas.microsoft.com/office/drawing/2014/main" id="{D6425DC0-DD30-D9D9-384A-23B0D57863AF}"/>
              </a:ext>
            </a:extLst>
          </p:cNvPr>
          <p:cNvSpPr>
            <a:spLocks noGrp="1"/>
          </p:cNvSpPr>
          <p:nvPr>
            <p:ph type="body" sz="quarter" idx="17" hasCustomPrompt="1"/>
          </p:nvPr>
        </p:nvSpPr>
        <p:spPr>
          <a:xfrm>
            <a:off x="4364038" y="4591050"/>
            <a:ext cx="3486150" cy="390525"/>
          </a:xfrm>
        </p:spPr>
        <p:txBody>
          <a:bodyPr/>
          <a:lstStyle>
            <a:lvl1pPr algn="ctr">
              <a:buNone/>
              <a:defRPr sz="1800"/>
            </a:lvl1pPr>
          </a:lstStyle>
          <a:p>
            <a:r>
              <a:rPr lang="en-US" dirty="0"/>
              <a:t>First, Last Name</a:t>
            </a:r>
          </a:p>
        </p:txBody>
      </p:sp>
      <p:sp>
        <p:nvSpPr>
          <p:cNvPr id="13" name="Text Placeholder 4">
            <a:extLst>
              <a:ext uri="{FF2B5EF4-FFF2-40B4-BE49-F238E27FC236}">
                <a16:creationId xmlns:a16="http://schemas.microsoft.com/office/drawing/2014/main" id="{FA7B7933-5E51-35F9-6125-0A33D0D99B25}"/>
              </a:ext>
            </a:extLst>
          </p:cNvPr>
          <p:cNvSpPr>
            <a:spLocks noGrp="1"/>
          </p:cNvSpPr>
          <p:nvPr>
            <p:ph type="body" sz="quarter" idx="18" hasCustomPrompt="1"/>
          </p:nvPr>
        </p:nvSpPr>
        <p:spPr>
          <a:xfrm>
            <a:off x="4351338" y="5064121"/>
            <a:ext cx="3486150" cy="712787"/>
          </a:xfrm>
        </p:spPr>
        <p:txBody>
          <a:bodyPr/>
          <a:lstStyle>
            <a:lvl1pPr algn="ctr">
              <a:spcAft>
                <a:spcPts val="600"/>
              </a:spcAft>
              <a:buNone/>
              <a:defRPr sz="1100"/>
            </a:lvl1pPr>
          </a:lstStyle>
          <a:p>
            <a:r>
              <a:rPr lang="en-US" dirty="0"/>
              <a:t>Job Title </a:t>
            </a:r>
          </a:p>
          <a:p>
            <a:r>
              <a:rPr lang="en-US" dirty="0"/>
              <a:t>Company</a:t>
            </a:r>
          </a:p>
        </p:txBody>
      </p:sp>
      <p:sp>
        <p:nvSpPr>
          <p:cNvPr id="17" name="Picture Placeholder 16">
            <a:extLst>
              <a:ext uri="{FF2B5EF4-FFF2-40B4-BE49-F238E27FC236}">
                <a16:creationId xmlns:a16="http://schemas.microsoft.com/office/drawing/2014/main" id="{D64572AC-2D77-A409-8214-877569675DDB}"/>
              </a:ext>
            </a:extLst>
          </p:cNvPr>
          <p:cNvSpPr>
            <a:spLocks noGrp="1"/>
          </p:cNvSpPr>
          <p:nvPr>
            <p:ph type="pic" sz="quarter" idx="19"/>
          </p:nvPr>
        </p:nvSpPr>
        <p:spPr>
          <a:xfrm>
            <a:off x="1095471" y="1997075"/>
            <a:ext cx="2435225" cy="2371725"/>
          </a:xfrm>
          <a:prstGeom prst="roundRect">
            <a:avLst>
              <a:gd name="adj" fmla="val 5474"/>
            </a:avLst>
          </a:prstGeom>
        </p:spPr>
        <p:txBody>
          <a:bodyPr/>
          <a:lstStyle/>
          <a:p>
            <a:endParaRPr lang="en-US"/>
          </a:p>
        </p:txBody>
      </p:sp>
      <p:sp>
        <p:nvSpPr>
          <p:cNvPr id="18" name="Picture Placeholder 16">
            <a:extLst>
              <a:ext uri="{FF2B5EF4-FFF2-40B4-BE49-F238E27FC236}">
                <a16:creationId xmlns:a16="http://schemas.microsoft.com/office/drawing/2014/main" id="{E346ADEB-4538-91A9-B4A0-56A5FEAD5351}"/>
              </a:ext>
            </a:extLst>
          </p:cNvPr>
          <p:cNvSpPr>
            <a:spLocks noGrp="1"/>
          </p:cNvSpPr>
          <p:nvPr>
            <p:ph type="pic" sz="quarter" idx="20"/>
          </p:nvPr>
        </p:nvSpPr>
        <p:spPr>
          <a:xfrm>
            <a:off x="4880890" y="1997075"/>
            <a:ext cx="2435225" cy="2371725"/>
          </a:xfrm>
          <a:prstGeom prst="roundRect">
            <a:avLst>
              <a:gd name="adj" fmla="val 5474"/>
            </a:avLst>
          </a:prstGeom>
        </p:spPr>
        <p:txBody>
          <a:bodyPr/>
          <a:lstStyle/>
          <a:p>
            <a:endParaRPr lang="en-US"/>
          </a:p>
        </p:txBody>
      </p:sp>
    </p:spTree>
    <p:extLst>
      <p:ext uri="{BB962C8B-B14F-4D97-AF65-F5344CB8AC3E}">
        <p14:creationId xmlns:p14="http://schemas.microsoft.com/office/powerpoint/2010/main" val="3034862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Splunk - 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2" name="Title 5">
            <a:extLst>
              <a:ext uri="{FF2B5EF4-FFF2-40B4-BE49-F238E27FC236}">
                <a16:creationId xmlns:a16="http://schemas.microsoft.com/office/drawing/2014/main" id="{ED550F9B-7608-E02A-538E-8BA8CA6C733C}"/>
              </a:ext>
            </a:extLst>
          </p:cNvPr>
          <p:cNvSpPr>
            <a:spLocks noGrp="1"/>
          </p:cNvSpPr>
          <p:nvPr>
            <p:ph type="title"/>
          </p:nvPr>
        </p:nvSpPr>
        <p:spPr>
          <a:xfrm>
            <a:off x="323850" y="298146"/>
            <a:ext cx="11544300" cy="492443"/>
          </a:xfrm>
        </p:spPr>
        <p:txBody>
          <a:bodyPr/>
          <a:lstStyle/>
          <a:p>
            <a:r>
              <a:rPr lang="en-US"/>
              <a:t>Click to edit Master title style</a:t>
            </a:r>
          </a:p>
        </p:txBody>
      </p:sp>
      <p:sp>
        <p:nvSpPr>
          <p:cNvPr id="7" name="Text Placeholder 4">
            <a:extLst>
              <a:ext uri="{FF2B5EF4-FFF2-40B4-BE49-F238E27FC236}">
                <a16:creationId xmlns:a16="http://schemas.microsoft.com/office/drawing/2014/main" id="{9295254C-FBCA-2AA8-981E-12D91F5F8973}"/>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8" name="TextBox 7">
            <a:extLst>
              <a:ext uri="{FF2B5EF4-FFF2-40B4-BE49-F238E27FC236}">
                <a16:creationId xmlns:a16="http://schemas.microsoft.com/office/drawing/2014/main" id="{D0A48D09-C5BE-1D78-A95E-11B4AE086B4A}"/>
              </a:ext>
            </a:extLst>
          </p:cNvPr>
          <p:cNvSpPr txBox="1"/>
          <p:nvPr userDrawn="1"/>
        </p:nvSpPr>
        <p:spPr>
          <a:xfrm>
            <a:off x="4218039" y="4414684"/>
            <a:ext cx="0" cy="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US" sz="1600" kern="1200" dirty="0" err="1">
              <a:solidFill>
                <a:schemeClr val="bg1"/>
              </a:solidFill>
              <a:latin typeface="+mn-lt"/>
              <a:ea typeface="ＭＳ Ｐゴシック" charset="0"/>
            </a:endParaRPr>
          </a:p>
        </p:txBody>
      </p:sp>
      <p:sp>
        <p:nvSpPr>
          <p:cNvPr id="9" name="Text Placeholder 1">
            <a:extLst>
              <a:ext uri="{FF2B5EF4-FFF2-40B4-BE49-F238E27FC236}">
                <a16:creationId xmlns:a16="http://schemas.microsoft.com/office/drawing/2014/main" id="{80BAB371-C746-1346-84D4-B04FB1C2AA9F}"/>
              </a:ext>
            </a:extLst>
          </p:cNvPr>
          <p:cNvSpPr>
            <a:spLocks noGrp="1"/>
          </p:cNvSpPr>
          <p:nvPr>
            <p:ph type="body" sz="quarter" idx="13" hasCustomPrompt="1"/>
          </p:nvPr>
        </p:nvSpPr>
        <p:spPr>
          <a:xfrm>
            <a:off x="570136" y="4591673"/>
            <a:ext cx="3485896" cy="389467"/>
          </a:xfrm>
        </p:spPr>
        <p:txBody>
          <a:bodyPr/>
          <a:lstStyle>
            <a:lvl1pPr algn="ctr">
              <a:buNone/>
              <a:defRPr sz="1800"/>
            </a:lvl1pPr>
          </a:lstStyle>
          <a:p>
            <a:r>
              <a:rPr lang="en-US" dirty="0"/>
              <a:t>First, Last Name</a:t>
            </a:r>
          </a:p>
        </p:txBody>
      </p:sp>
      <p:sp>
        <p:nvSpPr>
          <p:cNvPr id="10" name="Text Placeholder 2">
            <a:extLst>
              <a:ext uri="{FF2B5EF4-FFF2-40B4-BE49-F238E27FC236}">
                <a16:creationId xmlns:a16="http://schemas.microsoft.com/office/drawing/2014/main" id="{11ED3745-9702-C144-0864-2711F9D9151B}"/>
              </a:ext>
            </a:extLst>
          </p:cNvPr>
          <p:cNvSpPr>
            <a:spLocks noGrp="1"/>
          </p:cNvSpPr>
          <p:nvPr>
            <p:ph type="body" sz="quarter" idx="14" hasCustomPrompt="1"/>
          </p:nvPr>
        </p:nvSpPr>
        <p:spPr>
          <a:xfrm>
            <a:off x="570136" y="5063536"/>
            <a:ext cx="3485896" cy="713024"/>
          </a:xfrm>
        </p:spPr>
        <p:txBody>
          <a:bodyPr/>
          <a:lstStyle>
            <a:lvl1pPr algn="ctr">
              <a:spcAft>
                <a:spcPts val="600"/>
              </a:spcAft>
              <a:buNone/>
              <a:defRPr sz="1100"/>
            </a:lvl1pPr>
          </a:lstStyle>
          <a:p>
            <a:r>
              <a:rPr lang="en-US" dirty="0"/>
              <a:t>Job Title </a:t>
            </a:r>
          </a:p>
          <a:p>
            <a:r>
              <a:rPr lang="en-US" dirty="0"/>
              <a:t>Company</a:t>
            </a:r>
          </a:p>
        </p:txBody>
      </p:sp>
      <p:sp>
        <p:nvSpPr>
          <p:cNvPr id="12" name="Text Placeholder 3">
            <a:extLst>
              <a:ext uri="{FF2B5EF4-FFF2-40B4-BE49-F238E27FC236}">
                <a16:creationId xmlns:a16="http://schemas.microsoft.com/office/drawing/2014/main" id="{D6425DC0-DD30-D9D9-384A-23B0D57863AF}"/>
              </a:ext>
            </a:extLst>
          </p:cNvPr>
          <p:cNvSpPr>
            <a:spLocks noGrp="1"/>
          </p:cNvSpPr>
          <p:nvPr>
            <p:ph type="body" sz="quarter" idx="17" hasCustomPrompt="1"/>
          </p:nvPr>
        </p:nvSpPr>
        <p:spPr>
          <a:xfrm>
            <a:off x="4364038" y="4591050"/>
            <a:ext cx="3486150" cy="390525"/>
          </a:xfrm>
        </p:spPr>
        <p:txBody>
          <a:bodyPr/>
          <a:lstStyle>
            <a:lvl1pPr algn="ctr">
              <a:buNone/>
              <a:defRPr sz="1800"/>
            </a:lvl1pPr>
          </a:lstStyle>
          <a:p>
            <a:r>
              <a:rPr lang="en-US" dirty="0"/>
              <a:t>First, Last Name</a:t>
            </a:r>
          </a:p>
        </p:txBody>
      </p:sp>
      <p:sp>
        <p:nvSpPr>
          <p:cNvPr id="13" name="Text Placeholder 4">
            <a:extLst>
              <a:ext uri="{FF2B5EF4-FFF2-40B4-BE49-F238E27FC236}">
                <a16:creationId xmlns:a16="http://schemas.microsoft.com/office/drawing/2014/main" id="{FA7B7933-5E51-35F9-6125-0A33D0D99B25}"/>
              </a:ext>
            </a:extLst>
          </p:cNvPr>
          <p:cNvSpPr>
            <a:spLocks noGrp="1"/>
          </p:cNvSpPr>
          <p:nvPr>
            <p:ph type="body" sz="quarter" idx="18" hasCustomPrompt="1"/>
          </p:nvPr>
        </p:nvSpPr>
        <p:spPr>
          <a:xfrm>
            <a:off x="4351338" y="5064121"/>
            <a:ext cx="3486150" cy="712787"/>
          </a:xfrm>
        </p:spPr>
        <p:txBody>
          <a:bodyPr/>
          <a:lstStyle>
            <a:lvl1pPr algn="ctr">
              <a:spcAft>
                <a:spcPts val="600"/>
              </a:spcAft>
              <a:buNone/>
              <a:defRPr sz="1100"/>
            </a:lvl1pPr>
          </a:lstStyle>
          <a:p>
            <a:r>
              <a:rPr lang="en-US" dirty="0"/>
              <a:t>Job Title </a:t>
            </a:r>
          </a:p>
          <a:p>
            <a:r>
              <a:rPr lang="en-US" dirty="0"/>
              <a:t>Company</a:t>
            </a:r>
          </a:p>
        </p:txBody>
      </p:sp>
      <p:sp>
        <p:nvSpPr>
          <p:cNvPr id="17" name="Picture Placeholder 16">
            <a:extLst>
              <a:ext uri="{FF2B5EF4-FFF2-40B4-BE49-F238E27FC236}">
                <a16:creationId xmlns:a16="http://schemas.microsoft.com/office/drawing/2014/main" id="{D64572AC-2D77-A409-8214-877569675DDB}"/>
              </a:ext>
            </a:extLst>
          </p:cNvPr>
          <p:cNvSpPr>
            <a:spLocks noGrp="1"/>
          </p:cNvSpPr>
          <p:nvPr>
            <p:ph type="pic" sz="quarter" idx="19"/>
          </p:nvPr>
        </p:nvSpPr>
        <p:spPr>
          <a:xfrm>
            <a:off x="1095471" y="1997075"/>
            <a:ext cx="2435225" cy="2371725"/>
          </a:xfrm>
          <a:prstGeom prst="roundRect">
            <a:avLst>
              <a:gd name="adj" fmla="val 5474"/>
            </a:avLst>
          </a:prstGeom>
        </p:spPr>
        <p:txBody>
          <a:bodyPr/>
          <a:lstStyle/>
          <a:p>
            <a:endParaRPr lang="en-US"/>
          </a:p>
        </p:txBody>
      </p:sp>
      <p:sp>
        <p:nvSpPr>
          <p:cNvPr id="18" name="Picture Placeholder 16">
            <a:extLst>
              <a:ext uri="{FF2B5EF4-FFF2-40B4-BE49-F238E27FC236}">
                <a16:creationId xmlns:a16="http://schemas.microsoft.com/office/drawing/2014/main" id="{E346ADEB-4538-91A9-B4A0-56A5FEAD5351}"/>
              </a:ext>
            </a:extLst>
          </p:cNvPr>
          <p:cNvSpPr>
            <a:spLocks noGrp="1"/>
          </p:cNvSpPr>
          <p:nvPr>
            <p:ph type="pic" sz="quarter" idx="20"/>
          </p:nvPr>
        </p:nvSpPr>
        <p:spPr>
          <a:xfrm>
            <a:off x="4880890" y="1997075"/>
            <a:ext cx="2435225" cy="2371725"/>
          </a:xfrm>
          <a:prstGeom prst="roundRect">
            <a:avLst>
              <a:gd name="adj" fmla="val 5474"/>
            </a:avLst>
          </a:prstGeom>
        </p:spPr>
        <p:txBody>
          <a:bodyPr/>
          <a:lstStyle/>
          <a:p>
            <a:endParaRPr lang="en-US"/>
          </a:p>
        </p:txBody>
      </p:sp>
      <p:sp>
        <p:nvSpPr>
          <p:cNvPr id="5" name="Text Placeholder 3">
            <a:extLst>
              <a:ext uri="{FF2B5EF4-FFF2-40B4-BE49-F238E27FC236}">
                <a16:creationId xmlns:a16="http://schemas.microsoft.com/office/drawing/2014/main" id="{3E092305-95FD-3A50-0F57-4C246C9910B0}"/>
              </a:ext>
            </a:extLst>
          </p:cNvPr>
          <p:cNvSpPr>
            <a:spLocks noGrp="1"/>
          </p:cNvSpPr>
          <p:nvPr>
            <p:ph type="body" sz="quarter" idx="21" hasCustomPrompt="1"/>
          </p:nvPr>
        </p:nvSpPr>
        <p:spPr>
          <a:xfrm>
            <a:off x="8169122" y="4591050"/>
            <a:ext cx="3486150" cy="390525"/>
          </a:xfrm>
        </p:spPr>
        <p:txBody>
          <a:bodyPr/>
          <a:lstStyle>
            <a:lvl1pPr algn="ctr">
              <a:buNone/>
              <a:defRPr sz="1800"/>
            </a:lvl1pPr>
          </a:lstStyle>
          <a:p>
            <a:r>
              <a:rPr lang="en-US" dirty="0"/>
              <a:t>First, Last Name</a:t>
            </a:r>
          </a:p>
        </p:txBody>
      </p:sp>
      <p:sp>
        <p:nvSpPr>
          <p:cNvPr id="6" name="Text Placeholder 4">
            <a:extLst>
              <a:ext uri="{FF2B5EF4-FFF2-40B4-BE49-F238E27FC236}">
                <a16:creationId xmlns:a16="http://schemas.microsoft.com/office/drawing/2014/main" id="{7DE03894-2281-B12B-4226-07ABA68003C2}"/>
              </a:ext>
            </a:extLst>
          </p:cNvPr>
          <p:cNvSpPr>
            <a:spLocks noGrp="1"/>
          </p:cNvSpPr>
          <p:nvPr>
            <p:ph type="body" sz="quarter" idx="22" hasCustomPrompt="1"/>
          </p:nvPr>
        </p:nvSpPr>
        <p:spPr>
          <a:xfrm>
            <a:off x="8156422" y="5064121"/>
            <a:ext cx="3486150" cy="712787"/>
          </a:xfrm>
        </p:spPr>
        <p:txBody>
          <a:bodyPr/>
          <a:lstStyle>
            <a:lvl1pPr algn="ctr">
              <a:spcAft>
                <a:spcPts val="600"/>
              </a:spcAft>
              <a:buNone/>
              <a:defRPr sz="1100"/>
            </a:lvl1pPr>
          </a:lstStyle>
          <a:p>
            <a:r>
              <a:rPr lang="en-US" dirty="0"/>
              <a:t>Job Title </a:t>
            </a:r>
          </a:p>
          <a:p>
            <a:r>
              <a:rPr lang="en-US" dirty="0"/>
              <a:t>Company</a:t>
            </a:r>
          </a:p>
        </p:txBody>
      </p:sp>
      <p:sp>
        <p:nvSpPr>
          <p:cNvPr id="11" name="Picture Placeholder 16">
            <a:extLst>
              <a:ext uri="{FF2B5EF4-FFF2-40B4-BE49-F238E27FC236}">
                <a16:creationId xmlns:a16="http://schemas.microsoft.com/office/drawing/2014/main" id="{F2B9F0AD-45C3-B30A-5515-071060715B41}"/>
              </a:ext>
            </a:extLst>
          </p:cNvPr>
          <p:cNvSpPr>
            <a:spLocks noGrp="1"/>
          </p:cNvSpPr>
          <p:nvPr>
            <p:ph type="pic" sz="quarter" idx="23"/>
          </p:nvPr>
        </p:nvSpPr>
        <p:spPr>
          <a:xfrm>
            <a:off x="8685974" y="1997075"/>
            <a:ext cx="2435225" cy="2371725"/>
          </a:xfrm>
          <a:prstGeom prst="roundRect">
            <a:avLst>
              <a:gd name="adj" fmla="val 5474"/>
            </a:avLst>
          </a:prstGeom>
        </p:spPr>
        <p:txBody>
          <a:bodyPr/>
          <a:lstStyle/>
          <a:p>
            <a:endParaRPr lang="en-US"/>
          </a:p>
        </p:txBody>
      </p:sp>
    </p:spTree>
    <p:extLst>
      <p:ext uri="{BB962C8B-B14F-4D97-AF65-F5344CB8AC3E}">
        <p14:creationId xmlns:p14="http://schemas.microsoft.com/office/powerpoint/2010/main" val="3223086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_Splunk - 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2" name="Title 5">
            <a:extLst>
              <a:ext uri="{FF2B5EF4-FFF2-40B4-BE49-F238E27FC236}">
                <a16:creationId xmlns:a16="http://schemas.microsoft.com/office/drawing/2014/main" id="{ED550F9B-7608-E02A-538E-8BA8CA6C733C}"/>
              </a:ext>
            </a:extLst>
          </p:cNvPr>
          <p:cNvSpPr>
            <a:spLocks noGrp="1"/>
          </p:cNvSpPr>
          <p:nvPr>
            <p:ph type="title"/>
          </p:nvPr>
        </p:nvSpPr>
        <p:spPr>
          <a:xfrm>
            <a:off x="323850" y="298146"/>
            <a:ext cx="11544300" cy="492443"/>
          </a:xfrm>
        </p:spPr>
        <p:txBody>
          <a:bodyPr/>
          <a:lstStyle/>
          <a:p>
            <a:r>
              <a:rPr lang="en-US"/>
              <a:t>Click to edit Master title style</a:t>
            </a:r>
          </a:p>
        </p:txBody>
      </p:sp>
      <p:sp>
        <p:nvSpPr>
          <p:cNvPr id="7" name="Text Placeholder 4">
            <a:extLst>
              <a:ext uri="{FF2B5EF4-FFF2-40B4-BE49-F238E27FC236}">
                <a16:creationId xmlns:a16="http://schemas.microsoft.com/office/drawing/2014/main" id="{9295254C-FBCA-2AA8-981E-12D91F5F8973}"/>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8" name="TextBox 7">
            <a:extLst>
              <a:ext uri="{FF2B5EF4-FFF2-40B4-BE49-F238E27FC236}">
                <a16:creationId xmlns:a16="http://schemas.microsoft.com/office/drawing/2014/main" id="{D0A48D09-C5BE-1D78-A95E-11B4AE086B4A}"/>
              </a:ext>
            </a:extLst>
          </p:cNvPr>
          <p:cNvSpPr txBox="1"/>
          <p:nvPr userDrawn="1"/>
        </p:nvSpPr>
        <p:spPr>
          <a:xfrm>
            <a:off x="4080388" y="4414684"/>
            <a:ext cx="0" cy="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US" sz="1600" kern="1200" dirty="0" err="1">
              <a:solidFill>
                <a:schemeClr val="bg1"/>
              </a:solidFill>
              <a:latin typeface="+mn-lt"/>
              <a:ea typeface="ＭＳ Ｐゴシック" charset="0"/>
            </a:endParaRPr>
          </a:p>
        </p:txBody>
      </p:sp>
      <p:sp>
        <p:nvSpPr>
          <p:cNvPr id="9" name="Text Placeholder 1">
            <a:extLst>
              <a:ext uri="{FF2B5EF4-FFF2-40B4-BE49-F238E27FC236}">
                <a16:creationId xmlns:a16="http://schemas.microsoft.com/office/drawing/2014/main" id="{80BAB371-C746-1346-84D4-B04FB1C2AA9F}"/>
              </a:ext>
            </a:extLst>
          </p:cNvPr>
          <p:cNvSpPr>
            <a:spLocks noGrp="1"/>
          </p:cNvSpPr>
          <p:nvPr>
            <p:ph type="body" sz="quarter" idx="13" hasCustomPrompt="1"/>
          </p:nvPr>
        </p:nvSpPr>
        <p:spPr>
          <a:xfrm>
            <a:off x="432485" y="4352389"/>
            <a:ext cx="2576187" cy="389467"/>
          </a:xfrm>
        </p:spPr>
        <p:txBody>
          <a:bodyPr/>
          <a:lstStyle>
            <a:lvl1pPr algn="ctr">
              <a:buNone/>
              <a:defRPr sz="1600"/>
            </a:lvl1pPr>
          </a:lstStyle>
          <a:p>
            <a:r>
              <a:rPr lang="en-US" dirty="0"/>
              <a:t>First, Last Name</a:t>
            </a:r>
          </a:p>
        </p:txBody>
      </p:sp>
      <p:sp>
        <p:nvSpPr>
          <p:cNvPr id="10" name="Text Placeholder 2">
            <a:extLst>
              <a:ext uri="{FF2B5EF4-FFF2-40B4-BE49-F238E27FC236}">
                <a16:creationId xmlns:a16="http://schemas.microsoft.com/office/drawing/2014/main" id="{11ED3745-9702-C144-0864-2711F9D9151B}"/>
              </a:ext>
            </a:extLst>
          </p:cNvPr>
          <p:cNvSpPr>
            <a:spLocks noGrp="1"/>
          </p:cNvSpPr>
          <p:nvPr>
            <p:ph type="body" sz="quarter" idx="14" hasCustomPrompt="1"/>
          </p:nvPr>
        </p:nvSpPr>
        <p:spPr>
          <a:xfrm>
            <a:off x="432485" y="4824252"/>
            <a:ext cx="2576187" cy="713024"/>
          </a:xfrm>
        </p:spPr>
        <p:txBody>
          <a:bodyPr/>
          <a:lstStyle>
            <a:lvl1pPr algn="ctr">
              <a:spcAft>
                <a:spcPts val="600"/>
              </a:spcAft>
              <a:buNone/>
              <a:defRPr sz="1100"/>
            </a:lvl1pPr>
          </a:lstStyle>
          <a:p>
            <a:r>
              <a:rPr lang="en-US" dirty="0"/>
              <a:t>Job Title </a:t>
            </a:r>
          </a:p>
          <a:p>
            <a:r>
              <a:rPr lang="en-US" dirty="0"/>
              <a:t>Company</a:t>
            </a:r>
          </a:p>
        </p:txBody>
      </p:sp>
      <p:sp>
        <p:nvSpPr>
          <p:cNvPr id="17" name="Picture Placeholder 16">
            <a:extLst>
              <a:ext uri="{FF2B5EF4-FFF2-40B4-BE49-F238E27FC236}">
                <a16:creationId xmlns:a16="http://schemas.microsoft.com/office/drawing/2014/main" id="{D64572AC-2D77-A409-8214-877569675DDB}"/>
              </a:ext>
            </a:extLst>
          </p:cNvPr>
          <p:cNvSpPr>
            <a:spLocks noGrp="1" noChangeAspect="1"/>
          </p:cNvSpPr>
          <p:nvPr>
            <p:ph type="pic" sz="quarter" idx="19"/>
          </p:nvPr>
        </p:nvSpPr>
        <p:spPr>
          <a:xfrm>
            <a:off x="687306" y="2031771"/>
            <a:ext cx="2066543" cy="2012657"/>
          </a:xfrm>
          <a:prstGeom prst="roundRect">
            <a:avLst>
              <a:gd name="adj" fmla="val 5474"/>
            </a:avLst>
          </a:prstGeom>
        </p:spPr>
        <p:txBody>
          <a:bodyPr/>
          <a:lstStyle/>
          <a:p>
            <a:endParaRPr lang="en-US"/>
          </a:p>
        </p:txBody>
      </p:sp>
      <p:sp>
        <p:nvSpPr>
          <p:cNvPr id="14" name="Text Placeholder 1">
            <a:extLst>
              <a:ext uri="{FF2B5EF4-FFF2-40B4-BE49-F238E27FC236}">
                <a16:creationId xmlns:a16="http://schemas.microsoft.com/office/drawing/2014/main" id="{FE1F46AD-5BBD-7DC9-DF07-216F7BC3A306}"/>
              </a:ext>
            </a:extLst>
          </p:cNvPr>
          <p:cNvSpPr>
            <a:spLocks noGrp="1"/>
          </p:cNvSpPr>
          <p:nvPr>
            <p:ph type="body" sz="quarter" idx="20" hasCustomPrompt="1"/>
          </p:nvPr>
        </p:nvSpPr>
        <p:spPr>
          <a:xfrm>
            <a:off x="3352666" y="4352389"/>
            <a:ext cx="2576187" cy="389467"/>
          </a:xfrm>
        </p:spPr>
        <p:txBody>
          <a:bodyPr/>
          <a:lstStyle>
            <a:lvl1pPr algn="ctr">
              <a:buNone/>
              <a:defRPr sz="1600"/>
            </a:lvl1pPr>
          </a:lstStyle>
          <a:p>
            <a:r>
              <a:rPr lang="en-US" dirty="0"/>
              <a:t>First, Last Name</a:t>
            </a:r>
          </a:p>
        </p:txBody>
      </p:sp>
      <p:sp>
        <p:nvSpPr>
          <p:cNvPr id="15" name="Text Placeholder 2">
            <a:extLst>
              <a:ext uri="{FF2B5EF4-FFF2-40B4-BE49-F238E27FC236}">
                <a16:creationId xmlns:a16="http://schemas.microsoft.com/office/drawing/2014/main" id="{A1DAAD0E-6AED-CCA8-307C-F94AA8A239A1}"/>
              </a:ext>
            </a:extLst>
          </p:cNvPr>
          <p:cNvSpPr>
            <a:spLocks noGrp="1"/>
          </p:cNvSpPr>
          <p:nvPr>
            <p:ph type="body" sz="quarter" idx="21" hasCustomPrompt="1"/>
          </p:nvPr>
        </p:nvSpPr>
        <p:spPr>
          <a:xfrm>
            <a:off x="3352666" y="4824252"/>
            <a:ext cx="2576187" cy="713024"/>
          </a:xfrm>
        </p:spPr>
        <p:txBody>
          <a:bodyPr/>
          <a:lstStyle>
            <a:lvl1pPr algn="ctr">
              <a:spcAft>
                <a:spcPts val="600"/>
              </a:spcAft>
              <a:buNone/>
              <a:defRPr sz="1100"/>
            </a:lvl1pPr>
          </a:lstStyle>
          <a:p>
            <a:r>
              <a:rPr lang="en-US" dirty="0"/>
              <a:t>Job Title </a:t>
            </a:r>
          </a:p>
          <a:p>
            <a:r>
              <a:rPr lang="en-US" dirty="0"/>
              <a:t>Company</a:t>
            </a:r>
          </a:p>
        </p:txBody>
      </p:sp>
      <p:sp>
        <p:nvSpPr>
          <p:cNvPr id="16" name="Picture Placeholder 16">
            <a:extLst>
              <a:ext uri="{FF2B5EF4-FFF2-40B4-BE49-F238E27FC236}">
                <a16:creationId xmlns:a16="http://schemas.microsoft.com/office/drawing/2014/main" id="{BA3D9D5B-117F-0FFF-1C98-734B2B7D8248}"/>
              </a:ext>
            </a:extLst>
          </p:cNvPr>
          <p:cNvSpPr>
            <a:spLocks noGrp="1" noChangeAspect="1"/>
          </p:cNvSpPr>
          <p:nvPr>
            <p:ph type="pic" sz="quarter" idx="22"/>
          </p:nvPr>
        </p:nvSpPr>
        <p:spPr>
          <a:xfrm>
            <a:off x="3607487" y="2031771"/>
            <a:ext cx="2066543" cy="2012657"/>
          </a:xfrm>
          <a:prstGeom prst="roundRect">
            <a:avLst>
              <a:gd name="adj" fmla="val 5474"/>
            </a:avLst>
          </a:prstGeom>
        </p:spPr>
        <p:txBody>
          <a:bodyPr/>
          <a:lstStyle/>
          <a:p>
            <a:endParaRPr lang="en-US"/>
          </a:p>
        </p:txBody>
      </p:sp>
      <p:sp>
        <p:nvSpPr>
          <p:cNvPr id="19" name="Text Placeholder 1">
            <a:extLst>
              <a:ext uri="{FF2B5EF4-FFF2-40B4-BE49-F238E27FC236}">
                <a16:creationId xmlns:a16="http://schemas.microsoft.com/office/drawing/2014/main" id="{AC2D8529-3E99-19AD-8343-5CFF58213A72}"/>
              </a:ext>
            </a:extLst>
          </p:cNvPr>
          <p:cNvSpPr>
            <a:spLocks noGrp="1"/>
          </p:cNvSpPr>
          <p:nvPr>
            <p:ph type="body" sz="quarter" idx="23" hasCustomPrompt="1"/>
          </p:nvPr>
        </p:nvSpPr>
        <p:spPr>
          <a:xfrm>
            <a:off x="6272847" y="4352389"/>
            <a:ext cx="2576187" cy="389467"/>
          </a:xfrm>
        </p:spPr>
        <p:txBody>
          <a:bodyPr/>
          <a:lstStyle>
            <a:lvl1pPr algn="ctr">
              <a:buNone/>
              <a:defRPr sz="1600"/>
            </a:lvl1pPr>
          </a:lstStyle>
          <a:p>
            <a:r>
              <a:rPr lang="en-US" dirty="0"/>
              <a:t>First, Last Name</a:t>
            </a:r>
          </a:p>
        </p:txBody>
      </p:sp>
      <p:sp>
        <p:nvSpPr>
          <p:cNvPr id="20" name="Text Placeholder 2">
            <a:extLst>
              <a:ext uri="{FF2B5EF4-FFF2-40B4-BE49-F238E27FC236}">
                <a16:creationId xmlns:a16="http://schemas.microsoft.com/office/drawing/2014/main" id="{C6142541-E010-1B38-730E-9BBF4B109999}"/>
              </a:ext>
            </a:extLst>
          </p:cNvPr>
          <p:cNvSpPr>
            <a:spLocks noGrp="1"/>
          </p:cNvSpPr>
          <p:nvPr>
            <p:ph type="body" sz="quarter" idx="24" hasCustomPrompt="1"/>
          </p:nvPr>
        </p:nvSpPr>
        <p:spPr>
          <a:xfrm>
            <a:off x="6272847" y="4824252"/>
            <a:ext cx="2576187" cy="713024"/>
          </a:xfrm>
        </p:spPr>
        <p:txBody>
          <a:bodyPr/>
          <a:lstStyle>
            <a:lvl1pPr algn="ctr">
              <a:spcAft>
                <a:spcPts val="600"/>
              </a:spcAft>
              <a:buNone/>
              <a:defRPr sz="1100"/>
            </a:lvl1pPr>
          </a:lstStyle>
          <a:p>
            <a:r>
              <a:rPr lang="en-US" dirty="0"/>
              <a:t>Job Title </a:t>
            </a:r>
          </a:p>
          <a:p>
            <a:r>
              <a:rPr lang="en-US" dirty="0"/>
              <a:t>Company</a:t>
            </a:r>
          </a:p>
        </p:txBody>
      </p:sp>
      <p:sp>
        <p:nvSpPr>
          <p:cNvPr id="21" name="Picture Placeholder 16">
            <a:extLst>
              <a:ext uri="{FF2B5EF4-FFF2-40B4-BE49-F238E27FC236}">
                <a16:creationId xmlns:a16="http://schemas.microsoft.com/office/drawing/2014/main" id="{6F57ECAD-EE3E-D3A3-FE82-A24BEC29011D}"/>
              </a:ext>
            </a:extLst>
          </p:cNvPr>
          <p:cNvSpPr>
            <a:spLocks noGrp="1" noChangeAspect="1"/>
          </p:cNvSpPr>
          <p:nvPr>
            <p:ph type="pic" sz="quarter" idx="25"/>
          </p:nvPr>
        </p:nvSpPr>
        <p:spPr>
          <a:xfrm>
            <a:off x="6527668" y="2031771"/>
            <a:ext cx="2066543" cy="2012657"/>
          </a:xfrm>
          <a:prstGeom prst="roundRect">
            <a:avLst>
              <a:gd name="adj" fmla="val 5474"/>
            </a:avLst>
          </a:prstGeom>
        </p:spPr>
        <p:txBody>
          <a:bodyPr/>
          <a:lstStyle/>
          <a:p>
            <a:endParaRPr lang="en-US"/>
          </a:p>
        </p:txBody>
      </p:sp>
      <p:sp>
        <p:nvSpPr>
          <p:cNvPr id="22" name="Text Placeholder 1">
            <a:extLst>
              <a:ext uri="{FF2B5EF4-FFF2-40B4-BE49-F238E27FC236}">
                <a16:creationId xmlns:a16="http://schemas.microsoft.com/office/drawing/2014/main" id="{75660CCE-2531-B031-217C-F7DAEF2426AA}"/>
              </a:ext>
            </a:extLst>
          </p:cNvPr>
          <p:cNvSpPr>
            <a:spLocks noGrp="1"/>
          </p:cNvSpPr>
          <p:nvPr>
            <p:ph type="body" sz="quarter" idx="26" hasCustomPrompt="1"/>
          </p:nvPr>
        </p:nvSpPr>
        <p:spPr>
          <a:xfrm>
            <a:off x="9193028" y="4352389"/>
            <a:ext cx="2576187" cy="389467"/>
          </a:xfrm>
        </p:spPr>
        <p:txBody>
          <a:bodyPr/>
          <a:lstStyle>
            <a:lvl1pPr algn="ctr">
              <a:buNone/>
              <a:defRPr sz="1600"/>
            </a:lvl1pPr>
          </a:lstStyle>
          <a:p>
            <a:r>
              <a:rPr lang="en-US" dirty="0"/>
              <a:t>First, Last Name</a:t>
            </a:r>
          </a:p>
        </p:txBody>
      </p:sp>
      <p:sp>
        <p:nvSpPr>
          <p:cNvPr id="23" name="Text Placeholder 2">
            <a:extLst>
              <a:ext uri="{FF2B5EF4-FFF2-40B4-BE49-F238E27FC236}">
                <a16:creationId xmlns:a16="http://schemas.microsoft.com/office/drawing/2014/main" id="{F92136B9-F2B8-503C-7BEA-2DFC31DD1857}"/>
              </a:ext>
            </a:extLst>
          </p:cNvPr>
          <p:cNvSpPr>
            <a:spLocks noGrp="1"/>
          </p:cNvSpPr>
          <p:nvPr>
            <p:ph type="body" sz="quarter" idx="27" hasCustomPrompt="1"/>
          </p:nvPr>
        </p:nvSpPr>
        <p:spPr>
          <a:xfrm>
            <a:off x="9193028" y="4824252"/>
            <a:ext cx="2576187" cy="713024"/>
          </a:xfrm>
        </p:spPr>
        <p:txBody>
          <a:bodyPr/>
          <a:lstStyle>
            <a:lvl1pPr algn="ctr">
              <a:spcAft>
                <a:spcPts val="600"/>
              </a:spcAft>
              <a:buNone/>
              <a:defRPr sz="1100"/>
            </a:lvl1pPr>
          </a:lstStyle>
          <a:p>
            <a:r>
              <a:rPr lang="en-US" dirty="0"/>
              <a:t>Job Title </a:t>
            </a:r>
          </a:p>
          <a:p>
            <a:r>
              <a:rPr lang="en-US" dirty="0"/>
              <a:t>Company</a:t>
            </a:r>
          </a:p>
        </p:txBody>
      </p:sp>
      <p:sp>
        <p:nvSpPr>
          <p:cNvPr id="24" name="Picture Placeholder 16">
            <a:extLst>
              <a:ext uri="{FF2B5EF4-FFF2-40B4-BE49-F238E27FC236}">
                <a16:creationId xmlns:a16="http://schemas.microsoft.com/office/drawing/2014/main" id="{75354921-F51D-52D0-5759-AD8362782FDE}"/>
              </a:ext>
            </a:extLst>
          </p:cNvPr>
          <p:cNvSpPr>
            <a:spLocks noGrp="1" noChangeAspect="1"/>
          </p:cNvSpPr>
          <p:nvPr>
            <p:ph type="pic" sz="quarter" idx="28"/>
          </p:nvPr>
        </p:nvSpPr>
        <p:spPr>
          <a:xfrm>
            <a:off x="9447849" y="2031771"/>
            <a:ext cx="2066543" cy="2012657"/>
          </a:xfrm>
          <a:prstGeom prst="roundRect">
            <a:avLst>
              <a:gd name="adj" fmla="val 5474"/>
            </a:avLst>
          </a:prstGeom>
        </p:spPr>
        <p:txBody>
          <a:bodyPr/>
          <a:lstStyle/>
          <a:p>
            <a:endParaRPr lang="en-US"/>
          </a:p>
        </p:txBody>
      </p:sp>
    </p:spTree>
    <p:extLst>
      <p:ext uri="{BB962C8B-B14F-4D97-AF65-F5344CB8AC3E}">
        <p14:creationId xmlns:p14="http://schemas.microsoft.com/office/powerpoint/2010/main" val="3808955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C50E13-06E5-F6BB-7667-EE8E9893D04E}"/>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2" name="Footer Placeholder 1">
            <a:extLst>
              <a:ext uri="{FF2B5EF4-FFF2-40B4-BE49-F238E27FC236}">
                <a16:creationId xmlns:a16="http://schemas.microsoft.com/office/drawing/2014/main" id="{8005315C-F3C4-4817-6DB5-825E9E8E9690}"/>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522757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ubtitle, Chart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9" name="Chart Placeholder 8">
            <a:extLst>
              <a:ext uri="{FF2B5EF4-FFF2-40B4-BE49-F238E27FC236}">
                <a16:creationId xmlns:a16="http://schemas.microsoft.com/office/drawing/2014/main" id="{BD67761C-12AC-06B4-1032-66C47B765FE0}"/>
              </a:ext>
            </a:extLst>
          </p:cNvPr>
          <p:cNvSpPr>
            <a:spLocks noGrp="1"/>
          </p:cNvSpPr>
          <p:nvPr>
            <p:ph type="chart" sz="quarter" idx="13" hasCustomPrompt="1"/>
          </p:nvPr>
        </p:nvSpPr>
        <p:spPr>
          <a:xfrm>
            <a:off x="722313" y="1555750"/>
            <a:ext cx="10747375" cy="4519613"/>
          </a:xfrm>
        </p:spPr>
        <p:txBody>
          <a:bodyPr tIns="914400"/>
          <a:lstStyle>
            <a:lvl1pPr marL="0" indent="0" algn="ctr">
              <a:buNone/>
              <a:defRPr/>
            </a:lvl1pPr>
          </a:lstStyle>
          <a:p>
            <a:r>
              <a:rPr lang="en-US" dirty="0"/>
              <a:t>Click on icon below to add a chart</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907430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Subtitle, Table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7" name="Table Placeholder 6">
            <a:extLst>
              <a:ext uri="{FF2B5EF4-FFF2-40B4-BE49-F238E27FC236}">
                <a16:creationId xmlns:a16="http://schemas.microsoft.com/office/drawing/2014/main" id="{B0E688F9-03DF-D354-A8AF-EF5349F39C6B}"/>
              </a:ext>
            </a:extLst>
          </p:cNvPr>
          <p:cNvSpPr>
            <a:spLocks noGrp="1"/>
          </p:cNvSpPr>
          <p:nvPr>
            <p:ph type="tbl" sz="quarter" idx="13" hasCustomPrompt="1"/>
          </p:nvPr>
        </p:nvSpPr>
        <p:spPr>
          <a:xfrm>
            <a:off x="323850" y="1555750"/>
            <a:ext cx="11544300" cy="4519613"/>
          </a:xfrm>
        </p:spPr>
        <p:txBody>
          <a:bodyPr tIns="914400"/>
          <a:lstStyle>
            <a:lvl1pPr marL="0" indent="0" algn="ctr">
              <a:buNone/>
              <a:defRPr/>
            </a:lvl1pPr>
          </a:lstStyle>
          <a:p>
            <a:r>
              <a:rPr lang="en-US" dirty="0"/>
              <a:t>Click on icon below to add a table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828213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2 Slide Title, Char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6" name="Chart Placeholder 5">
            <a:extLst>
              <a:ext uri="{FF2B5EF4-FFF2-40B4-BE49-F238E27FC236}">
                <a16:creationId xmlns:a16="http://schemas.microsoft.com/office/drawing/2014/main" id="{89EC94CF-F758-4A7C-3B39-A1EFC1EA815A}"/>
              </a:ext>
            </a:extLst>
          </p:cNvPr>
          <p:cNvSpPr>
            <a:spLocks noGrp="1"/>
          </p:cNvSpPr>
          <p:nvPr>
            <p:ph type="chart" sz="quarter" idx="12" hasCustomPrompt="1"/>
          </p:nvPr>
        </p:nvSpPr>
        <p:spPr>
          <a:xfrm>
            <a:off x="6581775" y="952500"/>
            <a:ext cx="4887913" cy="4968875"/>
          </a:xfrm>
        </p:spPr>
        <p:txBody>
          <a:bodyPr tIns="914400"/>
          <a:lstStyle>
            <a:lvl1pPr marL="0" indent="0" algn="ctr">
              <a:buNone/>
              <a:defRPr/>
            </a:lvl1pPr>
          </a:lstStyle>
          <a:p>
            <a:r>
              <a:rPr lang="en-US" dirty="0"/>
              <a:t>Click icon below to add chart</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32796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plunk - Statement 1, 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E0C9451-8976-3C96-3C4E-F9624BB318AB}"/>
              </a:ext>
            </a:extLst>
          </p:cNvPr>
          <p:cNvSpPr>
            <a:spLocks noGrp="1"/>
          </p:cNvSpPr>
          <p:nvPr>
            <p:ph type="title"/>
          </p:nvPr>
        </p:nvSpPr>
        <p:spPr>
          <a:xfrm>
            <a:off x="2278063" y="952500"/>
            <a:ext cx="7634288" cy="2476500"/>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Lst>
          </p:cNvPr>
          <p:cNvSpPr>
            <a:spLocks noGrp="1"/>
          </p:cNvSpPr>
          <p:nvPr>
            <p:ph type="body" sz="quarter" idx="11"/>
          </p:nvPr>
        </p:nvSpPr>
        <p:spPr>
          <a:xfrm>
            <a:off x="2278063" y="3738563"/>
            <a:ext cx="7634287" cy="936625"/>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663146B2-9533-23DF-7DA9-0EBFD969778A}"/>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8FD4EDA1-89C5-8341-7EDE-FCCAAA0607CB}"/>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635305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hoto Statement 1, Title, Subtitle">
    <p:bg>
      <p:bgPr>
        <a:gradFill>
          <a:gsLst>
            <a:gs pos="16000">
              <a:schemeClr val="bg1"/>
            </a:gs>
            <a:gs pos="43000">
              <a:srgbClr val="F7F9FC"/>
            </a:gs>
            <a:gs pos="74000">
              <a:schemeClr val="bg2"/>
            </a:gs>
            <a:gs pos="100000">
              <a:schemeClr val="accent5"/>
            </a:gs>
          </a:gsLst>
          <a:lin ang="4800000" scaled="0"/>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BE3366F-F43E-6996-B128-0A001300FD22}"/>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a:noFill/>
        </p:spPr>
        <p:txBody>
          <a:bodyPr tIns="274320"/>
          <a:lstStyle>
            <a:lvl1pPr marL="0" indent="0" algn="ctr">
              <a:buNone/>
              <a:defRPr/>
            </a:lvl1pPr>
          </a:lstStyle>
          <a:p>
            <a:r>
              <a:rPr lang="en-US" dirty="0"/>
              <a:t>Image placeholder</a:t>
            </a:r>
          </a:p>
        </p:txBody>
      </p:sp>
      <p:sp>
        <p:nvSpPr>
          <p:cNvPr id="6" name="Title 5">
            <a:extLst>
              <a:ext uri="{FF2B5EF4-FFF2-40B4-BE49-F238E27FC236}">
                <a16:creationId xmlns:a16="http://schemas.microsoft.com/office/drawing/2014/main" id="{576B6A35-8740-9D1E-A189-71BC5C742FCC}"/>
              </a:ext>
            </a:extLst>
          </p:cNvPr>
          <p:cNvSpPr>
            <a:spLocks noGrp="1"/>
          </p:cNvSpPr>
          <p:nvPr>
            <p:ph type="title"/>
          </p:nvPr>
        </p:nvSpPr>
        <p:spPr>
          <a:xfrm>
            <a:off x="2278063" y="952500"/>
            <a:ext cx="7634288" cy="1537465"/>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 uri="{C183D7F6-B498-43B3-948B-1728B52AA6E4}">
                <adec:decorative xmlns:adec="http://schemas.microsoft.com/office/drawing/2017/decorative" val="0"/>
              </a:ext>
            </a:extLst>
          </p:cNvPr>
          <p:cNvSpPr>
            <a:spLocks noGrp="1"/>
          </p:cNvSpPr>
          <p:nvPr>
            <p:ph type="body" sz="quarter" idx="11"/>
          </p:nvPr>
        </p:nvSpPr>
        <p:spPr>
          <a:xfrm>
            <a:off x="2278063" y="2492374"/>
            <a:ext cx="7634287" cy="311152"/>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5D703969-9100-4398-1394-9B9B34222C6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D6CFB270-12CC-4B92-85FD-B7710644F26B}"/>
              </a:ext>
              <a:ext uri="{C183D7F6-B498-43B3-948B-1728B52AA6E4}">
                <adec:decorative xmlns:adec="http://schemas.microsoft.com/office/drawing/2017/decorative" val="0"/>
              </a:ext>
            </a:extLst>
          </p:cNvPr>
          <p:cNvSpPr>
            <a:spLocks noGrp="1"/>
          </p:cNvSpPr>
          <p:nvPr>
            <p:ph type="sldNum" sz="quarter" idx="12"/>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050403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1_Splunk -Segu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F17AB4-9E08-0A74-D302-44EB1D55BE7A}"/>
              </a:ext>
            </a:extLst>
          </p:cNvPr>
          <p:cNvSpPr>
            <a:spLocks noGrp="1"/>
          </p:cNvSpPr>
          <p:nvPr>
            <p:ph type="title"/>
          </p:nvPr>
        </p:nvSpPr>
        <p:spPr>
          <a:xfrm>
            <a:off x="323850" y="2492375"/>
            <a:ext cx="7634288" cy="1868488"/>
          </a:xfrm>
        </p:spPr>
        <p:txBody>
          <a:bodyPr wrap="square" anchor="ctr" anchorCtr="0">
            <a:noAutofit/>
          </a:bodyPr>
          <a:lstStyle>
            <a:lvl1pPr>
              <a:defRPr sz="4000"/>
            </a:lvl1pPr>
          </a:lstStyle>
          <a:p>
            <a:r>
              <a:rPr lang="en-US" dirty="0"/>
              <a:t>Click to edit Master title style</a:t>
            </a:r>
          </a:p>
        </p:txBody>
      </p:sp>
    </p:spTree>
    <p:extLst>
      <p:ext uri="{BB962C8B-B14F-4D97-AF65-F5344CB8AC3E}">
        <p14:creationId xmlns:p14="http://schemas.microsoft.com/office/powerpoint/2010/main" val="1493906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Splunk -Segu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FD9834A-45D9-99BF-C75A-0668191F9F21}"/>
              </a:ext>
            </a:extLst>
          </p:cNvPr>
          <p:cNvSpPr>
            <a:spLocks noGrp="1"/>
          </p:cNvSpPr>
          <p:nvPr>
            <p:ph type="body" sz="quarter" idx="10" hasCustomPrompt="1"/>
          </p:nvPr>
        </p:nvSpPr>
        <p:spPr>
          <a:xfrm>
            <a:off x="376238" y="1856300"/>
            <a:ext cx="7037285" cy="1572700"/>
          </a:xfrm>
        </p:spPr>
        <p:txBody>
          <a:bodyPr anchor="b"/>
          <a:lstStyle>
            <a:lvl1pPr marL="0" indent="0" algn="l">
              <a:buNone/>
              <a:defRPr sz="4400">
                <a:latin typeface="+mj-lt"/>
              </a:defRPr>
            </a:lvl1pPr>
          </a:lstStyle>
          <a:p>
            <a:pPr lvl="0"/>
            <a:r>
              <a:rPr lang="en-US" dirty="0"/>
              <a:t>Click to edit Master title layout</a:t>
            </a:r>
          </a:p>
        </p:txBody>
      </p:sp>
      <p:sp>
        <p:nvSpPr>
          <p:cNvPr id="8" name="Text Placeholder 6">
            <a:extLst>
              <a:ext uri="{FF2B5EF4-FFF2-40B4-BE49-F238E27FC236}">
                <a16:creationId xmlns:a16="http://schemas.microsoft.com/office/drawing/2014/main" id="{8178EDCA-C55C-A5BE-BC3E-7BB45DBD4B2C}"/>
              </a:ext>
            </a:extLst>
          </p:cNvPr>
          <p:cNvSpPr>
            <a:spLocks noGrp="1"/>
          </p:cNvSpPr>
          <p:nvPr>
            <p:ph type="body" sz="quarter" idx="11" hasCustomPrompt="1"/>
          </p:nvPr>
        </p:nvSpPr>
        <p:spPr>
          <a:xfrm>
            <a:off x="376238" y="3913701"/>
            <a:ext cx="7037285" cy="365125"/>
          </a:xfrm>
        </p:spPr>
        <p:txBody>
          <a:bodyPr/>
          <a:lstStyle>
            <a:lvl1pPr marL="0" indent="0">
              <a:buNone/>
              <a:defRPr sz="2000" b="0" i="0">
                <a:latin typeface="Inter Light" panose="02000403000000020004" pitchFamily="2" charset="0"/>
                <a:ea typeface="Inter Light" panose="02000403000000020004" pitchFamily="2" charset="0"/>
                <a:cs typeface="Inter Light" panose="02000403000000020004" pitchFamily="2" charset="0"/>
              </a:defRPr>
            </a:lvl1pPr>
          </a:lstStyle>
          <a:p>
            <a:pPr lvl="0"/>
            <a:r>
              <a:rPr lang="en-US" dirty="0"/>
              <a:t>Optional subtitle</a:t>
            </a:r>
          </a:p>
        </p:txBody>
      </p:sp>
      <p:sp>
        <p:nvSpPr>
          <p:cNvPr id="9" name="Text Placeholder 6">
            <a:extLst>
              <a:ext uri="{FF2B5EF4-FFF2-40B4-BE49-F238E27FC236}">
                <a16:creationId xmlns:a16="http://schemas.microsoft.com/office/drawing/2014/main" id="{E870C557-009B-B8AA-6073-183379799CA0}"/>
              </a:ext>
            </a:extLst>
          </p:cNvPr>
          <p:cNvSpPr>
            <a:spLocks noGrp="1"/>
          </p:cNvSpPr>
          <p:nvPr>
            <p:ph type="body" sz="quarter" idx="12" hasCustomPrompt="1"/>
          </p:nvPr>
        </p:nvSpPr>
        <p:spPr>
          <a:xfrm>
            <a:off x="376238" y="4499508"/>
            <a:ext cx="7037285" cy="365125"/>
          </a:xfrm>
        </p:spPr>
        <p:txBody>
          <a:bodyPr/>
          <a:lstStyle>
            <a:lvl1pPr marL="0" indent="0">
              <a:buNone/>
              <a:defRPr sz="1600" b="0" i="0">
                <a:latin typeface="Inter Light" panose="02000403000000020004" pitchFamily="2" charset="0"/>
                <a:ea typeface="Inter Light" panose="02000403000000020004" pitchFamily="2" charset="0"/>
                <a:cs typeface="Inter Light" panose="02000403000000020004" pitchFamily="2" charset="0"/>
              </a:defRPr>
            </a:lvl1pPr>
          </a:lstStyle>
          <a:p>
            <a:pPr lvl="0"/>
            <a:r>
              <a:rPr lang="en-US" dirty="0"/>
              <a:t>Optional name placeholder</a:t>
            </a:r>
          </a:p>
        </p:txBody>
      </p:sp>
      <p:pic>
        <p:nvPicPr>
          <p:cNvPr id="11" name="Graphic 10">
            <a:extLst>
              <a:ext uri="{FF2B5EF4-FFF2-40B4-BE49-F238E27FC236}">
                <a16:creationId xmlns:a16="http://schemas.microsoft.com/office/drawing/2014/main" id="{5811B96E-B154-6B96-C39C-D6B95E4B06F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154652" y="5667847"/>
            <a:ext cx="2398251" cy="625821"/>
          </a:xfrm>
          <a:prstGeom prst="rect">
            <a:avLst/>
          </a:prstGeom>
        </p:spPr>
      </p:pic>
    </p:spTree>
    <p:extLst>
      <p:ext uri="{BB962C8B-B14F-4D97-AF65-F5344CB8AC3E}">
        <p14:creationId xmlns:p14="http://schemas.microsoft.com/office/powerpoint/2010/main" val="1657803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2_Splunk -Segu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FD9834A-45D9-99BF-C75A-0668191F9F21}"/>
              </a:ext>
            </a:extLst>
          </p:cNvPr>
          <p:cNvSpPr>
            <a:spLocks noGrp="1"/>
          </p:cNvSpPr>
          <p:nvPr>
            <p:ph type="body" sz="quarter" idx="10" hasCustomPrompt="1"/>
          </p:nvPr>
        </p:nvSpPr>
        <p:spPr>
          <a:xfrm>
            <a:off x="376237" y="1856300"/>
            <a:ext cx="7037285" cy="1572700"/>
          </a:xfrm>
        </p:spPr>
        <p:txBody>
          <a:bodyPr anchor="b"/>
          <a:lstStyle>
            <a:lvl1pPr marL="0" indent="0">
              <a:buNone/>
              <a:defRPr sz="4400">
                <a:latin typeface="+mj-lt"/>
              </a:defRPr>
            </a:lvl1pPr>
          </a:lstStyle>
          <a:p>
            <a:pPr lvl="0"/>
            <a:r>
              <a:rPr lang="en-US" dirty="0"/>
              <a:t>Click to edit Master title layout</a:t>
            </a:r>
          </a:p>
        </p:txBody>
      </p:sp>
      <p:sp>
        <p:nvSpPr>
          <p:cNvPr id="8" name="Text Placeholder 6">
            <a:extLst>
              <a:ext uri="{FF2B5EF4-FFF2-40B4-BE49-F238E27FC236}">
                <a16:creationId xmlns:a16="http://schemas.microsoft.com/office/drawing/2014/main" id="{8178EDCA-C55C-A5BE-BC3E-7BB45DBD4B2C}"/>
              </a:ext>
            </a:extLst>
          </p:cNvPr>
          <p:cNvSpPr>
            <a:spLocks noGrp="1"/>
          </p:cNvSpPr>
          <p:nvPr>
            <p:ph type="body" sz="quarter" idx="11" hasCustomPrompt="1"/>
          </p:nvPr>
        </p:nvSpPr>
        <p:spPr>
          <a:xfrm>
            <a:off x="376238" y="3913701"/>
            <a:ext cx="7037285" cy="365125"/>
          </a:xfrm>
        </p:spPr>
        <p:txBody>
          <a:bodyPr/>
          <a:lstStyle>
            <a:lvl1pPr marL="0" indent="0">
              <a:buNone/>
              <a:defRPr sz="2000" b="0" i="0">
                <a:latin typeface="Inter Light" panose="02000403000000020004" pitchFamily="2" charset="0"/>
                <a:ea typeface="Inter Light" panose="02000403000000020004" pitchFamily="2" charset="0"/>
                <a:cs typeface="Inter Light" panose="02000403000000020004" pitchFamily="2" charset="0"/>
              </a:defRPr>
            </a:lvl1pPr>
          </a:lstStyle>
          <a:p>
            <a:pPr lvl="0"/>
            <a:r>
              <a:rPr lang="en-US" dirty="0"/>
              <a:t>Optional subtitle</a:t>
            </a:r>
          </a:p>
        </p:txBody>
      </p:sp>
      <p:sp>
        <p:nvSpPr>
          <p:cNvPr id="9" name="Text Placeholder 6">
            <a:extLst>
              <a:ext uri="{FF2B5EF4-FFF2-40B4-BE49-F238E27FC236}">
                <a16:creationId xmlns:a16="http://schemas.microsoft.com/office/drawing/2014/main" id="{E870C557-009B-B8AA-6073-183379799CA0}"/>
              </a:ext>
            </a:extLst>
          </p:cNvPr>
          <p:cNvSpPr>
            <a:spLocks noGrp="1"/>
          </p:cNvSpPr>
          <p:nvPr>
            <p:ph type="body" sz="quarter" idx="12" hasCustomPrompt="1"/>
          </p:nvPr>
        </p:nvSpPr>
        <p:spPr>
          <a:xfrm>
            <a:off x="376238" y="4499508"/>
            <a:ext cx="7037285" cy="365125"/>
          </a:xfrm>
        </p:spPr>
        <p:txBody>
          <a:bodyPr/>
          <a:lstStyle>
            <a:lvl1pPr marL="0" indent="0">
              <a:buNone/>
              <a:defRPr sz="1600" b="0" i="0">
                <a:latin typeface="Inter Light" panose="02000403000000020004" pitchFamily="2" charset="0"/>
                <a:ea typeface="Inter Light" panose="02000403000000020004" pitchFamily="2" charset="0"/>
                <a:cs typeface="Inter Light" panose="02000403000000020004" pitchFamily="2" charset="0"/>
              </a:defRPr>
            </a:lvl1pPr>
          </a:lstStyle>
          <a:p>
            <a:pPr lvl="0"/>
            <a:r>
              <a:rPr lang="en-US" dirty="0"/>
              <a:t>Optional name placeholder</a:t>
            </a:r>
          </a:p>
        </p:txBody>
      </p:sp>
      <p:pic>
        <p:nvPicPr>
          <p:cNvPr id="2" name="Graphic 1">
            <a:extLst>
              <a:ext uri="{FF2B5EF4-FFF2-40B4-BE49-F238E27FC236}">
                <a16:creationId xmlns:a16="http://schemas.microsoft.com/office/drawing/2014/main" id="{9CFD3E2B-DFD8-49A8-F841-03A38F77306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292303" y="496079"/>
            <a:ext cx="2398251" cy="625821"/>
          </a:xfrm>
          <a:prstGeom prst="rect">
            <a:avLst/>
          </a:prstGeom>
        </p:spPr>
      </p:pic>
    </p:spTree>
    <p:extLst>
      <p:ext uri="{BB962C8B-B14F-4D97-AF65-F5344CB8AC3E}">
        <p14:creationId xmlns:p14="http://schemas.microsoft.com/office/powerpoint/2010/main" val="724030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Splunk - Forward-looking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A772939F-C842-E535-8394-ABB53441106C}"/>
              </a:ext>
            </a:extLst>
          </p:cNvPr>
          <p:cNvSpPr txBox="1">
            <a:spLocks/>
          </p:cNvSpPr>
          <p:nvPr/>
        </p:nvSpPr>
        <p:spPr>
          <a:xfrm>
            <a:off x="4011389" y="913947"/>
            <a:ext cx="7366904"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bg1"/>
                </a:solidFill>
                <a:latin typeface="+mn-lt"/>
                <a:ea typeface="Lexend Medium"/>
                <a:cs typeface="Splunk Data Sans Pro" panose="020B0504030202020204" pitchFamily="34" charset="0"/>
                <a:sym typeface="Lexend"/>
              </a:rPr>
              <a:t>This presentation may contain forward-looking statements regarding future events, plans or the expected financial performance of our company, including our expectations regarding our products, technology, strategy, customers, markets, acquisitions and investments. These statements reflect management’s current expectations, estimates and assumptions based on the information currently available to us. These forward-looking statements are not guarantees of future performance and involve significant risks, uncertainties and other factors that may cause our actual results, performance or achievements to be materially different from results, performance or achievements expressed or implied by the forward-looking statements contained in this presentation. For additional information about factors that could cause actual results to differ materially from those described in the forward-looking statements made in this presentation, please refer to Cisco’s periodic reports its other filings with the SEC, including the risk factors identified in Cisco’s most recent quarterly report on Form 10-Q and annual report on Form 10-K, copies of which may be obtained by visiting the Cisco Investor Relations website at </a:t>
            </a:r>
            <a:r>
              <a:rPr lang="en-US" sz="950" b="0" i="0" dirty="0" err="1">
                <a:solidFill>
                  <a:schemeClr val="bg1"/>
                </a:solidFill>
                <a:latin typeface="+mn-lt"/>
                <a:ea typeface="Lexend Medium"/>
                <a:cs typeface="Splunk Data Sans Pro" panose="020B0504030202020204" pitchFamily="34" charset="0"/>
                <a:sym typeface="Lexend"/>
              </a:rPr>
              <a:t>investor.cisco.com</a:t>
            </a:r>
            <a:r>
              <a:rPr lang="en-US" sz="950" b="0" i="0" dirty="0">
                <a:solidFill>
                  <a:schemeClr val="bg1"/>
                </a:solidFill>
                <a:latin typeface="+mn-lt"/>
                <a:ea typeface="Lexend Medium"/>
                <a:cs typeface="Splunk Data Sans Pro" panose="020B0504030202020204" pitchFamily="34" charset="0"/>
                <a:sym typeface="Lexend"/>
              </a:rPr>
              <a:t> or the SEC's website at </a:t>
            </a:r>
            <a:r>
              <a:rPr lang="en-US" sz="950" b="0" i="0" dirty="0" err="1">
                <a:solidFill>
                  <a:schemeClr val="bg1"/>
                </a:solidFill>
                <a:latin typeface="+mn-lt"/>
                <a:ea typeface="Lexend Medium"/>
                <a:cs typeface="Splunk Data Sans Pro" panose="020B0504030202020204" pitchFamily="34" charset="0"/>
                <a:sym typeface="Lexend"/>
              </a:rPr>
              <a:t>www.sec.gov</a:t>
            </a:r>
            <a:r>
              <a:rPr lang="en-US" sz="950" b="0" i="0" dirty="0">
                <a:solidFill>
                  <a:schemeClr val="bg1"/>
                </a:solidFill>
                <a:latin typeface="+mn-lt"/>
                <a:ea typeface="Lexend Medium"/>
                <a:cs typeface="Splunk Data Sans Pro" panose="020B0504030202020204" pitchFamily="34" charset="0"/>
                <a:sym typeface="Lexend"/>
              </a:rPr>
              <a:t>. Any projections in this presentation are based on information currently available to Cisco, which is subject to change. The forward-looking statements made in this presentation are made as of the time and date of this presentation. If reviewed after the initial presentation, even if made available by us, on our website or otherwise, it may not contain current or accurate information. We disclaim any obligation to update or revise any forward-looking statement based on new information, future events or otherwise, except as required by applicable law. </a:t>
            </a:r>
          </a:p>
          <a:p>
            <a:pPr marL="0" lvl="0" indent="0" algn="l" rtl="0">
              <a:lnSpc>
                <a:spcPct val="125000"/>
              </a:lnSpc>
              <a:spcBef>
                <a:spcPts val="0"/>
              </a:spcBef>
              <a:spcAft>
                <a:spcPts val="0"/>
              </a:spcAft>
              <a:buNone/>
            </a:pPr>
            <a:endParaRPr lang="en-US" sz="950" b="0" i="0" dirty="0">
              <a:solidFill>
                <a:schemeClr val="bg1"/>
              </a:solidFill>
              <a:latin typeface="+mn-lt"/>
              <a:ea typeface="Lexend Medium"/>
              <a:cs typeface="Splunk Data Sans Pro" panose="020B0504030202020204" pitchFamily="34" charset="0"/>
              <a:sym typeface="Lexend"/>
            </a:endParaRPr>
          </a:p>
          <a:p>
            <a:pPr marL="0" lvl="0" indent="0" algn="l" rtl="0">
              <a:lnSpc>
                <a:spcPct val="125000"/>
              </a:lnSpc>
              <a:spcBef>
                <a:spcPts val="0"/>
              </a:spcBef>
              <a:spcAft>
                <a:spcPts val="0"/>
              </a:spcAft>
              <a:buNone/>
            </a:pPr>
            <a:r>
              <a:rPr lang="en-US" sz="950" b="0" i="0" dirty="0">
                <a:solidFill>
                  <a:schemeClr val="bg1"/>
                </a:solidFill>
                <a:latin typeface="+mn-lt"/>
                <a:ea typeface="Lexend Medium"/>
                <a:cs typeface="Splunk Data Sans Pro" panose="020B0504030202020204" pitchFamily="34" charset="0"/>
                <a:sym typeface="Lexend"/>
              </a:rPr>
              <a:t>In addition, any information about our roadmap outlines or our general product direction is subject to change at any time without notice. It is for informational purposes only and shall not be incorporated into any contract or other commitment. We undertake no obligation either to develop the features or functionalities described, in alpha or beta or in preview (used interchangeably), or to include any such feature or functionality in a future release.</a:t>
            </a:r>
          </a:p>
        </p:txBody>
      </p:sp>
      <p:sp>
        <p:nvSpPr>
          <p:cNvPr id="4" name="Title 2">
            <a:extLst>
              <a:ext uri="{FF2B5EF4-FFF2-40B4-BE49-F238E27FC236}">
                <a16:creationId xmlns:a16="http://schemas.microsoft.com/office/drawing/2014/main" id="{7FD21534-54B2-2F1D-3FA0-79707BD45740}"/>
              </a:ext>
            </a:extLst>
          </p:cNvPr>
          <p:cNvSpPr txBox="1">
            <a:spLocks/>
          </p:cNvSpPr>
          <p:nvPr/>
        </p:nvSpPr>
        <p:spPr>
          <a:xfrm>
            <a:off x="4011388" y="5039632"/>
            <a:ext cx="7268934" cy="904421"/>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bg1"/>
                </a:solidFill>
                <a:latin typeface="+mn-lt"/>
                <a:ea typeface="Lexend Medium"/>
                <a:cs typeface="Splunk Data Sans Pro" panose="020B0504030202020204" pitchFamily="34" charset="0"/>
                <a:sym typeface="Lexend"/>
              </a:rPr>
              <a:t>Copyright © 2026 Cisco and/or its affiliates. All rights reserved. Cisco, Splunk and the Cisco and Splunk logos are trademarks or registered trademarks of Cisco and/or its affiliates in the U.S. and other countries. To view a list of Cisco trademarks, go to: </a:t>
            </a:r>
            <a:r>
              <a:rPr lang="en-US" sz="950" b="0" i="0" dirty="0" err="1">
                <a:solidFill>
                  <a:schemeClr val="bg1"/>
                </a:solidFill>
                <a:latin typeface="+mn-lt"/>
                <a:ea typeface="Lexend Medium"/>
                <a:cs typeface="Splunk Data Sans Pro" panose="020B0504030202020204" pitchFamily="34" charset="0"/>
                <a:sym typeface="Lexend"/>
              </a:rPr>
              <a:t>www.cisco.com</a:t>
            </a:r>
            <a:r>
              <a:rPr lang="en-US" sz="950" b="0" i="0" dirty="0">
                <a:solidFill>
                  <a:schemeClr val="bg1"/>
                </a:solidFill>
                <a:latin typeface="+mn-lt"/>
                <a:ea typeface="Lexend Medium"/>
                <a:cs typeface="Splunk Data Sans Pro" panose="020B0504030202020204" pitchFamily="34" charset="0"/>
                <a:sym typeface="Lexend"/>
              </a:rPr>
              <a:t>/go/trademarks. Third-party trademarks mentioned in this presentation are the property of their respective owners. The use of the word partner does not imply a partnership relationship between Cisco and any other company. </a:t>
            </a:r>
          </a:p>
        </p:txBody>
      </p:sp>
      <p:cxnSp>
        <p:nvCxnSpPr>
          <p:cNvPr id="6" name="Straight Connector 5">
            <a:extLst>
              <a:ext uri="{FF2B5EF4-FFF2-40B4-BE49-F238E27FC236}">
                <a16:creationId xmlns:a16="http://schemas.microsoft.com/office/drawing/2014/main" id="{D03CF48A-0C04-BABA-C5A3-386DA61B8533}"/>
              </a:ext>
            </a:extLst>
          </p:cNvPr>
          <p:cNvCxnSpPr/>
          <p:nvPr/>
        </p:nvCxnSpPr>
        <p:spPr>
          <a:xfrm>
            <a:off x="4011388" y="4789715"/>
            <a:ext cx="736690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Title 2">
            <a:extLst>
              <a:ext uri="{FF2B5EF4-FFF2-40B4-BE49-F238E27FC236}">
                <a16:creationId xmlns:a16="http://schemas.microsoft.com/office/drawing/2014/main" id="{C9C2C4A0-6EA4-C056-AB73-9CE6BB1B9567}"/>
              </a:ext>
            </a:extLst>
          </p:cNvPr>
          <p:cNvSpPr txBox="1">
            <a:spLocks/>
          </p:cNvSpPr>
          <p:nvPr/>
        </p:nvSpPr>
        <p:spPr>
          <a:xfrm>
            <a:off x="824593" y="913947"/>
            <a:ext cx="2865665"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r>
              <a:rPr lang="en-US" sz="3600" dirty="0"/>
              <a:t>Forward-looking statements</a:t>
            </a:r>
          </a:p>
        </p:txBody>
      </p:sp>
      <p:sp>
        <p:nvSpPr>
          <p:cNvPr id="3" name="Title 2">
            <a:extLst>
              <a:ext uri="{FF2B5EF4-FFF2-40B4-BE49-F238E27FC236}">
                <a16:creationId xmlns:a16="http://schemas.microsoft.com/office/drawing/2014/main" id="{91312EFF-00AB-5D86-967D-6FE3BDC8788D}"/>
              </a:ext>
            </a:extLst>
          </p:cNvPr>
          <p:cNvSpPr txBox="1">
            <a:spLocks/>
          </p:cNvSpPr>
          <p:nvPr/>
        </p:nvSpPr>
        <p:spPr>
          <a:xfrm>
            <a:off x="4011389" y="913947"/>
            <a:ext cx="7366904"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tx1"/>
                </a:solidFill>
                <a:latin typeface="+mn-lt"/>
                <a:ea typeface="Lexend Medium"/>
                <a:cs typeface="Splunk Data Sans Pro" panose="020B0504030202020204" pitchFamily="34" charset="0"/>
                <a:sym typeface="Lexend"/>
              </a:rPr>
              <a:t>This presentation may contain forward-looking statements regarding future events, plans or the expected financial performance of our company, including our expectations regarding our products, technology, strategy, customers, markets, acquisitions and investments. These statements reflect management’s current expectations, estimates and assumptions based on the information currently available to us. These forward-looking statements are not guarantees of future performance and involve significant risks, uncertainties and other factors that may cause our actual results, performance or achievements to be materially different from results, performance or achievements expressed or implied by the forward-looking statements contained in this presentation. For additional information about factors that could cause actual results to differ materially from those described in the forward-looking statements made in this presentation, please refer to Cisco’s periodic reports its other filings with the SEC, including the risk factors identified in Cisco’s most recent quarterly report on Form 10-Q and annual report on Form 10-K, copies of which may be obtained by visiting the Cisco Investor Relations website at </a:t>
            </a:r>
            <a:r>
              <a:rPr lang="en-US" sz="950" b="0" i="0" dirty="0" err="1">
                <a:solidFill>
                  <a:schemeClr val="tx1"/>
                </a:solidFill>
                <a:latin typeface="+mn-lt"/>
                <a:ea typeface="Lexend Medium"/>
                <a:cs typeface="Splunk Data Sans Pro" panose="020B0504030202020204" pitchFamily="34" charset="0"/>
                <a:sym typeface="Lexend"/>
              </a:rPr>
              <a:t>investor.cisco.com</a:t>
            </a:r>
            <a:r>
              <a:rPr lang="en-US" sz="950" b="0" i="0" dirty="0">
                <a:solidFill>
                  <a:schemeClr val="tx1"/>
                </a:solidFill>
                <a:latin typeface="+mn-lt"/>
                <a:ea typeface="Lexend Medium"/>
                <a:cs typeface="Splunk Data Sans Pro" panose="020B0504030202020204" pitchFamily="34" charset="0"/>
                <a:sym typeface="Lexend"/>
              </a:rPr>
              <a:t> or the SEC's website at </a:t>
            </a:r>
            <a:r>
              <a:rPr lang="en-US" sz="950" b="0" i="0" dirty="0" err="1">
                <a:solidFill>
                  <a:schemeClr val="tx1"/>
                </a:solidFill>
                <a:latin typeface="+mn-lt"/>
                <a:ea typeface="Lexend Medium"/>
                <a:cs typeface="Splunk Data Sans Pro" panose="020B0504030202020204" pitchFamily="34" charset="0"/>
                <a:sym typeface="Lexend"/>
              </a:rPr>
              <a:t>www.sec.gov</a:t>
            </a:r>
            <a:r>
              <a:rPr lang="en-US" sz="950" b="0" i="0" dirty="0">
                <a:solidFill>
                  <a:schemeClr val="tx1"/>
                </a:solidFill>
                <a:latin typeface="+mn-lt"/>
                <a:ea typeface="Lexend Medium"/>
                <a:cs typeface="Splunk Data Sans Pro" panose="020B0504030202020204" pitchFamily="34" charset="0"/>
                <a:sym typeface="Lexend"/>
              </a:rPr>
              <a:t>. Any projections in this presentation are based on information currently available to Cisco, which is subject to change. The forward-looking statements made in this presentation are made as of the time and date of this presentation. If reviewed after the initial presentation, even if made available by us, on our website or otherwise, it may not contain current or accurate information. We disclaim any obligation to update or revise any forward-looking statement based on new information, future events or otherwise, except as required by applicable law. </a:t>
            </a:r>
          </a:p>
          <a:p>
            <a:pPr marL="0" lvl="0" indent="0" algn="l" rtl="0">
              <a:lnSpc>
                <a:spcPct val="125000"/>
              </a:lnSpc>
              <a:spcBef>
                <a:spcPts val="0"/>
              </a:spcBef>
              <a:spcAft>
                <a:spcPts val="0"/>
              </a:spcAft>
              <a:buNone/>
            </a:pPr>
            <a:endParaRPr lang="en-US" sz="950" b="0" i="0" dirty="0">
              <a:solidFill>
                <a:schemeClr val="tx1"/>
              </a:solidFill>
              <a:latin typeface="+mn-lt"/>
              <a:ea typeface="Lexend Medium"/>
              <a:cs typeface="Splunk Data Sans Pro" panose="020B0504030202020204" pitchFamily="34" charset="0"/>
              <a:sym typeface="Lexend"/>
            </a:endParaRPr>
          </a:p>
          <a:p>
            <a:pPr marL="0" lvl="0" indent="0" algn="l" rtl="0">
              <a:lnSpc>
                <a:spcPct val="125000"/>
              </a:lnSpc>
              <a:spcBef>
                <a:spcPts val="0"/>
              </a:spcBef>
              <a:spcAft>
                <a:spcPts val="0"/>
              </a:spcAft>
              <a:buNone/>
            </a:pPr>
            <a:r>
              <a:rPr lang="en-US" sz="950" b="0" i="0" dirty="0">
                <a:solidFill>
                  <a:schemeClr val="tx1"/>
                </a:solidFill>
                <a:latin typeface="+mn-lt"/>
                <a:ea typeface="Lexend Medium"/>
                <a:cs typeface="Splunk Data Sans Pro" panose="020B0504030202020204" pitchFamily="34" charset="0"/>
                <a:sym typeface="Lexend"/>
              </a:rPr>
              <a:t>In addition, any information about our roadmap outlines or our general product direction is subject to change at any time without notice. It is for informational purposes only and shall not be incorporated into any contract or other commitment. We undertake no obligation either to develop the features or functionalities described, in alpha or beta or in preview (used interchangeably), or to include any such feature or functionality in a future release.</a:t>
            </a:r>
          </a:p>
        </p:txBody>
      </p:sp>
      <p:sp>
        <p:nvSpPr>
          <p:cNvPr id="5" name="Title 2">
            <a:extLst>
              <a:ext uri="{FF2B5EF4-FFF2-40B4-BE49-F238E27FC236}">
                <a16:creationId xmlns:a16="http://schemas.microsoft.com/office/drawing/2014/main" id="{77BA592D-3F28-4C15-D675-DEF4D15C81F9}"/>
              </a:ext>
            </a:extLst>
          </p:cNvPr>
          <p:cNvSpPr txBox="1">
            <a:spLocks/>
          </p:cNvSpPr>
          <p:nvPr/>
        </p:nvSpPr>
        <p:spPr>
          <a:xfrm>
            <a:off x="4011388" y="5039632"/>
            <a:ext cx="7268934" cy="904421"/>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tx1"/>
                </a:solidFill>
                <a:latin typeface="+mn-lt"/>
                <a:ea typeface="Lexend Medium"/>
                <a:cs typeface="Splunk Data Sans Pro" panose="020B0504030202020204" pitchFamily="34" charset="0"/>
                <a:sym typeface="Lexend"/>
              </a:rPr>
              <a:t>Copyright © 2026 Cisco and/or its affiliates. All rights reserved. Cisco, Splunk and the Cisco and Splunk logos are trademarks or registered trademarks of Cisco and/or its affiliates in the U.S. and other countries. To view a list of Cisco trademarks, go to: </a:t>
            </a:r>
            <a:r>
              <a:rPr lang="en-US" sz="950" b="0" i="0" dirty="0" err="1">
                <a:solidFill>
                  <a:schemeClr val="tx1"/>
                </a:solidFill>
                <a:latin typeface="+mn-lt"/>
                <a:ea typeface="Lexend Medium"/>
                <a:cs typeface="Splunk Data Sans Pro" panose="020B0504030202020204" pitchFamily="34" charset="0"/>
                <a:sym typeface="Lexend"/>
              </a:rPr>
              <a:t>www.cisco.com</a:t>
            </a:r>
            <a:r>
              <a:rPr lang="en-US" sz="950" b="0" i="0" dirty="0">
                <a:solidFill>
                  <a:schemeClr val="tx1"/>
                </a:solidFill>
                <a:latin typeface="+mn-lt"/>
                <a:ea typeface="Lexend Medium"/>
                <a:cs typeface="Splunk Data Sans Pro" panose="020B0504030202020204" pitchFamily="34" charset="0"/>
                <a:sym typeface="Lexend"/>
              </a:rPr>
              <a:t>/go/trademarks. Third-party trademarks mentioned in this presentation are the property of their respective owners. The use of the word partner does not imply a partnership relationship between Cisco and any other company. </a:t>
            </a:r>
          </a:p>
        </p:txBody>
      </p:sp>
      <p:cxnSp>
        <p:nvCxnSpPr>
          <p:cNvPr id="8" name="Straight Connector 7">
            <a:extLst>
              <a:ext uri="{FF2B5EF4-FFF2-40B4-BE49-F238E27FC236}">
                <a16:creationId xmlns:a16="http://schemas.microsoft.com/office/drawing/2014/main" id="{5530F874-A0A4-534D-9FBA-6DDB5F557A11}"/>
              </a:ext>
            </a:extLst>
          </p:cNvPr>
          <p:cNvCxnSpPr/>
          <p:nvPr/>
        </p:nvCxnSpPr>
        <p:spPr>
          <a:xfrm>
            <a:off x="4011388" y="4789715"/>
            <a:ext cx="7366905"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Title 2">
            <a:extLst>
              <a:ext uri="{FF2B5EF4-FFF2-40B4-BE49-F238E27FC236}">
                <a16:creationId xmlns:a16="http://schemas.microsoft.com/office/drawing/2014/main" id="{4D196EAB-B4FE-EE33-5659-7B2FCC12DBF1}"/>
              </a:ext>
            </a:extLst>
          </p:cNvPr>
          <p:cNvSpPr txBox="1">
            <a:spLocks/>
          </p:cNvSpPr>
          <p:nvPr/>
        </p:nvSpPr>
        <p:spPr>
          <a:xfrm>
            <a:off x="824593" y="913947"/>
            <a:ext cx="2865665"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r>
              <a:rPr lang="en-US" sz="3600" dirty="0">
                <a:solidFill>
                  <a:schemeClr val="tx1"/>
                </a:solidFill>
              </a:rPr>
              <a:t>Forward-looking statements</a:t>
            </a:r>
          </a:p>
        </p:txBody>
      </p:sp>
    </p:spTree>
    <p:extLst>
      <p:ext uri="{BB962C8B-B14F-4D97-AF65-F5344CB8AC3E}">
        <p14:creationId xmlns:p14="http://schemas.microsoft.com/office/powerpoint/2010/main" val="1314733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Segue 3">
    <p:bg>
      <p:bgPr>
        <a:gradFill>
          <a:gsLst>
            <a:gs pos="2000">
              <a:schemeClr val="bg1"/>
            </a:gs>
            <a:gs pos="53000">
              <a:schemeClr val="bg2"/>
            </a:gs>
            <a:gs pos="92000">
              <a:schemeClr val="accent5"/>
            </a:gs>
          </a:gsLst>
          <a:lin ang="4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0" y="2492375"/>
            <a:ext cx="7634288" cy="1868487"/>
          </a:xfrm>
        </p:spPr>
        <p:txBody>
          <a:bodyPr anchor="ctr" anchorCtr="0"/>
          <a:lstStyle>
            <a:lvl1pPr>
              <a:defRPr sz="40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486676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Splunk - 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1C73918-5F6C-0484-B359-F1B06B60E085}"/>
              </a:ext>
              <a:ext uri="{C183D7F6-B498-43B3-948B-1728B52AA6E4}">
                <adec:decorative xmlns:adec="http://schemas.microsoft.com/office/drawing/2017/decorative" val="1"/>
              </a:ext>
            </a:extLst>
          </p:cNvPr>
          <p:cNvSpPr/>
          <p:nvPr userDrawn="1"/>
        </p:nvSpPr>
        <p:spPr>
          <a:xfrm>
            <a:off x="0" y="1260471"/>
            <a:ext cx="10888663" cy="4351342"/>
          </a:xfrm>
          <a:prstGeom prst="rect">
            <a:avLst/>
          </a:prstGeom>
          <a:gradFill>
            <a:gsLst>
              <a:gs pos="16000">
                <a:schemeClr val="bg1">
                  <a:alpha val="10000"/>
                </a:schemeClr>
              </a:gs>
              <a:gs pos="43000">
                <a:srgbClr val="F7F9FC">
                  <a:alpha val="16000"/>
                </a:srgbClr>
              </a:gs>
              <a:gs pos="74000">
                <a:schemeClr val="bg2">
                  <a:alpha val="20000"/>
                </a:schemeClr>
              </a:gs>
              <a:gs pos="100000">
                <a:schemeClr val="accent5">
                  <a:alpha val="20000"/>
                </a:schemeClr>
              </a:gs>
            </a:gsLst>
            <a:lin ang="48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nchorCtr="0"/>
          <a:lstStyle>
            <a:lvl1pPr>
              <a:defRPr/>
            </a:lvl1pPr>
          </a:lstStyle>
          <a:p>
            <a:r>
              <a:rPr lang="en-US" dirty="0"/>
              <a:t>Thank you</a:t>
            </a:r>
          </a:p>
        </p:txBody>
      </p:sp>
      <p:pic>
        <p:nvPicPr>
          <p:cNvPr id="2" name="Graphic 1">
            <a:extLst>
              <a:ext uri="{FF2B5EF4-FFF2-40B4-BE49-F238E27FC236}">
                <a16:creationId xmlns:a16="http://schemas.microsoft.com/office/drawing/2014/main" id="{1579CB4D-1855-5881-6D9C-C7FDCF09B65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25542" y="2749346"/>
            <a:ext cx="1817915" cy="1233978"/>
          </a:xfrm>
          <a:prstGeom prst="rect">
            <a:avLst/>
          </a:prstGeom>
        </p:spPr>
      </p:pic>
    </p:spTree>
    <p:extLst>
      <p:ext uri="{BB962C8B-B14F-4D97-AF65-F5344CB8AC3E}">
        <p14:creationId xmlns:p14="http://schemas.microsoft.com/office/powerpoint/2010/main" val="3107426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1.svg"/><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2.sv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16000">
              <a:schemeClr val="bg1"/>
            </a:gs>
            <a:gs pos="43000">
              <a:srgbClr val="F7F9FC"/>
            </a:gs>
            <a:gs pos="74000">
              <a:schemeClr val="bg2"/>
            </a:gs>
            <a:gs pos="100000">
              <a:schemeClr val="accent5"/>
            </a:gs>
          </a:gsLst>
          <a:lin ang="4800000" scaled="0"/>
          <a:tileRect/>
        </a:grad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F21F2830-F0A3-2EAC-C709-5C928A8C49EF}"/>
              </a:ext>
            </a:extLst>
          </p:cNvPr>
          <p:cNvSpPr>
            <a:spLocks noGrp="1"/>
          </p:cNvSpPr>
          <p:nvPr>
            <p:ph type="title"/>
          </p:nvPr>
        </p:nvSpPr>
        <p:spPr>
          <a:xfrm>
            <a:off x="323850" y="298146"/>
            <a:ext cx="11544300" cy="492443"/>
          </a:xfrm>
          <a:prstGeom prst="rect">
            <a:avLst/>
          </a:prstGeom>
          <a:noFill/>
        </p:spPr>
        <p:txBody>
          <a:bodyPr vert="horz" lIns="0" tIns="0" rIns="0" bIns="0" rtlCol="0" anchor="t">
            <a:no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455BE63C-8C0C-FC75-3DF2-F8F96A3C87BE}"/>
              </a:ext>
            </a:extLst>
          </p:cNvPr>
          <p:cNvSpPr>
            <a:spLocks noGrp="1"/>
          </p:cNvSpPr>
          <p:nvPr>
            <p:ph type="body" idx="1"/>
          </p:nvPr>
        </p:nvSpPr>
        <p:spPr>
          <a:xfrm>
            <a:off x="323754" y="1244599"/>
            <a:ext cx="11544396" cy="4835321"/>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a:extLst>
              <a:ext uri="{FF2B5EF4-FFF2-40B4-BE49-F238E27FC236}">
                <a16:creationId xmlns:a16="http://schemas.microsoft.com/office/drawing/2014/main" id="{239B4362-70A2-3ADC-C4AA-ADA6E4E09C94}"/>
              </a:ext>
            </a:extLst>
          </p:cNvPr>
          <p:cNvSpPr>
            <a:spLocks/>
          </p:cNvSpPr>
          <p:nvPr/>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latin typeface="+mn-lt"/>
                <a:ea typeface="Inter" panose="02000503000000020004" pitchFamily="2" charset="0"/>
                <a:cs typeface="CiscoSansTT Light" panose="020B0503020201020303" pitchFamily="34" charset="0"/>
              </a:rPr>
              <a:t>© 2026 Cisco and/or its affiliates. All rights reserved.</a:t>
            </a:r>
          </a:p>
        </p:txBody>
      </p:sp>
      <p:sp>
        <p:nvSpPr>
          <p:cNvPr id="6" name="Footer Placeholder 5">
            <a:extLst>
              <a:ext uri="{FF2B5EF4-FFF2-40B4-BE49-F238E27FC236}">
                <a16:creationId xmlns:a16="http://schemas.microsoft.com/office/drawing/2014/main" id="{B042B348-7CFA-9BD7-7FBA-A3E160A67776}"/>
              </a:ext>
            </a:extLst>
          </p:cNvPr>
          <p:cNvSpPr>
            <a:spLocks noGrp="1"/>
          </p:cNvSpPr>
          <p:nvPr>
            <p:ph type="ftr" sz="quarter" idx="3"/>
          </p:nvPr>
        </p:nvSpPr>
        <p:spPr>
          <a:xfrm>
            <a:off x="4230688" y="6445885"/>
            <a:ext cx="3727450" cy="411480"/>
          </a:xfrm>
          <a:prstGeom prst="rect">
            <a:avLst/>
          </a:prstGeom>
        </p:spPr>
        <p:txBody>
          <a:bodyPr vert="horz" lIns="0" tIns="0" rIns="0" bIns="0" rtlCol="0" anchor="t" anchorCtr="0"/>
          <a:lstStyle>
            <a:lvl1pPr algn="ctr">
              <a:defRPr kumimoji="0" lang="en-US" sz="700" b="0" i="0" u="none" strike="noStrike" kern="1200" cap="none" spc="0" normalizeH="0" baseline="0" smtClean="0">
                <a:ln>
                  <a:noFill/>
                </a:ln>
                <a:solidFill>
                  <a:schemeClr val="tx1"/>
                </a:solidFill>
                <a:effectLst/>
                <a:uLnTx/>
                <a:uFillTx/>
                <a:latin typeface="+mn-lt"/>
                <a:ea typeface="Inter" panose="02000503000000020004" pitchFamily="2" charset="0"/>
                <a:cs typeface="CiscoSansTT Light" panose="020B0503020201020303" pitchFamily="34" charset="0"/>
              </a:defRPr>
            </a:lvl1pPr>
          </a:lstStyle>
          <a:p>
            <a:pPr defTabSz="814318">
              <a:defRPr/>
            </a:pPr>
            <a:r>
              <a:rPr lang="en-US"/>
              <a:t>Session ID: BRKSEC-XXXX</a:t>
            </a:r>
            <a:endParaRPr lang="en-US" dirty="0"/>
          </a:p>
        </p:txBody>
      </p:sp>
      <p:sp>
        <p:nvSpPr>
          <p:cNvPr id="2" name="Slide Number Placeholder 1">
            <a:extLst>
              <a:ext uri="{FF2B5EF4-FFF2-40B4-BE49-F238E27FC236}">
                <a16:creationId xmlns:a16="http://schemas.microsoft.com/office/drawing/2014/main" id="{10ECAE8E-F596-3416-3914-B7C065191A87}"/>
              </a:ext>
            </a:extLst>
          </p:cNvPr>
          <p:cNvSpPr>
            <a:spLocks noGrp="1"/>
          </p:cNvSpPr>
          <p:nvPr>
            <p:ph type="sldNum" sz="quarter" idx="4"/>
          </p:nvPr>
        </p:nvSpPr>
        <p:spPr>
          <a:xfrm>
            <a:off x="9115425" y="6448929"/>
            <a:ext cx="1773238" cy="411480"/>
          </a:xfrm>
          <a:prstGeom prst="rect">
            <a:avLst/>
          </a:prstGeom>
        </p:spPr>
        <p:txBody>
          <a:bodyPr vert="horz" lIns="0" tIns="0" rIns="0" bIns="0" rtlCol="0" anchor="t" anchorCtr="0"/>
          <a:lstStyle>
            <a:lvl1pPr algn="r">
              <a:defRPr kumimoji="0" lang="en-US" sz="700" b="0" i="0" u="none" strike="noStrike" kern="1200" cap="none" spc="0" normalizeH="0" baseline="0" smtClean="0">
                <a:ln>
                  <a:noFill/>
                </a:ln>
                <a:solidFill>
                  <a:schemeClr val="tx1"/>
                </a:solidFill>
                <a:effectLst/>
                <a:uLnTx/>
                <a:uFillTx/>
                <a:latin typeface="+mn-lt"/>
                <a:ea typeface="Inter" panose="02000503000000020004" pitchFamily="2" charset="0"/>
                <a:cs typeface="CiscoSansTT Light" panose="020B0503020201020303" pitchFamily="34" charset="0"/>
              </a:defRPr>
            </a:lvl1pPr>
          </a:lstStyle>
          <a:p>
            <a:fld id="{C3C42FAE-7A31-41D3-A712-51D9B15D0B10}" type="slidenum">
              <a:rPr lang="en-US" smtClean="0"/>
              <a:pPr/>
              <a:t>‹#›</a:t>
            </a:fld>
            <a:endParaRPr lang="en-US" dirty="0"/>
          </a:p>
        </p:txBody>
      </p:sp>
      <p:pic>
        <p:nvPicPr>
          <p:cNvPr id="4" name="Picture 7" descr="Cisco Logo">
            <a:extLst>
              <a:ext uri="{FF2B5EF4-FFF2-40B4-BE49-F238E27FC236}">
                <a16:creationId xmlns:a16="http://schemas.microsoft.com/office/drawing/2014/main" id="{E912C7E4-465D-A60D-49E8-6866FAAE655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8"/>
              </a:ext>
            </a:extLst>
          </a:blip>
          <a:srcRect/>
          <a:stretch/>
        </p:blipFill>
        <p:spPr>
          <a:xfrm>
            <a:off x="11520088" y="6354445"/>
            <a:ext cx="348061" cy="182880"/>
          </a:xfrm>
          <a:prstGeom prst="rect">
            <a:avLst/>
          </a:prstGeom>
        </p:spPr>
      </p:pic>
      <p:sp>
        <p:nvSpPr>
          <p:cNvPr id="8" name="TextBox 7">
            <a:extLst>
              <a:ext uri="{FF2B5EF4-FFF2-40B4-BE49-F238E27FC236}">
                <a16:creationId xmlns:a16="http://schemas.microsoft.com/office/drawing/2014/main" id="{DCAE3397-B7E0-F9B7-D1AC-C859F3CFC5AF}"/>
              </a:ext>
            </a:extLst>
          </p:cNvPr>
          <p:cNvSpPr txBox="1"/>
          <p:nvPr>
            <p:extLst>
              <p:ext uri="{1162E1C5-73C7-4A58-AE30-91384D911F3F}">
                <p184:classification xmlns:p184="http://schemas.microsoft.com/office/powerpoint/2018/4/main" val="ftr"/>
              </p:ext>
            </p:extLst>
          </p:nvPr>
        </p:nvSpPr>
        <p:spPr>
          <a:xfrm>
            <a:off x="11042650" y="6672580"/>
            <a:ext cx="825499" cy="107722"/>
          </a:xfrm>
          <a:prstGeom prst="rect">
            <a:avLst/>
          </a:prstGeom>
        </p:spPr>
        <p:txBody>
          <a:bodyPr horzOverflow="overflow" wrap="square" lIns="0" tIns="0" rIns="0" bIns="0">
            <a:spAutoFit/>
          </a:bodyPr>
          <a:lstStyle/>
          <a:p>
            <a:pPr algn="r"/>
            <a:r>
              <a:rPr lang="en-US" sz="700" dirty="0">
                <a:solidFill>
                  <a:schemeClr val="tx1">
                    <a:alpha val="20000"/>
                  </a:schemeClr>
                </a:solidFill>
                <a:latin typeface="+mn-lt"/>
                <a:ea typeface="Inter" panose="02000503000000020004" pitchFamily="2" charset="0"/>
                <a:cs typeface="Calibri" panose="020F0502020204030204" pitchFamily="34" charset="0"/>
              </a:rPr>
              <a:t>Cisco Confidential</a:t>
            </a:r>
          </a:p>
        </p:txBody>
      </p:sp>
      <p:sp>
        <p:nvSpPr>
          <p:cNvPr id="9" name="Rectangle 8">
            <a:extLst>
              <a:ext uri="{FF2B5EF4-FFF2-40B4-BE49-F238E27FC236}">
                <a16:creationId xmlns:a16="http://schemas.microsoft.com/office/drawing/2014/main" id="{F3DAE625-C2E8-261C-59FF-41190A6259CA}"/>
              </a:ext>
            </a:extLst>
          </p:cNvPr>
          <p:cNvSpPr>
            <a:spLocks/>
          </p:cNvSpPr>
          <p:nvPr/>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tx1"/>
                </a:solidFill>
                <a:effectLst/>
                <a:uLnTx/>
                <a:uFillTx/>
                <a:latin typeface="+mn-lt"/>
                <a:ea typeface="Inter" panose="02000503000000020004" pitchFamily="2" charset="0"/>
                <a:cs typeface="CiscoSansTT Light" panose="020B0503020201020303" pitchFamily="34" charset="0"/>
              </a:rPr>
              <a:t>© 2026 Cisco and/or its affiliates. All rights reserved.</a:t>
            </a:r>
          </a:p>
        </p:txBody>
      </p:sp>
      <p:pic>
        <p:nvPicPr>
          <p:cNvPr id="10" name="Picture 7" descr="Cisco Logo">
            <a:extLst>
              <a:ext uri="{FF2B5EF4-FFF2-40B4-BE49-F238E27FC236}">
                <a16:creationId xmlns:a16="http://schemas.microsoft.com/office/drawing/2014/main" id="{50CC99B8-DEFD-9398-DD2F-50657870539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9"/>
              </a:ext>
            </a:extLst>
          </a:blip>
          <a:srcRect/>
          <a:stretch/>
        </p:blipFill>
        <p:spPr>
          <a:xfrm>
            <a:off x="11520088" y="6354445"/>
            <a:ext cx="348061" cy="182880"/>
          </a:xfrm>
          <a:prstGeom prst="rect">
            <a:avLst/>
          </a:prstGeom>
        </p:spPr>
      </p:pic>
      <p:sp>
        <p:nvSpPr>
          <p:cNvPr id="14" name="Google Shape;10;p1">
            <a:extLst>
              <a:ext uri="{FF2B5EF4-FFF2-40B4-BE49-F238E27FC236}">
                <a16:creationId xmlns:a16="http://schemas.microsoft.com/office/drawing/2014/main" id="{C242CD9D-3392-1B82-AD5E-93C9C87E0F8A}"/>
              </a:ext>
            </a:extLst>
          </p:cNvPr>
          <p:cNvSpPr txBox="1"/>
          <p:nvPr userDrawn="1"/>
        </p:nvSpPr>
        <p:spPr>
          <a:xfrm>
            <a:off x="8835" y="-259955"/>
            <a:ext cx="8087600" cy="30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US" sz="900" b="0" i="0" u="none" strike="noStrike" cap="none" dirty="0">
                <a:solidFill>
                  <a:schemeClr val="bg1">
                    <a:lumMod val="75000"/>
                  </a:schemeClr>
                </a:solidFill>
                <a:latin typeface="Splunk Data Sans Pro" panose="020B0504030202020204" pitchFamily="34" charset="0"/>
                <a:ea typeface="Lexend Medium"/>
                <a:cs typeface="Splunk Data Sans Pro" panose="020B0504030202020204" pitchFamily="34" charset="0"/>
                <a:sym typeface="Lexend"/>
              </a:rPr>
              <a:t>Splunk Template  |  TMPLT .conf26-Breakout-Light</a:t>
            </a:r>
            <a:endParaRPr sz="1050" b="0" i="0" u="none" strike="noStrike" cap="none" dirty="0">
              <a:solidFill>
                <a:schemeClr val="bg1">
                  <a:lumMod val="75000"/>
                </a:schemeClr>
              </a:solidFill>
              <a:latin typeface="Splunk Data Sans Pro" panose="020B0504030202020204" pitchFamily="34" charset="0"/>
              <a:ea typeface="Lexend Medium"/>
              <a:cs typeface="Splunk Data Sans Pro" panose="020B0504030202020204" pitchFamily="34" charset="0"/>
              <a:sym typeface="Lexend"/>
            </a:endParaRPr>
          </a:p>
        </p:txBody>
      </p:sp>
    </p:spTree>
    <p:extLst>
      <p:ext uri="{BB962C8B-B14F-4D97-AF65-F5344CB8AC3E}">
        <p14:creationId xmlns:p14="http://schemas.microsoft.com/office/powerpoint/2010/main" val="669712979"/>
      </p:ext>
    </p:extLst>
  </p:cSld>
  <p:clrMap bg1="dk1" tx1="lt1" bg2="dk2" tx2="lt2" accent1="accent1" accent2="accent2" accent3="accent3" accent4="accent4" accent5="accent5" accent6="accent6" hlink="hlink" folHlink="folHlink"/>
  <p:sldLayoutIdLst>
    <p:sldLayoutId id="2147484039" r:id="rId1"/>
    <p:sldLayoutId id="2147484040" r:id="rId2"/>
    <p:sldLayoutId id="2147484043" r:id="rId3"/>
    <p:sldLayoutId id="2147484105" r:id="rId4"/>
    <p:sldLayoutId id="2147484109" r:id="rId5"/>
    <p:sldLayoutId id="2147484046" r:id="rId6"/>
    <p:sldLayoutId id="2147484047" r:id="rId7"/>
    <p:sldLayoutId id="2147484048" r:id="rId8"/>
    <p:sldLayoutId id="2147484049" r:id="rId9"/>
    <p:sldLayoutId id="2147484050" r:id="rId10"/>
    <p:sldLayoutId id="2147484051" r:id="rId11"/>
    <p:sldLayoutId id="2147484052" r:id="rId12"/>
    <p:sldLayoutId id="2147484053" r:id="rId13"/>
    <p:sldLayoutId id="2147484054" r:id="rId14"/>
    <p:sldLayoutId id="2147484055" r:id="rId15"/>
    <p:sldLayoutId id="2147484056" r:id="rId16"/>
    <p:sldLayoutId id="2147484057" r:id="rId17"/>
    <p:sldLayoutId id="2147484112" r:id="rId18"/>
    <p:sldLayoutId id="2147484058" r:id="rId19"/>
    <p:sldLayoutId id="2147484059" r:id="rId20"/>
    <p:sldLayoutId id="2147484060" r:id="rId21"/>
    <p:sldLayoutId id="2147484061" r:id="rId22"/>
    <p:sldLayoutId id="2147484062" r:id="rId23"/>
    <p:sldLayoutId id="2147484063" r:id="rId24"/>
    <p:sldLayoutId id="2147484064" r:id="rId25"/>
    <p:sldLayoutId id="2147484065" r:id="rId26"/>
    <p:sldLayoutId id="2147484066" r:id="rId27"/>
    <p:sldLayoutId id="2147484067" r:id="rId28"/>
    <p:sldLayoutId id="2147484068" r:id="rId29"/>
    <p:sldLayoutId id="2147484069" r:id="rId30"/>
    <p:sldLayoutId id="2147484070" r:id="rId31"/>
    <p:sldLayoutId id="2147484071" r:id="rId32"/>
    <p:sldLayoutId id="2147484072" r:id="rId33"/>
    <p:sldLayoutId id="2147484073" r:id="rId34"/>
    <p:sldLayoutId id="2147484074" r:id="rId35"/>
    <p:sldLayoutId id="2147484075" r:id="rId36"/>
    <p:sldLayoutId id="2147484078" r:id="rId37"/>
    <p:sldLayoutId id="2147484079" r:id="rId38"/>
    <p:sldLayoutId id="2147484080" r:id="rId39"/>
    <p:sldLayoutId id="2147484081" r:id="rId40"/>
    <p:sldLayoutId id="2147484086" r:id="rId41"/>
    <p:sldLayoutId id="2147484106" r:id="rId42"/>
    <p:sldLayoutId id="2147484107" r:id="rId43"/>
    <p:sldLayoutId id="2147484108" r:id="rId44"/>
    <p:sldLayoutId id="2147484089" r:id="rId45"/>
    <p:sldLayoutId id="2147484090" r:id="rId46"/>
    <p:sldLayoutId id="2147484091" r:id="rId47"/>
    <p:sldLayoutId id="2147484092" r:id="rId48"/>
    <p:sldLayoutId id="2147484093" r:id="rId49"/>
    <p:sldLayoutId id="2147484096" r:id="rId50"/>
    <p:sldLayoutId id="2147484110" r:id="rId51"/>
    <p:sldLayoutId id="2147484097" r:id="rId52"/>
    <p:sldLayoutId id="2147484111" r:id="rId53"/>
    <p:sldLayoutId id="2147484100" r:id="rId54"/>
    <p:sldLayoutId id="2147484101" r:id="rId55"/>
    <p:sldLayoutId id="2147484103" r:id="rId5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dirty="0">
          <a:solidFill>
            <a:schemeClr val="tx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18288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2000" kern="1200" dirty="0">
          <a:solidFill>
            <a:schemeClr val="tx1"/>
          </a:solidFill>
          <a:latin typeface="+mn-lt"/>
          <a:ea typeface="Inter" panose="02000503000000020004" pitchFamily="2" charset="0"/>
          <a:cs typeface="CiscoSans"/>
        </a:defRPr>
      </a:lvl1pPr>
      <a:lvl2pPr marL="36576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1800" kern="1200" dirty="0">
          <a:solidFill>
            <a:schemeClr val="tx1"/>
          </a:solidFill>
          <a:latin typeface="+mn-lt"/>
          <a:ea typeface="Inter" panose="02000503000000020004" pitchFamily="2" charset="0"/>
          <a:cs typeface="CiscoSans"/>
        </a:defRPr>
      </a:lvl2pPr>
      <a:lvl3pPr marL="54864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1600" kern="1200" dirty="0">
          <a:solidFill>
            <a:schemeClr val="tx1"/>
          </a:solidFill>
          <a:latin typeface="+mn-lt"/>
          <a:ea typeface="Inter" panose="02000503000000020004" pitchFamily="2" charset="0"/>
          <a:cs typeface="CiscoSans"/>
        </a:defRPr>
      </a:lvl3pPr>
      <a:lvl4pPr marL="73152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1400" kern="1200" dirty="0">
          <a:solidFill>
            <a:schemeClr val="tx1"/>
          </a:solidFill>
          <a:latin typeface="+mn-lt"/>
          <a:ea typeface="Inter" panose="02000503000000020004" pitchFamily="2" charset="0"/>
          <a:cs typeface="CiscoSans"/>
        </a:defRPr>
      </a:lvl4pPr>
      <a:lvl5pPr marL="91440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1200" kern="1200" dirty="0">
          <a:solidFill>
            <a:schemeClr val="tx1"/>
          </a:solidFill>
          <a:latin typeface="+mn-lt"/>
          <a:ea typeface="Inter" panose="02000503000000020004" pitchFamily="2"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1" orient="horz" pos="2160">
          <p15:clr>
            <a:srgbClr val="F26B43"/>
          </p15:clr>
        </p15:guide>
        <p15:guide id="126" pos="204" userDrawn="1">
          <p15:clr>
            <a:srgbClr val="F26B43"/>
          </p15:clr>
        </p15:guide>
        <p15:guide id="127" pos="7476" userDrawn="1">
          <p15:clr>
            <a:srgbClr val="F26B43"/>
          </p15:clr>
        </p15:guide>
        <p15:guide id="128" pos="3840" userDrawn="1">
          <p15:clr>
            <a:srgbClr val="F26B43"/>
          </p15:clr>
        </p15:guide>
        <p15:guide id="129" orient="horz" pos="3827" userDrawn="1">
          <p15:clr>
            <a:srgbClr val="9FCC3B"/>
          </p15:clr>
        </p15:guide>
        <p15:guide id="130" orient="horz" pos="202" userDrawn="1">
          <p15:clr>
            <a:srgbClr val="F26B43"/>
          </p15:clr>
        </p15:guide>
        <p15:guide id="131" orient="horz" pos="392" userDrawn="1">
          <p15:clr>
            <a:srgbClr val="A4A3A4"/>
          </p15:clr>
        </p15:guide>
        <p15:guide id="132" orient="horz" pos="2552" userDrawn="1">
          <p15:clr>
            <a:srgbClr val="A4A3A4"/>
          </p15:clr>
        </p15:guide>
        <p15:guide id="133" orient="horz" pos="600" userDrawn="1">
          <p15:clr>
            <a:srgbClr val="A4A3A4"/>
          </p15:clr>
        </p15:guide>
        <p15:guide id="134" orient="horz" pos="1766" userDrawn="1">
          <p15:clr>
            <a:srgbClr val="A4A3A4"/>
          </p15:clr>
        </p15:guide>
        <p15:guide id="135" orient="horz" pos="2355" userDrawn="1">
          <p15:clr>
            <a:srgbClr val="A4A3A4"/>
          </p15:clr>
        </p15:guide>
        <p15:guide id="136" orient="horz" pos="4118" userDrawn="1">
          <p15:clr>
            <a:srgbClr val="F26B43"/>
          </p15:clr>
        </p15:guide>
        <p15:guide id="137" orient="horz" pos="1178" userDrawn="1">
          <p15:clr>
            <a:srgbClr val="A4A3A4"/>
          </p15:clr>
        </p15:guide>
        <p15:guide id="138" orient="horz" pos="1374" userDrawn="1">
          <p15:clr>
            <a:srgbClr val="A4A3A4"/>
          </p15:clr>
        </p15:guide>
        <p15:guide id="139" orient="horz" pos="1570" userDrawn="1">
          <p15:clr>
            <a:srgbClr val="A4A3A4"/>
          </p15:clr>
        </p15:guide>
        <p15:guide id="140" pos="703" userDrawn="1">
          <p15:clr>
            <a:srgbClr val="A4A3A4"/>
          </p15:clr>
        </p15:guide>
        <p15:guide id="141" pos="820" userDrawn="1">
          <p15:clr>
            <a:srgbClr val="A4A3A4"/>
          </p15:clr>
        </p15:guide>
        <p15:guide id="142" pos="1321" userDrawn="1">
          <p15:clr>
            <a:srgbClr val="A4A3A4"/>
          </p15:clr>
        </p15:guide>
        <p15:guide id="143" pos="1435" userDrawn="1">
          <p15:clr>
            <a:srgbClr val="A4A3A4"/>
          </p15:clr>
        </p15:guide>
        <p15:guide id="144" pos="1936" userDrawn="1">
          <p15:clr>
            <a:srgbClr val="A4A3A4"/>
          </p15:clr>
        </p15:guide>
        <p15:guide id="145" pos="2051" userDrawn="1">
          <p15:clr>
            <a:srgbClr val="A4A3A4"/>
          </p15:clr>
        </p15:guide>
        <p15:guide id="146" pos="2551" userDrawn="1">
          <p15:clr>
            <a:srgbClr val="A4A3A4"/>
          </p15:clr>
        </p15:guide>
        <p15:guide id="147" pos="2665" userDrawn="1">
          <p15:clr>
            <a:srgbClr val="A4A3A4"/>
          </p15:clr>
        </p15:guide>
        <p15:guide id="148" pos="3167" userDrawn="1">
          <p15:clr>
            <a:srgbClr val="A4A3A4"/>
          </p15:clr>
        </p15:guide>
        <p15:guide id="149" pos="3281" userDrawn="1">
          <p15:clr>
            <a:srgbClr val="A4A3A4"/>
          </p15:clr>
        </p15:guide>
        <p15:guide id="150" pos="3783" userDrawn="1">
          <p15:clr>
            <a:srgbClr val="A4A3A4"/>
          </p15:clr>
        </p15:guide>
        <p15:guide id="151" pos="3896" userDrawn="1">
          <p15:clr>
            <a:srgbClr val="A4A3A4"/>
          </p15:clr>
        </p15:guide>
        <p15:guide id="152" pos="4397" userDrawn="1">
          <p15:clr>
            <a:srgbClr val="A4A3A4"/>
          </p15:clr>
        </p15:guide>
        <p15:guide id="153" pos="4512" userDrawn="1">
          <p15:clr>
            <a:srgbClr val="A4A3A4"/>
          </p15:clr>
        </p15:guide>
        <p15:guide id="154" pos="5013" userDrawn="1">
          <p15:clr>
            <a:srgbClr val="A4A3A4"/>
          </p15:clr>
        </p15:guide>
        <p15:guide id="155" pos="5128" userDrawn="1">
          <p15:clr>
            <a:srgbClr val="A4A3A4"/>
          </p15:clr>
        </p15:guide>
        <p15:guide id="156" pos="5629" userDrawn="1">
          <p15:clr>
            <a:srgbClr val="A4A3A4"/>
          </p15:clr>
        </p15:guide>
        <p15:guide id="157" pos="5742" userDrawn="1">
          <p15:clr>
            <a:srgbClr val="A4A3A4"/>
          </p15:clr>
        </p15:guide>
        <p15:guide id="158" pos="6244" userDrawn="1">
          <p15:clr>
            <a:srgbClr val="A4A3A4"/>
          </p15:clr>
        </p15:guide>
        <p15:guide id="159" pos="6359" userDrawn="1">
          <p15:clr>
            <a:srgbClr val="A4A3A4"/>
          </p15:clr>
        </p15:guide>
        <p15:guide id="160" pos="6859" userDrawn="1">
          <p15:clr>
            <a:srgbClr val="A4A3A4"/>
          </p15:clr>
        </p15:guide>
        <p15:guide id="161" pos="6975" userDrawn="1">
          <p15:clr>
            <a:srgbClr val="A4A3A4"/>
          </p15:clr>
        </p15:guide>
        <p15:guide id="162" orient="horz" pos="784" userDrawn="1">
          <p15:clr>
            <a:srgbClr val="A4A3A4"/>
          </p15:clr>
        </p15:guide>
        <p15:guide id="163" orient="horz" pos="980" userDrawn="1">
          <p15:clr>
            <a:srgbClr val="A4A3A4"/>
          </p15:clr>
        </p15:guide>
        <p15:guide id="164" orient="horz" pos="1962" userDrawn="1">
          <p15:clr>
            <a:srgbClr val="A4A3A4"/>
          </p15:clr>
        </p15:guide>
        <p15:guide id="165" orient="horz" pos="2747" userDrawn="1">
          <p15:clr>
            <a:srgbClr val="A4A3A4"/>
          </p15:clr>
        </p15:guide>
        <p15:guide id="166" orient="horz" pos="2945" userDrawn="1">
          <p15:clr>
            <a:srgbClr val="A4A3A4"/>
          </p15:clr>
        </p15:guide>
        <p15:guide id="167" orient="horz" pos="3141" userDrawn="1">
          <p15:clr>
            <a:srgbClr val="A4A3A4"/>
          </p15:clr>
        </p15:guide>
        <p15:guide id="168" orient="horz" pos="3337" userDrawn="1">
          <p15:clr>
            <a:srgbClr val="A4A3A4"/>
          </p15:clr>
        </p15:guide>
        <p15:guide id="169" orient="horz" pos="3535" userDrawn="1">
          <p15:clr>
            <a:srgbClr val="A4A3A4"/>
          </p15:clr>
        </p15:guide>
        <p15:guide id="170" orient="horz" pos="3730" userDrawn="1">
          <p15:clr>
            <a:srgbClr val="A4A3A4"/>
          </p15:clr>
        </p15:guide>
        <p15:guide id="171" orient="horz" pos="3936" userDrawn="1">
          <p15:clr>
            <a:srgbClr val="A4A3A4"/>
          </p15:clr>
        </p15:guide>
        <p15:guide id="172" orient="horz" pos="187" userDrawn="1">
          <p15:clr>
            <a:srgbClr val="9FCC3B"/>
          </p15:clr>
        </p15:guide>
        <p15:guide id="173" pos="455" userDrawn="1">
          <p15:clr>
            <a:srgbClr val="9FCC3B"/>
          </p15:clr>
        </p15:guide>
        <p15:guide id="174" pos="1069" userDrawn="1">
          <p15:clr>
            <a:srgbClr val="9FCC3B"/>
          </p15:clr>
        </p15:guide>
        <p15:guide id="175" pos="1685" userDrawn="1">
          <p15:clr>
            <a:srgbClr val="9FCC3B"/>
          </p15:clr>
        </p15:guide>
        <p15:guide id="176" pos="2301" userDrawn="1">
          <p15:clr>
            <a:srgbClr val="9FCC3B"/>
          </p15:clr>
        </p15:guide>
        <p15:guide id="177" pos="2915" userDrawn="1">
          <p15:clr>
            <a:srgbClr val="9FCC3B"/>
          </p15:clr>
        </p15:guide>
        <p15:guide id="178" pos="3531" userDrawn="1">
          <p15:clr>
            <a:srgbClr val="9FCC3B"/>
          </p15:clr>
        </p15:guide>
        <p15:guide id="179" pos="4146" userDrawn="1">
          <p15:clr>
            <a:srgbClr val="9FCC3B"/>
          </p15:clr>
        </p15:guide>
        <p15:guide id="180" pos="4762" userDrawn="1">
          <p15:clr>
            <a:srgbClr val="9FCC3B"/>
          </p15:clr>
        </p15:guide>
        <p15:guide id="181" pos="5378" userDrawn="1">
          <p15:clr>
            <a:srgbClr val="9FCC3B"/>
          </p15:clr>
        </p15:guide>
        <p15:guide id="182" pos="5992" userDrawn="1">
          <p15:clr>
            <a:srgbClr val="9FCC3B"/>
          </p15:clr>
        </p15:guide>
        <p15:guide id="183" pos="6609" userDrawn="1">
          <p15:clr>
            <a:srgbClr val="9FCC3B"/>
          </p15:clr>
        </p15:guide>
        <p15:guide id="184" pos="7225"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42.xml"/><Relationship Id="rId4" Type="http://schemas.openxmlformats.org/officeDocument/2006/relationships/image" Target="../media/image14.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A48FA-75AB-E27F-1EFC-244EC2E2A565}"/>
              </a:ext>
            </a:extLst>
          </p:cNvPr>
          <p:cNvSpPr>
            <a:spLocks noGrp="1"/>
          </p:cNvSpPr>
          <p:nvPr>
            <p:ph type="title"/>
          </p:nvPr>
        </p:nvSpPr>
        <p:spPr>
          <a:xfrm>
            <a:off x="5746750" y="1631745"/>
            <a:ext cx="5878513" cy="1554163"/>
          </a:xfrm>
        </p:spPr>
        <p:txBody>
          <a:bodyPr/>
          <a:lstStyle/>
          <a:p>
            <a:r>
              <a:rPr lang="en-US" sz="2800" dirty="0"/>
              <a:t>The other AI: </a:t>
            </a:r>
            <a:br>
              <a:rPr lang="en-US" sz="2800" dirty="0"/>
            </a:br>
            <a:r>
              <a:rPr lang="en-US" sz="2800" dirty="0"/>
              <a:t>Assets and Identity. </a:t>
            </a:r>
            <a:br>
              <a:rPr lang="en-US" sz="2800" dirty="0"/>
            </a:br>
            <a:r>
              <a:rPr lang="en-US" sz="2800" dirty="0"/>
              <a:t>Using Splunk to keep in check</a:t>
            </a:r>
          </a:p>
        </p:txBody>
      </p:sp>
      <p:sp>
        <p:nvSpPr>
          <p:cNvPr id="3" name="Text Placeholder 2">
            <a:extLst>
              <a:ext uri="{FF2B5EF4-FFF2-40B4-BE49-F238E27FC236}">
                <a16:creationId xmlns:a16="http://schemas.microsoft.com/office/drawing/2014/main" id="{8E05B4C7-2B14-68F2-B1C7-DD5BAADCA56A}"/>
              </a:ext>
            </a:extLst>
          </p:cNvPr>
          <p:cNvSpPr>
            <a:spLocks noGrp="1"/>
          </p:cNvSpPr>
          <p:nvPr>
            <p:ph type="body" sz="quarter" idx="13"/>
          </p:nvPr>
        </p:nvSpPr>
        <p:spPr>
          <a:xfrm>
            <a:off x="5746750" y="3277983"/>
            <a:ext cx="5878513" cy="223837"/>
          </a:xfrm>
        </p:spPr>
        <p:txBody>
          <a:bodyPr/>
          <a:lstStyle/>
          <a:p>
            <a:r>
              <a:rPr lang="en-US" dirty="0"/>
              <a:t>SEC1053</a:t>
            </a:r>
          </a:p>
        </p:txBody>
      </p:sp>
      <p:sp>
        <p:nvSpPr>
          <p:cNvPr id="4" name="Text Placeholder 3">
            <a:extLst>
              <a:ext uri="{FF2B5EF4-FFF2-40B4-BE49-F238E27FC236}">
                <a16:creationId xmlns:a16="http://schemas.microsoft.com/office/drawing/2014/main" id="{14C9ACB8-FAE7-6FB5-5312-728824A09103}"/>
              </a:ext>
            </a:extLst>
          </p:cNvPr>
          <p:cNvSpPr>
            <a:spLocks noGrp="1"/>
          </p:cNvSpPr>
          <p:nvPr>
            <p:ph type="body" sz="quarter" idx="11"/>
          </p:nvPr>
        </p:nvSpPr>
        <p:spPr>
          <a:xfrm>
            <a:off x="5746750" y="3811383"/>
            <a:ext cx="3725863" cy="457200"/>
          </a:xfrm>
        </p:spPr>
        <p:txBody>
          <a:bodyPr/>
          <a:lstStyle/>
          <a:p>
            <a:pPr lvl="0"/>
            <a:r>
              <a:rPr lang="en-US" dirty="0"/>
              <a:t>David Pollard</a:t>
            </a:r>
          </a:p>
          <a:p>
            <a:pPr lvl="0"/>
            <a:r>
              <a:rPr lang="en-US" dirty="0"/>
              <a:t>Unshakeable Salt Ltd,  @UnshakeableSalt</a:t>
            </a:r>
          </a:p>
        </p:txBody>
      </p:sp>
      <p:pic>
        <p:nvPicPr>
          <p:cNvPr id="11" name="Picture Placeholder 10">
            <a:extLst>
              <a:ext uri="{FF2B5EF4-FFF2-40B4-BE49-F238E27FC236}">
                <a16:creationId xmlns:a16="http://schemas.microsoft.com/office/drawing/2014/main" id="{F1DAC677-96FB-1B92-A17F-FE4D8527D403}"/>
              </a:ext>
            </a:extLst>
          </p:cNvPr>
          <p:cNvPicPr>
            <a:picLocks noGrp="1" noChangeAspect="1"/>
          </p:cNvPicPr>
          <p:nvPr>
            <p:ph type="pic" sz="quarter" idx="19"/>
          </p:nvPr>
        </p:nvPicPr>
        <p:blipFill>
          <a:blip r:embed="rId3">
            <a:extLst>
              <a:ext uri="{28A0092B-C50C-407E-A947-70E740481C1C}">
                <a14:useLocalDpi xmlns:a14="http://schemas.microsoft.com/office/drawing/2010/main" val="0"/>
              </a:ext>
            </a:extLst>
          </a:blip>
          <a:srcRect t="1304" b="1304"/>
          <a:stretch/>
        </p:blipFill>
        <p:spPr>
          <a:xfrm>
            <a:off x="856903" y="1514518"/>
            <a:ext cx="3725864" cy="3628710"/>
          </a:xfrm>
        </p:spPr>
      </p:pic>
    </p:spTree>
    <p:extLst>
      <p:ext uri="{BB962C8B-B14F-4D97-AF65-F5344CB8AC3E}">
        <p14:creationId xmlns:p14="http://schemas.microsoft.com/office/powerpoint/2010/main" val="3577713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A3352-CC2B-854C-1376-1C658C1EB2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4504887-5523-EEDF-6CF2-8F044BD78BFE}"/>
              </a:ext>
            </a:extLst>
          </p:cNvPr>
          <p:cNvSpPr>
            <a:spLocks noGrp="1"/>
          </p:cNvSpPr>
          <p:nvPr>
            <p:ph type="title"/>
          </p:nvPr>
        </p:nvSpPr>
        <p:spPr/>
        <p:txBody>
          <a:bodyPr/>
          <a:lstStyle/>
          <a:p>
            <a:r>
              <a:rPr lang="en-US" sz="2800" dirty="0"/>
              <a:t>The other AI: Assets and Identity. Using Splunk to keep in check</a:t>
            </a:r>
          </a:p>
        </p:txBody>
      </p:sp>
      <p:sp>
        <p:nvSpPr>
          <p:cNvPr id="31" name="Freeform 101" descr="Icon of two people talking representing &quot;Advisory&quot;">
            <a:extLst>
              <a:ext uri="{FF2B5EF4-FFF2-40B4-BE49-F238E27FC236}">
                <a16:creationId xmlns:a16="http://schemas.microsoft.com/office/drawing/2014/main" id="{373F9DA5-F67C-A5D0-C7B1-C683BF718FE0}"/>
              </a:ext>
            </a:extLst>
          </p:cNvPr>
          <p:cNvSpPr>
            <a:spLocks noChangeAspect="1"/>
          </p:cNvSpPr>
          <p:nvPr/>
        </p:nvSpPr>
        <p:spPr>
          <a:xfrm>
            <a:off x="1268912" y="3399541"/>
            <a:ext cx="448808" cy="457200"/>
          </a:xfrm>
          <a:custGeom>
            <a:avLst/>
            <a:gdLst>
              <a:gd name="connsiteX0" fmla="*/ 381762 w 585787"/>
              <a:gd name="connsiteY0" fmla="*/ 339566 h 596741"/>
              <a:gd name="connsiteX1" fmla="*/ 454724 w 585787"/>
              <a:gd name="connsiteY1" fmla="*/ 413385 h 596741"/>
              <a:gd name="connsiteX2" fmla="*/ 527685 w 585787"/>
              <a:gd name="connsiteY2" fmla="*/ 339566 h 596741"/>
              <a:gd name="connsiteX3" fmla="*/ 454724 w 585787"/>
              <a:gd name="connsiteY3" fmla="*/ 265748 h 596741"/>
              <a:gd name="connsiteX4" fmla="*/ 381762 w 585787"/>
              <a:gd name="connsiteY4" fmla="*/ 339566 h 596741"/>
              <a:gd name="connsiteX5" fmla="*/ 513493 w 585787"/>
              <a:gd name="connsiteY5" fmla="*/ 339566 h 596741"/>
              <a:gd name="connsiteX6" fmla="*/ 454819 w 585787"/>
              <a:gd name="connsiteY6" fmla="*/ 399098 h 596741"/>
              <a:gd name="connsiteX7" fmla="*/ 396145 w 585787"/>
              <a:gd name="connsiteY7" fmla="*/ 339566 h 596741"/>
              <a:gd name="connsiteX8" fmla="*/ 454819 w 585787"/>
              <a:gd name="connsiteY8" fmla="*/ 280035 h 596741"/>
              <a:gd name="connsiteX9" fmla="*/ 513493 w 585787"/>
              <a:gd name="connsiteY9" fmla="*/ 339566 h 596741"/>
              <a:gd name="connsiteX10" fmla="*/ 571500 w 585787"/>
              <a:gd name="connsiteY10" fmla="*/ 596741 h 596741"/>
              <a:gd name="connsiteX11" fmla="*/ 571500 w 585787"/>
              <a:gd name="connsiteY11" fmla="*/ 501491 h 596741"/>
              <a:gd name="connsiteX12" fmla="*/ 516731 w 585787"/>
              <a:gd name="connsiteY12" fmla="*/ 451485 h 596741"/>
              <a:gd name="connsiteX13" fmla="*/ 392906 w 585787"/>
              <a:gd name="connsiteY13" fmla="*/ 451485 h 596741"/>
              <a:gd name="connsiteX14" fmla="*/ 338137 w 585787"/>
              <a:gd name="connsiteY14" fmla="*/ 501491 h 596741"/>
              <a:gd name="connsiteX15" fmla="*/ 338137 w 585787"/>
              <a:gd name="connsiteY15" fmla="*/ 596741 h 596741"/>
              <a:gd name="connsiteX16" fmla="*/ 323850 w 585787"/>
              <a:gd name="connsiteY16" fmla="*/ 596741 h 596741"/>
              <a:gd name="connsiteX17" fmla="*/ 323850 w 585787"/>
              <a:gd name="connsiteY17" fmla="*/ 501491 h 596741"/>
              <a:gd name="connsiteX18" fmla="*/ 392906 w 585787"/>
              <a:gd name="connsiteY18" fmla="*/ 437198 h 596741"/>
              <a:gd name="connsiteX19" fmla="*/ 516731 w 585787"/>
              <a:gd name="connsiteY19" fmla="*/ 437198 h 596741"/>
              <a:gd name="connsiteX20" fmla="*/ 585788 w 585787"/>
              <a:gd name="connsiteY20" fmla="*/ 501491 h 596741"/>
              <a:gd name="connsiteX21" fmla="*/ 585788 w 585787"/>
              <a:gd name="connsiteY21" fmla="*/ 596741 h 596741"/>
              <a:gd name="connsiteX22" fmla="*/ 571500 w 585787"/>
              <a:gd name="connsiteY22" fmla="*/ 596741 h 596741"/>
              <a:gd name="connsiteX23" fmla="*/ 130969 w 585787"/>
              <a:gd name="connsiteY23" fmla="*/ 413385 h 596741"/>
              <a:gd name="connsiteX24" fmla="*/ 203930 w 585787"/>
              <a:gd name="connsiteY24" fmla="*/ 339566 h 596741"/>
              <a:gd name="connsiteX25" fmla="*/ 130969 w 585787"/>
              <a:gd name="connsiteY25" fmla="*/ 265748 h 596741"/>
              <a:gd name="connsiteX26" fmla="*/ 58007 w 585787"/>
              <a:gd name="connsiteY26" fmla="*/ 339566 h 596741"/>
              <a:gd name="connsiteX27" fmla="*/ 130969 w 585787"/>
              <a:gd name="connsiteY27" fmla="*/ 413385 h 596741"/>
              <a:gd name="connsiteX28" fmla="*/ 130969 w 585787"/>
              <a:gd name="connsiteY28" fmla="*/ 280035 h 596741"/>
              <a:gd name="connsiteX29" fmla="*/ 189643 w 585787"/>
              <a:gd name="connsiteY29" fmla="*/ 339566 h 596741"/>
              <a:gd name="connsiteX30" fmla="*/ 130969 w 585787"/>
              <a:gd name="connsiteY30" fmla="*/ 399098 h 596741"/>
              <a:gd name="connsiteX31" fmla="*/ 72295 w 585787"/>
              <a:gd name="connsiteY31" fmla="*/ 339566 h 596741"/>
              <a:gd name="connsiteX32" fmla="*/ 130969 w 585787"/>
              <a:gd name="connsiteY32" fmla="*/ 280035 h 596741"/>
              <a:gd name="connsiteX33" fmla="*/ 14288 w 585787"/>
              <a:gd name="connsiteY33" fmla="*/ 596741 h 596741"/>
              <a:gd name="connsiteX34" fmla="*/ 0 w 585787"/>
              <a:gd name="connsiteY34" fmla="*/ 596741 h 596741"/>
              <a:gd name="connsiteX35" fmla="*/ 0 w 585787"/>
              <a:gd name="connsiteY35" fmla="*/ 501491 h 596741"/>
              <a:gd name="connsiteX36" fmla="*/ 69056 w 585787"/>
              <a:gd name="connsiteY36" fmla="*/ 437198 h 596741"/>
              <a:gd name="connsiteX37" fmla="*/ 192881 w 585787"/>
              <a:gd name="connsiteY37" fmla="*/ 437198 h 596741"/>
              <a:gd name="connsiteX38" fmla="*/ 261937 w 585787"/>
              <a:gd name="connsiteY38" fmla="*/ 501491 h 596741"/>
              <a:gd name="connsiteX39" fmla="*/ 261937 w 585787"/>
              <a:gd name="connsiteY39" fmla="*/ 596741 h 596741"/>
              <a:gd name="connsiteX40" fmla="*/ 247650 w 585787"/>
              <a:gd name="connsiteY40" fmla="*/ 596741 h 596741"/>
              <a:gd name="connsiteX41" fmla="*/ 247650 w 585787"/>
              <a:gd name="connsiteY41" fmla="*/ 501491 h 596741"/>
              <a:gd name="connsiteX42" fmla="*/ 192881 w 585787"/>
              <a:gd name="connsiteY42" fmla="*/ 451485 h 596741"/>
              <a:gd name="connsiteX43" fmla="*/ 69056 w 585787"/>
              <a:gd name="connsiteY43" fmla="*/ 451485 h 596741"/>
              <a:gd name="connsiteX44" fmla="*/ 14288 w 585787"/>
              <a:gd name="connsiteY44" fmla="*/ 501491 h 596741"/>
              <a:gd name="connsiteX45" fmla="*/ 14288 w 585787"/>
              <a:gd name="connsiteY45" fmla="*/ 596741 h 596741"/>
              <a:gd name="connsiteX46" fmla="*/ 213931 w 585787"/>
              <a:gd name="connsiteY46" fmla="*/ 259461 h 596741"/>
              <a:gd name="connsiteX47" fmla="*/ 216694 w 585787"/>
              <a:gd name="connsiteY47" fmla="*/ 260128 h 596741"/>
              <a:gd name="connsiteX48" fmla="*/ 220504 w 585787"/>
              <a:gd name="connsiteY48" fmla="*/ 258889 h 596741"/>
              <a:gd name="connsiteX49" fmla="*/ 294989 w 585787"/>
              <a:gd name="connsiteY49" fmla="*/ 202978 h 596741"/>
              <a:gd name="connsiteX50" fmla="*/ 403003 w 585787"/>
              <a:gd name="connsiteY50" fmla="*/ 202978 h 596741"/>
              <a:gd name="connsiteX51" fmla="*/ 451580 w 585787"/>
              <a:gd name="connsiteY51" fmla="*/ 157067 h 596741"/>
              <a:gd name="connsiteX52" fmla="*/ 451580 w 585787"/>
              <a:gd name="connsiteY52" fmla="*/ 45910 h 596741"/>
              <a:gd name="connsiteX53" fmla="*/ 403003 w 585787"/>
              <a:gd name="connsiteY53" fmla="*/ 0 h 596741"/>
              <a:gd name="connsiteX54" fmla="*/ 182880 w 585787"/>
              <a:gd name="connsiteY54" fmla="*/ 0 h 596741"/>
              <a:gd name="connsiteX55" fmla="*/ 134303 w 585787"/>
              <a:gd name="connsiteY55" fmla="*/ 45910 h 596741"/>
              <a:gd name="connsiteX56" fmla="*/ 134303 w 585787"/>
              <a:gd name="connsiteY56" fmla="*/ 157067 h 596741"/>
              <a:gd name="connsiteX57" fmla="*/ 182880 w 585787"/>
              <a:gd name="connsiteY57" fmla="*/ 202978 h 596741"/>
              <a:gd name="connsiteX58" fmla="*/ 210503 w 585787"/>
              <a:gd name="connsiteY58" fmla="*/ 202978 h 596741"/>
              <a:gd name="connsiteX59" fmla="*/ 210503 w 585787"/>
              <a:gd name="connsiteY59" fmla="*/ 253841 h 596741"/>
              <a:gd name="connsiteX60" fmla="*/ 213931 w 585787"/>
              <a:gd name="connsiteY60" fmla="*/ 259461 h 596741"/>
              <a:gd name="connsiteX61" fmla="*/ 182880 w 585787"/>
              <a:gd name="connsiteY61" fmla="*/ 190405 h 596741"/>
              <a:gd name="connsiteX62" fmla="*/ 146780 w 585787"/>
              <a:gd name="connsiteY62" fmla="*/ 156972 h 596741"/>
              <a:gd name="connsiteX63" fmla="*/ 146780 w 585787"/>
              <a:gd name="connsiteY63" fmla="*/ 45815 h 596741"/>
              <a:gd name="connsiteX64" fmla="*/ 182880 w 585787"/>
              <a:gd name="connsiteY64" fmla="*/ 12382 h 596741"/>
              <a:gd name="connsiteX65" fmla="*/ 403003 w 585787"/>
              <a:gd name="connsiteY65" fmla="*/ 12382 h 596741"/>
              <a:gd name="connsiteX66" fmla="*/ 439103 w 585787"/>
              <a:gd name="connsiteY66" fmla="*/ 45815 h 596741"/>
              <a:gd name="connsiteX67" fmla="*/ 439103 w 585787"/>
              <a:gd name="connsiteY67" fmla="*/ 156972 h 596741"/>
              <a:gd name="connsiteX68" fmla="*/ 403003 w 585787"/>
              <a:gd name="connsiteY68" fmla="*/ 190405 h 596741"/>
              <a:gd name="connsiteX69" fmla="*/ 292894 w 585787"/>
              <a:gd name="connsiteY69" fmla="*/ 190405 h 596741"/>
              <a:gd name="connsiteX70" fmla="*/ 289084 w 585787"/>
              <a:gd name="connsiteY70" fmla="*/ 191643 h 596741"/>
              <a:gd name="connsiteX71" fmla="*/ 222885 w 585787"/>
              <a:gd name="connsiteY71" fmla="*/ 241268 h 596741"/>
              <a:gd name="connsiteX72" fmla="*/ 222885 w 585787"/>
              <a:gd name="connsiteY72" fmla="*/ 196691 h 596741"/>
              <a:gd name="connsiteX73" fmla="*/ 216599 w 585787"/>
              <a:gd name="connsiteY73" fmla="*/ 190405 h 596741"/>
              <a:gd name="connsiteX74" fmla="*/ 182690 w 585787"/>
              <a:gd name="connsiteY74" fmla="*/ 190405 h 59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85787" h="596741">
                <a:moveTo>
                  <a:pt x="381762" y="339566"/>
                </a:moveTo>
                <a:cubicBezTo>
                  <a:pt x="381762" y="380238"/>
                  <a:pt x="414528" y="413385"/>
                  <a:pt x="454724" y="413385"/>
                </a:cubicBezTo>
                <a:cubicBezTo>
                  <a:pt x="494919" y="413385"/>
                  <a:pt x="527685" y="380238"/>
                  <a:pt x="527685" y="339566"/>
                </a:cubicBezTo>
                <a:cubicBezTo>
                  <a:pt x="527685" y="298895"/>
                  <a:pt x="494919" y="265748"/>
                  <a:pt x="454724" y="265748"/>
                </a:cubicBezTo>
                <a:cubicBezTo>
                  <a:pt x="414528" y="265748"/>
                  <a:pt x="381762" y="298895"/>
                  <a:pt x="381762" y="339566"/>
                </a:cubicBezTo>
                <a:close/>
                <a:moveTo>
                  <a:pt x="513493" y="339566"/>
                </a:moveTo>
                <a:cubicBezTo>
                  <a:pt x="513493" y="372428"/>
                  <a:pt x="487109" y="399098"/>
                  <a:pt x="454819" y="399098"/>
                </a:cubicBezTo>
                <a:cubicBezTo>
                  <a:pt x="422529" y="399098"/>
                  <a:pt x="396145" y="372428"/>
                  <a:pt x="396145" y="339566"/>
                </a:cubicBezTo>
                <a:cubicBezTo>
                  <a:pt x="396145" y="306705"/>
                  <a:pt x="422529" y="280035"/>
                  <a:pt x="454819" y="280035"/>
                </a:cubicBezTo>
                <a:cubicBezTo>
                  <a:pt x="487109" y="280035"/>
                  <a:pt x="513493" y="306705"/>
                  <a:pt x="513493" y="339566"/>
                </a:cubicBezTo>
                <a:close/>
                <a:moveTo>
                  <a:pt x="571500" y="596741"/>
                </a:moveTo>
                <a:lnTo>
                  <a:pt x="571500" y="501491"/>
                </a:lnTo>
                <a:cubicBezTo>
                  <a:pt x="571500" y="473869"/>
                  <a:pt x="546926" y="451485"/>
                  <a:pt x="516731" y="451485"/>
                </a:cubicBezTo>
                <a:lnTo>
                  <a:pt x="392906" y="451485"/>
                </a:lnTo>
                <a:cubicBezTo>
                  <a:pt x="362712" y="451485"/>
                  <a:pt x="338137" y="473869"/>
                  <a:pt x="338137" y="501491"/>
                </a:cubicBezTo>
                <a:lnTo>
                  <a:pt x="338137" y="596741"/>
                </a:lnTo>
                <a:lnTo>
                  <a:pt x="323850" y="596741"/>
                </a:lnTo>
                <a:lnTo>
                  <a:pt x="323850" y="501491"/>
                </a:lnTo>
                <a:cubicBezTo>
                  <a:pt x="323850" y="466058"/>
                  <a:pt x="354806" y="437198"/>
                  <a:pt x="392906" y="437198"/>
                </a:cubicBezTo>
                <a:lnTo>
                  <a:pt x="516731" y="437198"/>
                </a:lnTo>
                <a:cubicBezTo>
                  <a:pt x="554831" y="437198"/>
                  <a:pt x="585788" y="466058"/>
                  <a:pt x="585788" y="501491"/>
                </a:cubicBezTo>
                <a:lnTo>
                  <a:pt x="585788" y="596741"/>
                </a:lnTo>
                <a:lnTo>
                  <a:pt x="571500" y="596741"/>
                </a:lnTo>
                <a:close/>
                <a:moveTo>
                  <a:pt x="130969" y="413385"/>
                </a:moveTo>
                <a:cubicBezTo>
                  <a:pt x="171260" y="413385"/>
                  <a:pt x="203930" y="380238"/>
                  <a:pt x="203930" y="339566"/>
                </a:cubicBezTo>
                <a:cubicBezTo>
                  <a:pt x="203930" y="298895"/>
                  <a:pt x="171164" y="265748"/>
                  <a:pt x="130969" y="265748"/>
                </a:cubicBezTo>
                <a:cubicBezTo>
                  <a:pt x="90773" y="265748"/>
                  <a:pt x="58007" y="298895"/>
                  <a:pt x="58007" y="339566"/>
                </a:cubicBezTo>
                <a:cubicBezTo>
                  <a:pt x="58007" y="380238"/>
                  <a:pt x="90773" y="413385"/>
                  <a:pt x="130969" y="413385"/>
                </a:cubicBezTo>
                <a:close/>
                <a:moveTo>
                  <a:pt x="130969" y="280035"/>
                </a:moveTo>
                <a:cubicBezTo>
                  <a:pt x="163354" y="280035"/>
                  <a:pt x="189643" y="306705"/>
                  <a:pt x="189643" y="339566"/>
                </a:cubicBezTo>
                <a:cubicBezTo>
                  <a:pt x="189643" y="372428"/>
                  <a:pt x="163259" y="399098"/>
                  <a:pt x="130969" y="399098"/>
                </a:cubicBezTo>
                <a:cubicBezTo>
                  <a:pt x="98679" y="399098"/>
                  <a:pt x="72295" y="372428"/>
                  <a:pt x="72295" y="339566"/>
                </a:cubicBezTo>
                <a:cubicBezTo>
                  <a:pt x="72295" y="306705"/>
                  <a:pt x="98679" y="280035"/>
                  <a:pt x="130969" y="280035"/>
                </a:cubicBezTo>
                <a:close/>
                <a:moveTo>
                  <a:pt x="14288" y="596741"/>
                </a:moveTo>
                <a:lnTo>
                  <a:pt x="0" y="596741"/>
                </a:lnTo>
                <a:lnTo>
                  <a:pt x="0" y="501491"/>
                </a:lnTo>
                <a:cubicBezTo>
                  <a:pt x="0" y="466058"/>
                  <a:pt x="30956" y="437198"/>
                  <a:pt x="69056" y="437198"/>
                </a:cubicBezTo>
                <a:lnTo>
                  <a:pt x="192881" y="437198"/>
                </a:lnTo>
                <a:cubicBezTo>
                  <a:pt x="230981" y="437198"/>
                  <a:pt x="261937" y="466058"/>
                  <a:pt x="261937" y="501491"/>
                </a:cubicBezTo>
                <a:lnTo>
                  <a:pt x="261937" y="596741"/>
                </a:lnTo>
                <a:lnTo>
                  <a:pt x="247650" y="596741"/>
                </a:lnTo>
                <a:lnTo>
                  <a:pt x="247650" y="501491"/>
                </a:lnTo>
                <a:cubicBezTo>
                  <a:pt x="247650" y="473869"/>
                  <a:pt x="223076" y="451485"/>
                  <a:pt x="192881" y="451485"/>
                </a:cubicBezTo>
                <a:lnTo>
                  <a:pt x="69056" y="451485"/>
                </a:lnTo>
                <a:cubicBezTo>
                  <a:pt x="38862" y="451485"/>
                  <a:pt x="14288" y="473869"/>
                  <a:pt x="14288" y="501491"/>
                </a:cubicBezTo>
                <a:lnTo>
                  <a:pt x="14288" y="596741"/>
                </a:lnTo>
                <a:close/>
                <a:moveTo>
                  <a:pt x="213931" y="259461"/>
                </a:moveTo>
                <a:cubicBezTo>
                  <a:pt x="214789" y="259937"/>
                  <a:pt x="215741" y="260128"/>
                  <a:pt x="216694" y="260128"/>
                </a:cubicBezTo>
                <a:cubicBezTo>
                  <a:pt x="218027" y="260128"/>
                  <a:pt x="219361" y="259747"/>
                  <a:pt x="220504" y="258889"/>
                </a:cubicBezTo>
                <a:lnTo>
                  <a:pt x="294989" y="202978"/>
                </a:lnTo>
                <a:lnTo>
                  <a:pt x="403003" y="202978"/>
                </a:lnTo>
                <a:cubicBezTo>
                  <a:pt x="429768" y="202978"/>
                  <a:pt x="451580" y="182404"/>
                  <a:pt x="451580" y="157067"/>
                </a:cubicBezTo>
                <a:lnTo>
                  <a:pt x="451580" y="45910"/>
                </a:lnTo>
                <a:cubicBezTo>
                  <a:pt x="451580" y="20574"/>
                  <a:pt x="429768" y="0"/>
                  <a:pt x="403003" y="0"/>
                </a:cubicBezTo>
                <a:lnTo>
                  <a:pt x="182880" y="0"/>
                </a:lnTo>
                <a:cubicBezTo>
                  <a:pt x="156115" y="0"/>
                  <a:pt x="134303" y="20574"/>
                  <a:pt x="134303" y="45910"/>
                </a:cubicBezTo>
                <a:lnTo>
                  <a:pt x="134303" y="157067"/>
                </a:lnTo>
                <a:cubicBezTo>
                  <a:pt x="134303" y="182404"/>
                  <a:pt x="156115" y="202978"/>
                  <a:pt x="182880" y="202978"/>
                </a:cubicBezTo>
                <a:lnTo>
                  <a:pt x="210503" y="202978"/>
                </a:lnTo>
                <a:lnTo>
                  <a:pt x="210503" y="253841"/>
                </a:lnTo>
                <a:cubicBezTo>
                  <a:pt x="210503" y="256223"/>
                  <a:pt x="211836" y="258413"/>
                  <a:pt x="213931" y="259461"/>
                </a:cubicBezTo>
                <a:close/>
                <a:moveTo>
                  <a:pt x="182880" y="190405"/>
                </a:moveTo>
                <a:cubicBezTo>
                  <a:pt x="162973" y="190405"/>
                  <a:pt x="146780" y="175451"/>
                  <a:pt x="146780" y="156972"/>
                </a:cubicBezTo>
                <a:lnTo>
                  <a:pt x="146780" y="45815"/>
                </a:lnTo>
                <a:cubicBezTo>
                  <a:pt x="146780" y="27432"/>
                  <a:pt x="162973" y="12382"/>
                  <a:pt x="182880" y="12382"/>
                </a:cubicBezTo>
                <a:lnTo>
                  <a:pt x="403003" y="12382"/>
                </a:lnTo>
                <a:cubicBezTo>
                  <a:pt x="422910" y="12382"/>
                  <a:pt x="439103" y="27337"/>
                  <a:pt x="439103" y="45815"/>
                </a:cubicBezTo>
                <a:lnTo>
                  <a:pt x="439103" y="156972"/>
                </a:lnTo>
                <a:cubicBezTo>
                  <a:pt x="439103" y="175355"/>
                  <a:pt x="422910" y="190405"/>
                  <a:pt x="403003" y="190405"/>
                </a:cubicBezTo>
                <a:lnTo>
                  <a:pt x="292894" y="190405"/>
                </a:lnTo>
                <a:cubicBezTo>
                  <a:pt x="291560" y="190405"/>
                  <a:pt x="290227" y="190881"/>
                  <a:pt x="289084" y="191643"/>
                </a:cubicBezTo>
                <a:lnTo>
                  <a:pt x="222885" y="241268"/>
                </a:lnTo>
                <a:lnTo>
                  <a:pt x="222885" y="196691"/>
                </a:lnTo>
                <a:cubicBezTo>
                  <a:pt x="222885" y="193262"/>
                  <a:pt x="220123" y="190405"/>
                  <a:pt x="216599" y="190405"/>
                </a:cubicBezTo>
                <a:lnTo>
                  <a:pt x="182690" y="190405"/>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sp>
        <p:nvSpPr>
          <p:cNvPr id="9" name="TextBox 8">
            <a:extLst>
              <a:ext uri="{FF2B5EF4-FFF2-40B4-BE49-F238E27FC236}">
                <a16:creationId xmlns:a16="http://schemas.microsoft.com/office/drawing/2014/main" id="{790A4A17-81B4-79F1-A6D6-8361AF57294B}"/>
              </a:ext>
            </a:extLst>
          </p:cNvPr>
          <p:cNvSpPr txBox="1"/>
          <p:nvPr/>
        </p:nvSpPr>
        <p:spPr>
          <a:xfrm>
            <a:off x="1260525" y="4051547"/>
            <a:ext cx="2741481"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Takeaway #1</a:t>
            </a:r>
          </a:p>
        </p:txBody>
      </p:sp>
      <p:sp>
        <p:nvSpPr>
          <p:cNvPr id="8" name="TextBox 7">
            <a:extLst>
              <a:ext uri="{FF2B5EF4-FFF2-40B4-BE49-F238E27FC236}">
                <a16:creationId xmlns:a16="http://schemas.microsoft.com/office/drawing/2014/main" id="{F8795ACB-629B-BA89-D20F-3E0429951BE4}"/>
              </a:ext>
            </a:extLst>
          </p:cNvPr>
          <p:cNvSpPr txBox="1"/>
          <p:nvPr/>
        </p:nvSpPr>
        <p:spPr>
          <a:xfrm>
            <a:off x="1260524" y="4517618"/>
            <a:ext cx="2741482" cy="984885"/>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1600" dirty="0">
                <a:latin typeface="Inter" panose="02000503000000020004" pitchFamily="2" charset="0"/>
                <a:ea typeface="ＭＳ Ｐゴシック" charset="0"/>
              </a:rPr>
              <a:t>Learn how to use Splunk for continuous asset discovery and risk tracking across secure infrastructures.</a:t>
            </a:r>
            <a:endParaRPr lang="en-US" sz="1600" kern="1200" dirty="0">
              <a:latin typeface="Inter" panose="02000503000000020004" pitchFamily="2" charset="0"/>
              <a:ea typeface="ＭＳ Ｐゴシック" charset="0"/>
            </a:endParaRPr>
          </a:p>
        </p:txBody>
      </p:sp>
      <p:sp>
        <p:nvSpPr>
          <p:cNvPr id="29" name="Freeform 212" descr="Icon of a group of people's head in a circle  representing &quot;Collaboration&quot;">
            <a:extLst>
              <a:ext uri="{FF2B5EF4-FFF2-40B4-BE49-F238E27FC236}">
                <a16:creationId xmlns:a16="http://schemas.microsoft.com/office/drawing/2014/main" id="{D9DAC9F7-2388-CD33-CDB1-E03B9EB7AA17}"/>
              </a:ext>
            </a:extLst>
          </p:cNvPr>
          <p:cNvSpPr>
            <a:spLocks noChangeAspect="1"/>
          </p:cNvSpPr>
          <p:nvPr/>
        </p:nvSpPr>
        <p:spPr>
          <a:xfrm>
            <a:off x="4672548" y="3399541"/>
            <a:ext cx="457200" cy="457200"/>
          </a:xfrm>
          <a:custGeom>
            <a:avLst/>
            <a:gdLst>
              <a:gd name="connsiteX0" fmla="*/ 152400 w 609600"/>
              <a:gd name="connsiteY0" fmla="*/ 259556 h 609600"/>
              <a:gd name="connsiteX1" fmla="*/ 107156 w 609600"/>
              <a:gd name="connsiteY1" fmla="*/ 304800 h 609600"/>
              <a:gd name="connsiteX2" fmla="*/ 152400 w 609600"/>
              <a:gd name="connsiteY2" fmla="*/ 350044 h 609600"/>
              <a:gd name="connsiteX3" fmla="*/ 197644 w 609600"/>
              <a:gd name="connsiteY3" fmla="*/ 304800 h 609600"/>
              <a:gd name="connsiteX4" fmla="*/ 152400 w 609600"/>
              <a:gd name="connsiteY4" fmla="*/ 259556 h 609600"/>
              <a:gd name="connsiteX5" fmla="*/ 152400 w 609600"/>
              <a:gd name="connsiteY5" fmla="*/ 335756 h 609600"/>
              <a:gd name="connsiteX6" fmla="*/ 121444 w 609600"/>
              <a:gd name="connsiteY6" fmla="*/ 304800 h 609600"/>
              <a:gd name="connsiteX7" fmla="*/ 152400 w 609600"/>
              <a:gd name="connsiteY7" fmla="*/ 273844 h 609600"/>
              <a:gd name="connsiteX8" fmla="*/ 183356 w 609600"/>
              <a:gd name="connsiteY8" fmla="*/ 304800 h 609600"/>
              <a:gd name="connsiteX9" fmla="*/ 152400 w 609600"/>
              <a:gd name="connsiteY9" fmla="*/ 335756 h 609600"/>
              <a:gd name="connsiteX10" fmla="*/ 411956 w 609600"/>
              <a:gd name="connsiteY10" fmla="*/ 304800 h 609600"/>
              <a:gd name="connsiteX11" fmla="*/ 457200 w 609600"/>
              <a:gd name="connsiteY11" fmla="*/ 350044 h 609600"/>
              <a:gd name="connsiteX12" fmla="*/ 502444 w 609600"/>
              <a:gd name="connsiteY12" fmla="*/ 304800 h 609600"/>
              <a:gd name="connsiteX13" fmla="*/ 457200 w 609600"/>
              <a:gd name="connsiteY13" fmla="*/ 259556 h 609600"/>
              <a:gd name="connsiteX14" fmla="*/ 411956 w 609600"/>
              <a:gd name="connsiteY14" fmla="*/ 304800 h 609600"/>
              <a:gd name="connsiteX15" fmla="*/ 457200 w 609600"/>
              <a:gd name="connsiteY15" fmla="*/ 273844 h 609600"/>
              <a:gd name="connsiteX16" fmla="*/ 488156 w 609600"/>
              <a:gd name="connsiteY16" fmla="*/ 304800 h 609600"/>
              <a:gd name="connsiteX17" fmla="*/ 457200 w 609600"/>
              <a:gd name="connsiteY17" fmla="*/ 335756 h 609600"/>
              <a:gd name="connsiteX18" fmla="*/ 426244 w 609600"/>
              <a:gd name="connsiteY18" fmla="*/ 304800 h 609600"/>
              <a:gd name="connsiteX19" fmla="*/ 457200 w 609600"/>
              <a:gd name="connsiteY19" fmla="*/ 273844 h 609600"/>
              <a:gd name="connsiteX20" fmla="*/ 304800 w 609600"/>
              <a:gd name="connsiteY20" fmla="*/ 411956 h 609600"/>
              <a:gd name="connsiteX21" fmla="*/ 259556 w 609600"/>
              <a:gd name="connsiteY21" fmla="*/ 457200 h 609600"/>
              <a:gd name="connsiteX22" fmla="*/ 304800 w 609600"/>
              <a:gd name="connsiteY22" fmla="*/ 502444 h 609600"/>
              <a:gd name="connsiteX23" fmla="*/ 350044 w 609600"/>
              <a:gd name="connsiteY23" fmla="*/ 457200 h 609600"/>
              <a:gd name="connsiteX24" fmla="*/ 304800 w 609600"/>
              <a:gd name="connsiteY24" fmla="*/ 411956 h 609600"/>
              <a:gd name="connsiteX25" fmla="*/ 304800 w 609600"/>
              <a:gd name="connsiteY25" fmla="*/ 488156 h 609600"/>
              <a:gd name="connsiteX26" fmla="*/ 273844 w 609600"/>
              <a:gd name="connsiteY26" fmla="*/ 457200 h 609600"/>
              <a:gd name="connsiteX27" fmla="*/ 304800 w 609600"/>
              <a:gd name="connsiteY27" fmla="*/ 426244 h 609600"/>
              <a:gd name="connsiteX28" fmla="*/ 335756 w 609600"/>
              <a:gd name="connsiteY28" fmla="*/ 457200 h 609600"/>
              <a:gd name="connsiteX29" fmla="*/ 304800 w 609600"/>
              <a:gd name="connsiteY29" fmla="*/ 488156 h 609600"/>
              <a:gd name="connsiteX30" fmla="*/ 304800 w 609600"/>
              <a:gd name="connsiteY30" fmla="*/ 107156 h 609600"/>
              <a:gd name="connsiteX31" fmla="*/ 259556 w 609600"/>
              <a:gd name="connsiteY31" fmla="*/ 152400 h 609600"/>
              <a:gd name="connsiteX32" fmla="*/ 304800 w 609600"/>
              <a:gd name="connsiteY32" fmla="*/ 197644 h 609600"/>
              <a:gd name="connsiteX33" fmla="*/ 350044 w 609600"/>
              <a:gd name="connsiteY33" fmla="*/ 152400 h 609600"/>
              <a:gd name="connsiteX34" fmla="*/ 304800 w 609600"/>
              <a:gd name="connsiteY34" fmla="*/ 107156 h 609600"/>
              <a:gd name="connsiteX35" fmla="*/ 304800 w 609600"/>
              <a:gd name="connsiteY35" fmla="*/ 183356 h 609600"/>
              <a:gd name="connsiteX36" fmla="*/ 273844 w 609600"/>
              <a:gd name="connsiteY36" fmla="*/ 152400 h 609600"/>
              <a:gd name="connsiteX37" fmla="*/ 304800 w 609600"/>
              <a:gd name="connsiteY37" fmla="*/ 121444 h 609600"/>
              <a:gd name="connsiteX38" fmla="*/ 335756 w 609600"/>
              <a:gd name="connsiteY38" fmla="*/ 152400 h 609600"/>
              <a:gd name="connsiteX39" fmla="*/ 304800 w 609600"/>
              <a:gd name="connsiteY39" fmla="*/ 183356 h 609600"/>
              <a:gd name="connsiteX40" fmla="*/ 444532 w 609600"/>
              <a:gd name="connsiteY40" fmla="*/ 444532 h 609600"/>
              <a:gd name="connsiteX41" fmla="*/ 444532 w 609600"/>
              <a:gd name="connsiteY41" fmla="*/ 380524 h 609600"/>
              <a:gd name="connsiteX42" fmla="*/ 380524 w 609600"/>
              <a:gd name="connsiteY42" fmla="*/ 380524 h 609600"/>
              <a:gd name="connsiteX43" fmla="*/ 367284 w 609600"/>
              <a:gd name="connsiteY43" fmla="*/ 412528 h 609600"/>
              <a:gd name="connsiteX44" fmla="*/ 380524 w 609600"/>
              <a:gd name="connsiteY44" fmla="*/ 444532 h 609600"/>
              <a:gd name="connsiteX45" fmla="*/ 412528 w 609600"/>
              <a:gd name="connsiteY45" fmla="*/ 457772 h 609600"/>
              <a:gd name="connsiteX46" fmla="*/ 444532 w 609600"/>
              <a:gd name="connsiteY46" fmla="*/ 444532 h 609600"/>
              <a:gd name="connsiteX47" fmla="*/ 390620 w 609600"/>
              <a:gd name="connsiteY47" fmla="*/ 434435 h 609600"/>
              <a:gd name="connsiteX48" fmla="*/ 381572 w 609600"/>
              <a:gd name="connsiteY48" fmla="*/ 412528 h 609600"/>
              <a:gd name="connsiteX49" fmla="*/ 390620 w 609600"/>
              <a:gd name="connsiteY49" fmla="*/ 390620 h 609600"/>
              <a:gd name="connsiteX50" fmla="*/ 412528 w 609600"/>
              <a:gd name="connsiteY50" fmla="*/ 381572 h 609600"/>
              <a:gd name="connsiteX51" fmla="*/ 434435 w 609600"/>
              <a:gd name="connsiteY51" fmla="*/ 390620 h 609600"/>
              <a:gd name="connsiteX52" fmla="*/ 434435 w 609600"/>
              <a:gd name="connsiteY52" fmla="*/ 434435 h 609600"/>
              <a:gd name="connsiteX53" fmla="*/ 390620 w 609600"/>
              <a:gd name="connsiteY53" fmla="*/ 434435 h 609600"/>
              <a:gd name="connsiteX54" fmla="*/ 242221 w 609600"/>
              <a:gd name="connsiteY54" fmla="*/ 196977 h 609600"/>
              <a:gd name="connsiteX55" fmla="*/ 228981 w 609600"/>
              <a:gd name="connsiteY55" fmla="*/ 164973 h 609600"/>
              <a:gd name="connsiteX56" fmla="*/ 164973 w 609600"/>
              <a:gd name="connsiteY56" fmla="*/ 164973 h 609600"/>
              <a:gd name="connsiteX57" fmla="*/ 164973 w 609600"/>
              <a:gd name="connsiteY57" fmla="*/ 228981 h 609600"/>
              <a:gd name="connsiteX58" fmla="*/ 196977 w 609600"/>
              <a:gd name="connsiteY58" fmla="*/ 242221 h 609600"/>
              <a:gd name="connsiteX59" fmla="*/ 228981 w 609600"/>
              <a:gd name="connsiteY59" fmla="*/ 228981 h 609600"/>
              <a:gd name="connsiteX60" fmla="*/ 242221 w 609600"/>
              <a:gd name="connsiteY60" fmla="*/ 196977 h 609600"/>
              <a:gd name="connsiteX61" fmla="*/ 218885 w 609600"/>
              <a:gd name="connsiteY61" fmla="*/ 218885 h 609600"/>
              <a:gd name="connsiteX62" fmla="*/ 175069 w 609600"/>
              <a:gd name="connsiteY62" fmla="*/ 218885 h 609600"/>
              <a:gd name="connsiteX63" fmla="*/ 175069 w 609600"/>
              <a:gd name="connsiteY63" fmla="*/ 175069 h 609600"/>
              <a:gd name="connsiteX64" fmla="*/ 196977 w 609600"/>
              <a:gd name="connsiteY64" fmla="*/ 166021 h 609600"/>
              <a:gd name="connsiteX65" fmla="*/ 218885 w 609600"/>
              <a:gd name="connsiteY65" fmla="*/ 175069 h 609600"/>
              <a:gd name="connsiteX66" fmla="*/ 227933 w 609600"/>
              <a:gd name="connsiteY66" fmla="*/ 196977 h 609600"/>
              <a:gd name="connsiteX67" fmla="*/ 218885 w 609600"/>
              <a:gd name="connsiteY67" fmla="*/ 218885 h 609600"/>
              <a:gd name="connsiteX68" fmla="*/ 228981 w 609600"/>
              <a:gd name="connsiteY68" fmla="*/ 444532 h 609600"/>
              <a:gd name="connsiteX69" fmla="*/ 242221 w 609600"/>
              <a:gd name="connsiteY69" fmla="*/ 412528 h 609600"/>
              <a:gd name="connsiteX70" fmla="*/ 228981 w 609600"/>
              <a:gd name="connsiteY70" fmla="*/ 380524 h 609600"/>
              <a:gd name="connsiteX71" fmla="*/ 164973 w 609600"/>
              <a:gd name="connsiteY71" fmla="*/ 380524 h 609600"/>
              <a:gd name="connsiteX72" fmla="*/ 164973 w 609600"/>
              <a:gd name="connsiteY72" fmla="*/ 444532 h 609600"/>
              <a:gd name="connsiteX73" fmla="*/ 196977 w 609600"/>
              <a:gd name="connsiteY73" fmla="*/ 457772 h 609600"/>
              <a:gd name="connsiteX74" fmla="*/ 228981 w 609600"/>
              <a:gd name="connsiteY74" fmla="*/ 444532 h 609600"/>
              <a:gd name="connsiteX75" fmla="*/ 175069 w 609600"/>
              <a:gd name="connsiteY75" fmla="*/ 390620 h 609600"/>
              <a:gd name="connsiteX76" fmla="*/ 196977 w 609600"/>
              <a:gd name="connsiteY76" fmla="*/ 381572 h 609600"/>
              <a:gd name="connsiteX77" fmla="*/ 218885 w 609600"/>
              <a:gd name="connsiteY77" fmla="*/ 390620 h 609600"/>
              <a:gd name="connsiteX78" fmla="*/ 227933 w 609600"/>
              <a:gd name="connsiteY78" fmla="*/ 412528 h 609600"/>
              <a:gd name="connsiteX79" fmla="*/ 218885 w 609600"/>
              <a:gd name="connsiteY79" fmla="*/ 434435 h 609600"/>
              <a:gd name="connsiteX80" fmla="*/ 175069 w 609600"/>
              <a:gd name="connsiteY80" fmla="*/ 434435 h 609600"/>
              <a:gd name="connsiteX81" fmla="*/ 175069 w 609600"/>
              <a:gd name="connsiteY81" fmla="*/ 390620 h 609600"/>
              <a:gd name="connsiteX82" fmla="*/ 380524 w 609600"/>
              <a:gd name="connsiteY82" fmla="*/ 164973 h 609600"/>
              <a:gd name="connsiteX83" fmla="*/ 367284 w 609600"/>
              <a:gd name="connsiteY83" fmla="*/ 196977 h 609600"/>
              <a:gd name="connsiteX84" fmla="*/ 380524 w 609600"/>
              <a:gd name="connsiteY84" fmla="*/ 228981 h 609600"/>
              <a:gd name="connsiteX85" fmla="*/ 412528 w 609600"/>
              <a:gd name="connsiteY85" fmla="*/ 242221 h 609600"/>
              <a:gd name="connsiteX86" fmla="*/ 444532 w 609600"/>
              <a:gd name="connsiteY86" fmla="*/ 228981 h 609600"/>
              <a:gd name="connsiteX87" fmla="*/ 444532 w 609600"/>
              <a:gd name="connsiteY87" fmla="*/ 164973 h 609600"/>
              <a:gd name="connsiteX88" fmla="*/ 380524 w 609600"/>
              <a:gd name="connsiteY88" fmla="*/ 164973 h 609600"/>
              <a:gd name="connsiteX89" fmla="*/ 434435 w 609600"/>
              <a:gd name="connsiteY89" fmla="*/ 218885 h 609600"/>
              <a:gd name="connsiteX90" fmla="*/ 390620 w 609600"/>
              <a:gd name="connsiteY90" fmla="*/ 218885 h 609600"/>
              <a:gd name="connsiteX91" fmla="*/ 381572 w 609600"/>
              <a:gd name="connsiteY91" fmla="*/ 196977 h 609600"/>
              <a:gd name="connsiteX92" fmla="*/ 390620 w 609600"/>
              <a:gd name="connsiteY92" fmla="*/ 175069 h 609600"/>
              <a:gd name="connsiteX93" fmla="*/ 412528 w 609600"/>
              <a:gd name="connsiteY93" fmla="*/ 166021 h 609600"/>
              <a:gd name="connsiteX94" fmla="*/ 434435 w 609600"/>
              <a:gd name="connsiteY94" fmla="*/ 175069 h 609600"/>
              <a:gd name="connsiteX95" fmla="*/ 434435 w 609600"/>
              <a:gd name="connsiteY95" fmla="*/ 218885 h 609600"/>
              <a:gd name="connsiteX96" fmla="*/ 590550 w 609600"/>
              <a:gd name="connsiteY96" fmla="*/ 221456 h 609600"/>
              <a:gd name="connsiteX97" fmla="*/ 609600 w 609600"/>
              <a:gd name="connsiteY97" fmla="*/ 221456 h 609600"/>
              <a:gd name="connsiteX98" fmla="*/ 609600 w 609600"/>
              <a:gd name="connsiteY98" fmla="*/ 235744 h 609600"/>
              <a:gd name="connsiteX99" fmla="*/ 590550 w 609600"/>
              <a:gd name="connsiteY99" fmla="*/ 235744 h 609600"/>
              <a:gd name="connsiteX100" fmla="*/ 540544 w 609600"/>
              <a:gd name="connsiteY100" fmla="*/ 285750 h 609600"/>
              <a:gd name="connsiteX101" fmla="*/ 540544 w 609600"/>
              <a:gd name="connsiteY101" fmla="*/ 323850 h 609600"/>
              <a:gd name="connsiteX102" fmla="*/ 590550 w 609600"/>
              <a:gd name="connsiteY102" fmla="*/ 373856 h 609600"/>
              <a:gd name="connsiteX103" fmla="*/ 609600 w 609600"/>
              <a:gd name="connsiteY103" fmla="*/ 373856 h 609600"/>
              <a:gd name="connsiteX104" fmla="*/ 609600 w 609600"/>
              <a:gd name="connsiteY104" fmla="*/ 388144 h 609600"/>
              <a:gd name="connsiteX105" fmla="*/ 590550 w 609600"/>
              <a:gd name="connsiteY105" fmla="*/ 388144 h 609600"/>
              <a:gd name="connsiteX106" fmla="*/ 526256 w 609600"/>
              <a:gd name="connsiteY106" fmla="*/ 323850 h 609600"/>
              <a:gd name="connsiteX107" fmla="*/ 526256 w 609600"/>
              <a:gd name="connsiteY107" fmla="*/ 285750 h 609600"/>
              <a:gd name="connsiteX108" fmla="*/ 590550 w 609600"/>
              <a:gd name="connsiteY108" fmla="*/ 221456 h 609600"/>
              <a:gd name="connsiteX109" fmla="*/ 19050 w 609600"/>
              <a:gd name="connsiteY109" fmla="*/ 388144 h 609600"/>
              <a:gd name="connsiteX110" fmla="*/ 0 w 609600"/>
              <a:gd name="connsiteY110" fmla="*/ 388144 h 609600"/>
              <a:gd name="connsiteX111" fmla="*/ 0 w 609600"/>
              <a:gd name="connsiteY111" fmla="*/ 373856 h 609600"/>
              <a:gd name="connsiteX112" fmla="*/ 19050 w 609600"/>
              <a:gd name="connsiteY112" fmla="*/ 373856 h 609600"/>
              <a:gd name="connsiteX113" fmla="*/ 69056 w 609600"/>
              <a:gd name="connsiteY113" fmla="*/ 323850 h 609600"/>
              <a:gd name="connsiteX114" fmla="*/ 69056 w 609600"/>
              <a:gd name="connsiteY114" fmla="*/ 285750 h 609600"/>
              <a:gd name="connsiteX115" fmla="*/ 19050 w 609600"/>
              <a:gd name="connsiteY115" fmla="*/ 235744 h 609600"/>
              <a:gd name="connsiteX116" fmla="*/ 0 w 609600"/>
              <a:gd name="connsiteY116" fmla="*/ 235744 h 609600"/>
              <a:gd name="connsiteX117" fmla="*/ 0 w 609600"/>
              <a:gd name="connsiteY117" fmla="*/ 221456 h 609600"/>
              <a:gd name="connsiteX118" fmla="*/ 19050 w 609600"/>
              <a:gd name="connsiteY118" fmla="*/ 221456 h 609600"/>
              <a:gd name="connsiteX119" fmla="*/ 83344 w 609600"/>
              <a:gd name="connsiteY119" fmla="*/ 285750 h 609600"/>
              <a:gd name="connsiteX120" fmla="*/ 83344 w 609600"/>
              <a:gd name="connsiteY120" fmla="*/ 323850 h 609600"/>
              <a:gd name="connsiteX121" fmla="*/ 19050 w 609600"/>
              <a:gd name="connsiteY121" fmla="*/ 388144 h 609600"/>
              <a:gd name="connsiteX122" fmla="*/ 373856 w 609600"/>
              <a:gd name="connsiteY122" fmla="*/ 609600 h 609600"/>
              <a:gd name="connsiteX123" fmla="*/ 373856 w 609600"/>
              <a:gd name="connsiteY123" fmla="*/ 590550 h 609600"/>
              <a:gd name="connsiteX124" fmla="*/ 323850 w 609600"/>
              <a:gd name="connsiteY124" fmla="*/ 540544 h 609600"/>
              <a:gd name="connsiteX125" fmla="*/ 285750 w 609600"/>
              <a:gd name="connsiteY125" fmla="*/ 540544 h 609600"/>
              <a:gd name="connsiteX126" fmla="*/ 235744 w 609600"/>
              <a:gd name="connsiteY126" fmla="*/ 590550 h 609600"/>
              <a:gd name="connsiteX127" fmla="*/ 235744 w 609600"/>
              <a:gd name="connsiteY127" fmla="*/ 609600 h 609600"/>
              <a:gd name="connsiteX128" fmla="*/ 221456 w 609600"/>
              <a:gd name="connsiteY128" fmla="*/ 609600 h 609600"/>
              <a:gd name="connsiteX129" fmla="*/ 221456 w 609600"/>
              <a:gd name="connsiteY129" fmla="*/ 590550 h 609600"/>
              <a:gd name="connsiteX130" fmla="*/ 285750 w 609600"/>
              <a:gd name="connsiteY130" fmla="*/ 526256 h 609600"/>
              <a:gd name="connsiteX131" fmla="*/ 323850 w 609600"/>
              <a:gd name="connsiteY131" fmla="*/ 526256 h 609600"/>
              <a:gd name="connsiteX132" fmla="*/ 388144 w 609600"/>
              <a:gd name="connsiteY132" fmla="*/ 590550 h 609600"/>
              <a:gd name="connsiteX133" fmla="*/ 388144 w 609600"/>
              <a:gd name="connsiteY133" fmla="*/ 609600 h 609600"/>
              <a:gd name="connsiteX134" fmla="*/ 373856 w 609600"/>
              <a:gd name="connsiteY134" fmla="*/ 609600 h 609600"/>
              <a:gd name="connsiteX135" fmla="*/ 323850 w 609600"/>
              <a:gd name="connsiteY135" fmla="*/ 83344 h 609600"/>
              <a:gd name="connsiteX136" fmla="*/ 285750 w 609600"/>
              <a:gd name="connsiteY136" fmla="*/ 83344 h 609600"/>
              <a:gd name="connsiteX137" fmla="*/ 221456 w 609600"/>
              <a:gd name="connsiteY137" fmla="*/ 19050 h 609600"/>
              <a:gd name="connsiteX138" fmla="*/ 221456 w 609600"/>
              <a:gd name="connsiteY138" fmla="*/ 0 h 609600"/>
              <a:gd name="connsiteX139" fmla="*/ 235744 w 609600"/>
              <a:gd name="connsiteY139" fmla="*/ 0 h 609600"/>
              <a:gd name="connsiteX140" fmla="*/ 235744 w 609600"/>
              <a:gd name="connsiteY140" fmla="*/ 19050 h 609600"/>
              <a:gd name="connsiteX141" fmla="*/ 285750 w 609600"/>
              <a:gd name="connsiteY141" fmla="*/ 69056 h 609600"/>
              <a:gd name="connsiteX142" fmla="*/ 323850 w 609600"/>
              <a:gd name="connsiteY142" fmla="*/ 69056 h 609600"/>
              <a:gd name="connsiteX143" fmla="*/ 373856 w 609600"/>
              <a:gd name="connsiteY143" fmla="*/ 19050 h 609600"/>
              <a:gd name="connsiteX144" fmla="*/ 373856 w 609600"/>
              <a:gd name="connsiteY144" fmla="*/ 0 h 609600"/>
              <a:gd name="connsiteX145" fmla="*/ 388144 w 609600"/>
              <a:gd name="connsiteY145" fmla="*/ 0 h 609600"/>
              <a:gd name="connsiteX146" fmla="*/ 388144 w 609600"/>
              <a:gd name="connsiteY146" fmla="*/ 19050 h 609600"/>
              <a:gd name="connsiteX147" fmla="*/ 323850 w 609600"/>
              <a:gd name="connsiteY147" fmla="*/ 83344 h 609600"/>
              <a:gd name="connsiteX148" fmla="*/ 53912 w 609600"/>
              <a:gd name="connsiteY148" fmla="*/ 151543 h 609600"/>
              <a:gd name="connsiteX149" fmla="*/ 124587 w 609600"/>
              <a:gd name="connsiteY149" fmla="*/ 151543 h 609600"/>
              <a:gd name="connsiteX150" fmla="*/ 151543 w 609600"/>
              <a:gd name="connsiteY150" fmla="*/ 124587 h 609600"/>
              <a:gd name="connsiteX151" fmla="*/ 166211 w 609600"/>
              <a:gd name="connsiteY151" fmla="*/ 89249 h 609600"/>
              <a:gd name="connsiteX152" fmla="*/ 151543 w 609600"/>
              <a:gd name="connsiteY152" fmla="*/ 53912 h 609600"/>
              <a:gd name="connsiteX153" fmla="*/ 138113 w 609600"/>
              <a:gd name="connsiteY153" fmla="*/ 40481 h 609600"/>
              <a:gd name="connsiteX154" fmla="*/ 148209 w 609600"/>
              <a:gd name="connsiteY154" fmla="*/ 30385 h 609600"/>
              <a:gd name="connsiteX155" fmla="*/ 161639 w 609600"/>
              <a:gd name="connsiteY155" fmla="*/ 43815 h 609600"/>
              <a:gd name="connsiteX156" fmla="*/ 180499 w 609600"/>
              <a:gd name="connsiteY156" fmla="*/ 89249 h 609600"/>
              <a:gd name="connsiteX157" fmla="*/ 161639 w 609600"/>
              <a:gd name="connsiteY157" fmla="*/ 134684 h 609600"/>
              <a:gd name="connsiteX158" fmla="*/ 134684 w 609600"/>
              <a:gd name="connsiteY158" fmla="*/ 161639 h 609600"/>
              <a:gd name="connsiteX159" fmla="*/ 89249 w 609600"/>
              <a:gd name="connsiteY159" fmla="*/ 180404 h 609600"/>
              <a:gd name="connsiteX160" fmla="*/ 43815 w 609600"/>
              <a:gd name="connsiteY160" fmla="*/ 161639 h 609600"/>
              <a:gd name="connsiteX161" fmla="*/ 30385 w 609600"/>
              <a:gd name="connsiteY161" fmla="*/ 148209 h 609600"/>
              <a:gd name="connsiteX162" fmla="*/ 40481 w 609600"/>
              <a:gd name="connsiteY162" fmla="*/ 138113 h 609600"/>
              <a:gd name="connsiteX163" fmla="*/ 53912 w 609600"/>
              <a:gd name="connsiteY163" fmla="*/ 151543 h 609600"/>
              <a:gd name="connsiteX164" fmla="*/ 458057 w 609600"/>
              <a:gd name="connsiteY164" fmla="*/ 484918 h 609600"/>
              <a:gd name="connsiteX165" fmla="*/ 443389 w 609600"/>
              <a:gd name="connsiteY165" fmla="*/ 520256 h 609600"/>
              <a:gd name="connsiteX166" fmla="*/ 458057 w 609600"/>
              <a:gd name="connsiteY166" fmla="*/ 555593 h 609600"/>
              <a:gd name="connsiteX167" fmla="*/ 471488 w 609600"/>
              <a:gd name="connsiteY167" fmla="*/ 569024 h 609600"/>
              <a:gd name="connsiteX168" fmla="*/ 461391 w 609600"/>
              <a:gd name="connsiteY168" fmla="*/ 579120 h 609600"/>
              <a:gd name="connsiteX169" fmla="*/ 447961 w 609600"/>
              <a:gd name="connsiteY169" fmla="*/ 565690 h 609600"/>
              <a:gd name="connsiteX170" fmla="*/ 429101 w 609600"/>
              <a:gd name="connsiteY170" fmla="*/ 520256 h 609600"/>
              <a:gd name="connsiteX171" fmla="*/ 447961 w 609600"/>
              <a:gd name="connsiteY171" fmla="*/ 474821 h 609600"/>
              <a:gd name="connsiteX172" fmla="*/ 474917 w 609600"/>
              <a:gd name="connsiteY172" fmla="*/ 447866 h 609600"/>
              <a:gd name="connsiteX173" fmla="*/ 565880 w 609600"/>
              <a:gd name="connsiteY173" fmla="*/ 447866 h 609600"/>
              <a:gd name="connsiteX174" fmla="*/ 579311 w 609600"/>
              <a:gd name="connsiteY174" fmla="*/ 461296 h 609600"/>
              <a:gd name="connsiteX175" fmla="*/ 569214 w 609600"/>
              <a:gd name="connsiteY175" fmla="*/ 471392 h 609600"/>
              <a:gd name="connsiteX176" fmla="*/ 555784 w 609600"/>
              <a:gd name="connsiteY176" fmla="*/ 457962 h 609600"/>
              <a:gd name="connsiteX177" fmla="*/ 485108 w 609600"/>
              <a:gd name="connsiteY177" fmla="*/ 457962 h 609600"/>
              <a:gd name="connsiteX178" fmla="*/ 458153 w 609600"/>
              <a:gd name="connsiteY178" fmla="*/ 484918 h 609600"/>
              <a:gd name="connsiteX179" fmla="*/ 151638 w 609600"/>
              <a:gd name="connsiteY179" fmla="*/ 555593 h 609600"/>
              <a:gd name="connsiteX180" fmla="*/ 166306 w 609600"/>
              <a:gd name="connsiteY180" fmla="*/ 520256 h 609600"/>
              <a:gd name="connsiteX181" fmla="*/ 151638 w 609600"/>
              <a:gd name="connsiteY181" fmla="*/ 484918 h 609600"/>
              <a:gd name="connsiteX182" fmla="*/ 124682 w 609600"/>
              <a:gd name="connsiteY182" fmla="*/ 457962 h 609600"/>
              <a:gd name="connsiteX183" fmla="*/ 54007 w 609600"/>
              <a:gd name="connsiteY183" fmla="*/ 457962 h 609600"/>
              <a:gd name="connsiteX184" fmla="*/ 40577 w 609600"/>
              <a:gd name="connsiteY184" fmla="*/ 471392 h 609600"/>
              <a:gd name="connsiteX185" fmla="*/ 30480 w 609600"/>
              <a:gd name="connsiteY185" fmla="*/ 461296 h 609600"/>
              <a:gd name="connsiteX186" fmla="*/ 43910 w 609600"/>
              <a:gd name="connsiteY186" fmla="*/ 447866 h 609600"/>
              <a:gd name="connsiteX187" fmla="*/ 134874 w 609600"/>
              <a:gd name="connsiteY187" fmla="*/ 447866 h 609600"/>
              <a:gd name="connsiteX188" fmla="*/ 161830 w 609600"/>
              <a:gd name="connsiteY188" fmla="*/ 474821 h 609600"/>
              <a:gd name="connsiteX189" fmla="*/ 180689 w 609600"/>
              <a:gd name="connsiteY189" fmla="*/ 520256 h 609600"/>
              <a:gd name="connsiteX190" fmla="*/ 161830 w 609600"/>
              <a:gd name="connsiteY190" fmla="*/ 565690 h 609600"/>
              <a:gd name="connsiteX191" fmla="*/ 148400 w 609600"/>
              <a:gd name="connsiteY191" fmla="*/ 579120 h 609600"/>
              <a:gd name="connsiteX192" fmla="*/ 138303 w 609600"/>
              <a:gd name="connsiteY192" fmla="*/ 569024 h 609600"/>
              <a:gd name="connsiteX193" fmla="*/ 151733 w 609600"/>
              <a:gd name="connsiteY193" fmla="*/ 555593 h 609600"/>
              <a:gd name="connsiteX194" fmla="*/ 565880 w 609600"/>
              <a:gd name="connsiteY194" fmla="*/ 161544 h 609600"/>
              <a:gd name="connsiteX195" fmla="*/ 520446 w 609600"/>
              <a:gd name="connsiteY195" fmla="*/ 180308 h 609600"/>
              <a:gd name="connsiteX196" fmla="*/ 475012 w 609600"/>
              <a:gd name="connsiteY196" fmla="*/ 161544 h 609600"/>
              <a:gd name="connsiteX197" fmla="*/ 448056 w 609600"/>
              <a:gd name="connsiteY197" fmla="*/ 134588 h 609600"/>
              <a:gd name="connsiteX198" fmla="*/ 429197 w 609600"/>
              <a:gd name="connsiteY198" fmla="*/ 89154 h 609600"/>
              <a:gd name="connsiteX199" fmla="*/ 448056 w 609600"/>
              <a:gd name="connsiteY199" fmla="*/ 43720 h 609600"/>
              <a:gd name="connsiteX200" fmla="*/ 461486 w 609600"/>
              <a:gd name="connsiteY200" fmla="*/ 30290 h 609600"/>
              <a:gd name="connsiteX201" fmla="*/ 471583 w 609600"/>
              <a:gd name="connsiteY201" fmla="*/ 40386 h 609600"/>
              <a:gd name="connsiteX202" fmla="*/ 458153 w 609600"/>
              <a:gd name="connsiteY202" fmla="*/ 53816 h 609600"/>
              <a:gd name="connsiteX203" fmla="*/ 443484 w 609600"/>
              <a:gd name="connsiteY203" fmla="*/ 89154 h 609600"/>
              <a:gd name="connsiteX204" fmla="*/ 458153 w 609600"/>
              <a:gd name="connsiteY204" fmla="*/ 124492 h 609600"/>
              <a:gd name="connsiteX205" fmla="*/ 485108 w 609600"/>
              <a:gd name="connsiteY205" fmla="*/ 151448 h 609600"/>
              <a:gd name="connsiteX206" fmla="*/ 520446 w 609600"/>
              <a:gd name="connsiteY206" fmla="*/ 166116 h 609600"/>
              <a:gd name="connsiteX207" fmla="*/ 555784 w 609600"/>
              <a:gd name="connsiteY207" fmla="*/ 151448 h 609600"/>
              <a:gd name="connsiteX208" fmla="*/ 569214 w 609600"/>
              <a:gd name="connsiteY208" fmla="*/ 138017 h 609600"/>
              <a:gd name="connsiteX209" fmla="*/ 579311 w 609600"/>
              <a:gd name="connsiteY209" fmla="*/ 148114 h 609600"/>
              <a:gd name="connsiteX210" fmla="*/ 565880 w 609600"/>
              <a:gd name="connsiteY210" fmla="*/ 161544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Lst>
            <a:rect l="l" t="t" r="r" b="b"/>
            <a:pathLst>
              <a:path w="609600" h="609600">
                <a:moveTo>
                  <a:pt x="152400" y="259556"/>
                </a:moveTo>
                <a:cubicBezTo>
                  <a:pt x="127444" y="259556"/>
                  <a:pt x="107156" y="279845"/>
                  <a:pt x="107156" y="304800"/>
                </a:cubicBezTo>
                <a:cubicBezTo>
                  <a:pt x="107156" y="329756"/>
                  <a:pt x="127444" y="350044"/>
                  <a:pt x="152400" y="350044"/>
                </a:cubicBezTo>
                <a:cubicBezTo>
                  <a:pt x="177356" y="350044"/>
                  <a:pt x="197644" y="329756"/>
                  <a:pt x="197644" y="304800"/>
                </a:cubicBezTo>
                <a:cubicBezTo>
                  <a:pt x="197644" y="279845"/>
                  <a:pt x="177356" y="259556"/>
                  <a:pt x="152400" y="259556"/>
                </a:cubicBezTo>
                <a:close/>
                <a:moveTo>
                  <a:pt x="152400" y="335756"/>
                </a:moveTo>
                <a:cubicBezTo>
                  <a:pt x="135350" y="335756"/>
                  <a:pt x="121444" y="321850"/>
                  <a:pt x="121444" y="304800"/>
                </a:cubicBezTo>
                <a:cubicBezTo>
                  <a:pt x="121444" y="287750"/>
                  <a:pt x="135350" y="273844"/>
                  <a:pt x="152400" y="273844"/>
                </a:cubicBezTo>
                <a:cubicBezTo>
                  <a:pt x="169450" y="273844"/>
                  <a:pt x="183356" y="287750"/>
                  <a:pt x="183356" y="304800"/>
                </a:cubicBezTo>
                <a:cubicBezTo>
                  <a:pt x="183356" y="321850"/>
                  <a:pt x="169450" y="335756"/>
                  <a:pt x="152400" y="335756"/>
                </a:cubicBezTo>
                <a:close/>
                <a:moveTo>
                  <a:pt x="411956" y="304800"/>
                </a:moveTo>
                <a:cubicBezTo>
                  <a:pt x="411956" y="329756"/>
                  <a:pt x="432245" y="350044"/>
                  <a:pt x="457200" y="350044"/>
                </a:cubicBezTo>
                <a:cubicBezTo>
                  <a:pt x="482156" y="350044"/>
                  <a:pt x="502444" y="329756"/>
                  <a:pt x="502444" y="304800"/>
                </a:cubicBezTo>
                <a:cubicBezTo>
                  <a:pt x="502444" y="279845"/>
                  <a:pt x="482156" y="259556"/>
                  <a:pt x="457200" y="259556"/>
                </a:cubicBezTo>
                <a:cubicBezTo>
                  <a:pt x="432245" y="259556"/>
                  <a:pt x="411956" y="279845"/>
                  <a:pt x="411956" y="304800"/>
                </a:cubicBezTo>
                <a:close/>
                <a:moveTo>
                  <a:pt x="457200" y="273844"/>
                </a:moveTo>
                <a:cubicBezTo>
                  <a:pt x="474250" y="273844"/>
                  <a:pt x="488156" y="287750"/>
                  <a:pt x="488156" y="304800"/>
                </a:cubicBezTo>
                <a:cubicBezTo>
                  <a:pt x="488156" y="321850"/>
                  <a:pt x="474250" y="335756"/>
                  <a:pt x="457200" y="335756"/>
                </a:cubicBezTo>
                <a:cubicBezTo>
                  <a:pt x="440150" y="335756"/>
                  <a:pt x="426244" y="321850"/>
                  <a:pt x="426244" y="304800"/>
                </a:cubicBezTo>
                <a:cubicBezTo>
                  <a:pt x="426244" y="287750"/>
                  <a:pt x="440150" y="273844"/>
                  <a:pt x="457200" y="273844"/>
                </a:cubicBezTo>
                <a:close/>
                <a:moveTo>
                  <a:pt x="304800" y="411956"/>
                </a:moveTo>
                <a:cubicBezTo>
                  <a:pt x="279845" y="411956"/>
                  <a:pt x="259556" y="432245"/>
                  <a:pt x="259556" y="457200"/>
                </a:cubicBezTo>
                <a:cubicBezTo>
                  <a:pt x="259556" y="482156"/>
                  <a:pt x="279845" y="502444"/>
                  <a:pt x="304800" y="502444"/>
                </a:cubicBezTo>
                <a:cubicBezTo>
                  <a:pt x="329756" y="502444"/>
                  <a:pt x="350044" y="482156"/>
                  <a:pt x="350044" y="457200"/>
                </a:cubicBezTo>
                <a:cubicBezTo>
                  <a:pt x="350044" y="432245"/>
                  <a:pt x="329756" y="411956"/>
                  <a:pt x="304800" y="411956"/>
                </a:cubicBezTo>
                <a:close/>
                <a:moveTo>
                  <a:pt x="304800" y="488156"/>
                </a:moveTo>
                <a:cubicBezTo>
                  <a:pt x="287750" y="488156"/>
                  <a:pt x="273844" y="474250"/>
                  <a:pt x="273844" y="457200"/>
                </a:cubicBezTo>
                <a:cubicBezTo>
                  <a:pt x="273844" y="440150"/>
                  <a:pt x="287750" y="426244"/>
                  <a:pt x="304800" y="426244"/>
                </a:cubicBezTo>
                <a:cubicBezTo>
                  <a:pt x="321850" y="426244"/>
                  <a:pt x="335756" y="440150"/>
                  <a:pt x="335756" y="457200"/>
                </a:cubicBezTo>
                <a:cubicBezTo>
                  <a:pt x="335756" y="474250"/>
                  <a:pt x="321850" y="488156"/>
                  <a:pt x="304800" y="488156"/>
                </a:cubicBezTo>
                <a:close/>
                <a:moveTo>
                  <a:pt x="304800" y="107156"/>
                </a:moveTo>
                <a:cubicBezTo>
                  <a:pt x="279845" y="107156"/>
                  <a:pt x="259556" y="127444"/>
                  <a:pt x="259556" y="152400"/>
                </a:cubicBezTo>
                <a:cubicBezTo>
                  <a:pt x="259556" y="177356"/>
                  <a:pt x="279845" y="197644"/>
                  <a:pt x="304800" y="197644"/>
                </a:cubicBezTo>
                <a:cubicBezTo>
                  <a:pt x="329756" y="197644"/>
                  <a:pt x="350044" y="177356"/>
                  <a:pt x="350044" y="152400"/>
                </a:cubicBezTo>
                <a:cubicBezTo>
                  <a:pt x="350044" y="127444"/>
                  <a:pt x="329756" y="107156"/>
                  <a:pt x="304800" y="107156"/>
                </a:cubicBezTo>
                <a:close/>
                <a:moveTo>
                  <a:pt x="304800" y="183356"/>
                </a:moveTo>
                <a:cubicBezTo>
                  <a:pt x="287750" y="183356"/>
                  <a:pt x="273844" y="169450"/>
                  <a:pt x="273844" y="152400"/>
                </a:cubicBezTo>
                <a:cubicBezTo>
                  <a:pt x="273844" y="135350"/>
                  <a:pt x="287750" y="121444"/>
                  <a:pt x="304800" y="121444"/>
                </a:cubicBezTo>
                <a:cubicBezTo>
                  <a:pt x="321850" y="121444"/>
                  <a:pt x="335756" y="135350"/>
                  <a:pt x="335756" y="152400"/>
                </a:cubicBezTo>
                <a:cubicBezTo>
                  <a:pt x="335756" y="169450"/>
                  <a:pt x="321850" y="183356"/>
                  <a:pt x="304800" y="183356"/>
                </a:cubicBezTo>
                <a:close/>
                <a:moveTo>
                  <a:pt x="444532" y="444532"/>
                </a:moveTo>
                <a:cubicBezTo>
                  <a:pt x="462153" y="426911"/>
                  <a:pt x="462153" y="398145"/>
                  <a:pt x="444532" y="380524"/>
                </a:cubicBezTo>
                <a:cubicBezTo>
                  <a:pt x="426911" y="362903"/>
                  <a:pt x="398145" y="362903"/>
                  <a:pt x="380524" y="380524"/>
                </a:cubicBezTo>
                <a:cubicBezTo>
                  <a:pt x="371951" y="389096"/>
                  <a:pt x="367284" y="400431"/>
                  <a:pt x="367284" y="412528"/>
                </a:cubicBezTo>
                <a:cubicBezTo>
                  <a:pt x="367284" y="424625"/>
                  <a:pt x="371951" y="435959"/>
                  <a:pt x="380524" y="444532"/>
                </a:cubicBezTo>
                <a:cubicBezTo>
                  <a:pt x="389382" y="453390"/>
                  <a:pt x="400907" y="457772"/>
                  <a:pt x="412528" y="457772"/>
                </a:cubicBezTo>
                <a:cubicBezTo>
                  <a:pt x="424148" y="457772"/>
                  <a:pt x="435674" y="453390"/>
                  <a:pt x="444532" y="444532"/>
                </a:cubicBezTo>
                <a:close/>
                <a:moveTo>
                  <a:pt x="390620" y="434435"/>
                </a:moveTo>
                <a:cubicBezTo>
                  <a:pt x="384810" y="428625"/>
                  <a:pt x="381572" y="420815"/>
                  <a:pt x="381572" y="412528"/>
                </a:cubicBezTo>
                <a:cubicBezTo>
                  <a:pt x="381572" y="404241"/>
                  <a:pt x="384810" y="396526"/>
                  <a:pt x="390620" y="390620"/>
                </a:cubicBezTo>
                <a:cubicBezTo>
                  <a:pt x="396621" y="384620"/>
                  <a:pt x="404622" y="381572"/>
                  <a:pt x="412528" y="381572"/>
                </a:cubicBezTo>
                <a:cubicBezTo>
                  <a:pt x="420434" y="381572"/>
                  <a:pt x="428339" y="384620"/>
                  <a:pt x="434435" y="390620"/>
                </a:cubicBezTo>
                <a:cubicBezTo>
                  <a:pt x="446532" y="402717"/>
                  <a:pt x="446532" y="422339"/>
                  <a:pt x="434435" y="434435"/>
                </a:cubicBezTo>
                <a:cubicBezTo>
                  <a:pt x="422339" y="446532"/>
                  <a:pt x="402717" y="446532"/>
                  <a:pt x="390620" y="434435"/>
                </a:cubicBezTo>
                <a:close/>
                <a:moveTo>
                  <a:pt x="242221" y="196977"/>
                </a:moveTo>
                <a:cubicBezTo>
                  <a:pt x="242221" y="184880"/>
                  <a:pt x="237553" y="173546"/>
                  <a:pt x="228981" y="164973"/>
                </a:cubicBezTo>
                <a:cubicBezTo>
                  <a:pt x="211360" y="147352"/>
                  <a:pt x="182594" y="147352"/>
                  <a:pt x="164973" y="164973"/>
                </a:cubicBezTo>
                <a:cubicBezTo>
                  <a:pt x="147352" y="182594"/>
                  <a:pt x="147352" y="211360"/>
                  <a:pt x="164973" y="228981"/>
                </a:cubicBezTo>
                <a:cubicBezTo>
                  <a:pt x="173831" y="237839"/>
                  <a:pt x="185356" y="242221"/>
                  <a:pt x="196977" y="242221"/>
                </a:cubicBezTo>
                <a:cubicBezTo>
                  <a:pt x="208598" y="242221"/>
                  <a:pt x="220123" y="237839"/>
                  <a:pt x="228981" y="228981"/>
                </a:cubicBezTo>
                <a:cubicBezTo>
                  <a:pt x="237553" y="220409"/>
                  <a:pt x="242221" y="209074"/>
                  <a:pt x="242221" y="196977"/>
                </a:cubicBezTo>
                <a:close/>
                <a:moveTo>
                  <a:pt x="218885" y="218885"/>
                </a:moveTo>
                <a:cubicBezTo>
                  <a:pt x="206788" y="230981"/>
                  <a:pt x="187166" y="230981"/>
                  <a:pt x="175069" y="218885"/>
                </a:cubicBezTo>
                <a:cubicBezTo>
                  <a:pt x="162973" y="206788"/>
                  <a:pt x="162973" y="187166"/>
                  <a:pt x="175069" y="175069"/>
                </a:cubicBezTo>
                <a:cubicBezTo>
                  <a:pt x="181070" y="169069"/>
                  <a:pt x="189071" y="166021"/>
                  <a:pt x="196977" y="166021"/>
                </a:cubicBezTo>
                <a:cubicBezTo>
                  <a:pt x="204883" y="166021"/>
                  <a:pt x="212884" y="169069"/>
                  <a:pt x="218885" y="175069"/>
                </a:cubicBezTo>
                <a:cubicBezTo>
                  <a:pt x="224695" y="180880"/>
                  <a:pt x="227933" y="188690"/>
                  <a:pt x="227933" y="196977"/>
                </a:cubicBezTo>
                <a:cubicBezTo>
                  <a:pt x="227933" y="205264"/>
                  <a:pt x="224695" y="212979"/>
                  <a:pt x="218885" y="218885"/>
                </a:cubicBezTo>
                <a:close/>
                <a:moveTo>
                  <a:pt x="228981" y="444532"/>
                </a:moveTo>
                <a:cubicBezTo>
                  <a:pt x="237553" y="435959"/>
                  <a:pt x="242221" y="424625"/>
                  <a:pt x="242221" y="412528"/>
                </a:cubicBezTo>
                <a:cubicBezTo>
                  <a:pt x="242221" y="400431"/>
                  <a:pt x="237553" y="389096"/>
                  <a:pt x="228981" y="380524"/>
                </a:cubicBezTo>
                <a:cubicBezTo>
                  <a:pt x="211360" y="362903"/>
                  <a:pt x="182594" y="362903"/>
                  <a:pt x="164973" y="380524"/>
                </a:cubicBezTo>
                <a:cubicBezTo>
                  <a:pt x="147352" y="398145"/>
                  <a:pt x="147352" y="426911"/>
                  <a:pt x="164973" y="444532"/>
                </a:cubicBezTo>
                <a:cubicBezTo>
                  <a:pt x="173831" y="453390"/>
                  <a:pt x="185356" y="457772"/>
                  <a:pt x="196977" y="457772"/>
                </a:cubicBezTo>
                <a:cubicBezTo>
                  <a:pt x="208598" y="457772"/>
                  <a:pt x="220123" y="453390"/>
                  <a:pt x="228981" y="444532"/>
                </a:cubicBezTo>
                <a:close/>
                <a:moveTo>
                  <a:pt x="175069" y="390620"/>
                </a:moveTo>
                <a:cubicBezTo>
                  <a:pt x="181070" y="384620"/>
                  <a:pt x="189071" y="381572"/>
                  <a:pt x="196977" y="381572"/>
                </a:cubicBezTo>
                <a:cubicBezTo>
                  <a:pt x="204883" y="381572"/>
                  <a:pt x="212884" y="384620"/>
                  <a:pt x="218885" y="390620"/>
                </a:cubicBezTo>
                <a:cubicBezTo>
                  <a:pt x="224695" y="396431"/>
                  <a:pt x="227933" y="404241"/>
                  <a:pt x="227933" y="412528"/>
                </a:cubicBezTo>
                <a:cubicBezTo>
                  <a:pt x="227933" y="420815"/>
                  <a:pt x="224695" y="428530"/>
                  <a:pt x="218885" y="434435"/>
                </a:cubicBezTo>
                <a:cubicBezTo>
                  <a:pt x="206788" y="446532"/>
                  <a:pt x="187166" y="446532"/>
                  <a:pt x="175069" y="434435"/>
                </a:cubicBezTo>
                <a:cubicBezTo>
                  <a:pt x="162973" y="422339"/>
                  <a:pt x="162973" y="402717"/>
                  <a:pt x="175069" y="390620"/>
                </a:cubicBezTo>
                <a:close/>
                <a:moveTo>
                  <a:pt x="380524" y="164973"/>
                </a:moveTo>
                <a:cubicBezTo>
                  <a:pt x="371951" y="173546"/>
                  <a:pt x="367284" y="184880"/>
                  <a:pt x="367284" y="196977"/>
                </a:cubicBezTo>
                <a:cubicBezTo>
                  <a:pt x="367284" y="209074"/>
                  <a:pt x="371951" y="220409"/>
                  <a:pt x="380524" y="228981"/>
                </a:cubicBezTo>
                <a:cubicBezTo>
                  <a:pt x="389382" y="237839"/>
                  <a:pt x="400907" y="242221"/>
                  <a:pt x="412528" y="242221"/>
                </a:cubicBezTo>
                <a:cubicBezTo>
                  <a:pt x="424148" y="242221"/>
                  <a:pt x="435674" y="237839"/>
                  <a:pt x="444532" y="228981"/>
                </a:cubicBezTo>
                <a:cubicBezTo>
                  <a:pt x="462153" y="211360"/>
                  <a:pt x="462153" y="182594"/>
                  <a:pt x="444532" y="164973"/>
                </a:cubicBezTo>
                <a:cubicBezTo>
                  <a:pt x="426911" y="147352"/>
                  <a:pt x="398145" y="147352"/>
                  <a:pt x="380524" y="164973"/>
                </a:cubicBezTo>
                <a:close/>
                <a:moveTo>
                  <a:pt x="434435" y="218885"/>
                </a:moveTo>
                <a:cubicBezTo>
                  <a:pt x="422339" y="230981"/>
                  <a:pt x="402717" y="230981"/>
                  <a:pt x="390620" y="218885"/>
                </a:cubicBezTo>
                <a:cubicBezTo>
                  <a:pt x="384810" y="213074"/>
                  <a:pt x="381572" y="205264"/>
                  <a:pt x="381572" y="196977"/>
                </a:cubicBezTo>
                <a:cubicBezTo>
                  <a:pt x="381572" y="188690"/>
                  <a:pt x="384810" y="180975"/>
                  <a:pt x="390620" y="175069"/>
                </a:cubicBezTo>
                <a:cubicBezTo>
                  <a:pt x="396621" y="169069"/>
                  <a:pt x="404622" y="166021"/>
                  <a:pt x="412528" y="166021"/>
                </a:cubicBezTo>
                <a:cubicBezTo>
                  <a:pt x="420434" y="166021"/>
                  <a:pt x="428339" y="169069"/>
                  <a:pt x="434435" y="175069"/>
                </a:cubicBezTo>
                <a:cubicBezTo>
                  <a:pt x="446532" y="187166"/>
                  <a:pt x="446532" y="206788"/>
                  <a:pt x="434435" y="218885"/>
                </a:cubicBezTo>
                <a:close/>
                <a:moveTo>
                  <a:pt x="590550" y="221456"/>
                </a:moveTo>
                <a:lnTo>
                  <a:pt x="609600" y="221456"/>
                </a:lnTo>
                <a:lnTo>
                  <a:pt x="609600" y="235744"/>
                </a:lnTo>
                <a:lnTo>
                  <a:pt x="590550" y="235744"/>
                </a:lnTo>
                <a:cubicBezTo>
                  <a:pt x="563023" y="235744"/>
                  <a:pt x="540544" y="258127"/>
                  <a:pt x="540544" y="285750"/>
                </a:cubicBezTo>
                <a:lnTo>
                  <a:pt x="540544" y="323850"/>
                </a:lnTo>
                <a:cubicBezTo>
                  <a:pt x="540544" y="351473"/>
                  <a:pt x="563023" y="373856"/>
                  <a:pt x="590550" y="373856"/>
                </a:cubicBezTo>
                <a:lnTo>
                  <a:pt x="609600" y="373856"/>
                </a:lnTo>
                <a:lnTo>
                  <a:pt x="609600" y="388144"/>
                </a:lnTo>
                <a:lnTo>
                  <a:pt x="590550" y="388144"/>
                </a:lnTo>
                <a:cubicBezTo>
                  <a:pt x="555117" y="388144"/>
                  <a:pt x="526256" y="359283"/>
                  <a:pt x="526256" y="323850"/>
                </a:cubicBezTo>
                <a:lnTo>
                  <a:pt x="526256" y="285750"/>
                </a:lnTo>
                <a:cubicBezTo>
                  <a:pt x="526256" y="250317"/>
                  <a:pt x="555117" y="221456"/>
                  <a:pt x="590550" y="221456"/>
                </a:cubicBezTo>
                <a:close/>
                <a:moveTo>
                  <a:pt x="19050" y="388144"/>
                </a:moveTo>
                <a:lnTo>
                  <a:pt x="0" y="388144"/>
                </a:lnTo>
                <a:lnTo>
                  <a:pt x="0" y="373856"/>
                </a:lnTo>
                <a:lnTo>
                  <a:pt x="19050" y="373856"/>
                </a:lnTo>
                <a:cubicBezTo>
                  <a:pt x="46672" y="373856"/>
                  <a:pt x="69056" y="351473"/>
                  <a:pt x="69056" y="323850"/>
                </a:cubicBezTo>
                <a:lnTo>
                  <a:pt x="69056" y="285750"/>
                </a:lnTo>
                <a:cubicBezTo>
                  <a:pt x="69056" y="258127"/>
                  <a:pt x="46672" y="235744"/>
                  <a:pt x="19050" y="235744"/>
                </a:cubicBezTo>
                <a:lnTo>
                  <a:pt x="0" y="235744"/>
                </a:lnTo>
                <a:lnTo>
                  <a:pt x="0" y="221456"/>
                </a:lnTo>
                <a:lnTo>
                  <a:pt x="19050" y="221456"/>
                </a:lnTo>
                <a:cubicBezTo>
                  <a:pt x="54483" y="221456"/>
                  <a:pt x="83344" y="250317"/>
                  <a:pt x="83344" y="285750"/>
                </a:cubicBezTo>
                <a:lnTo>
                  <a:pt x="83344" y="323850"/>
                </a:lnTo>
                <a:cubicBezTo>
                  <a:pt x="83344" y="359283"/>
                  <a:pt x="54483" y="388144"/>
                  <a:pt x="19050" y="388144"/>
                </a:cubicBezTo>
                <a:close/>
                <a:moveTo>
                  <a:pt x="373856" y="609600"/>
                </a:moveTo>
                <a:lnTo>
                  <a:pt x="373856" y="590550"/>
                </a:lnTo>
                <a:cubicBezTo>
                  <a:pt x="373856" y="562928"/>
                  <a:pt x="351377" y="540544"/>
                  <a:pt x="323850" y="540544"/>
                </a:cubicBezTo>
                <a:lnTo>
                  <a:pt x="285750" y="540544"/>
                </a:lnTo>
                <a:cubicBezTo>
                  <a:pt x="258223" y="540544"/>
                  <a:pt x="235744" y="562928"/>
                  <a:pt x="235744" y="590550"/>
                </a:cubicBezTo>
                <a:lnTo>
                  <a:pt x="235744" y="609600"/>
                </a:lnTo>
                <a:lnTo>
                  <a:pt x="221456" y="609600"/>
                </a:lnTo>
                <a:lnTo>
                  <a:pt x="221456" y="590550"/>
                </a:lnTo>
                <a:cubicBezTo>
                  <a:pt x="221456" y="555117"/>
                  <a:pt x="250317" y="526256"/>
                  <a:pt x="285750" y="526256"/>
                </a:cubicBezTo>
                <a:lnTo>
                  <a:pt x="323850" y="526256"/>
                </a:lnTo>
                <a:cubicBezTo>
                  <a:pt x="359283" y="526256"/>
                  <a:pt x="388144" y="555117"/>
                  <a:pt x="388144" y="590550"/>
                </a:cubicBezTo>
                <a:lnTo>
                  <a:pt x="388144" y="609600"/>
                </a:lnTo>
                <a:lnTo>
                  <a:pt x="373856" y="609600"/>
                </a:lnTo>
                <a:close/>
                <a:moveTo>
                  <a:pt x="323850" y="83344"/>
                </a:moveTo>
                <a:lnTo>
                  <a:pt x="285750" y="83344"/>
                </a:lnTo>
                <a:cubicBezTo>
                  <a:pt x="250317" y="83344"/>
                  <a:pt x="221456" y="54483"/>
                  <a:pt x="221456" y="19050"/>
                </a:cubicBezTo>
                <a:lnTo>
                  <a:pt x="221456" y="0"/>
                </a:lnTo>
                <a:lnTo>
                  <a:pt x="235744" y="0"/>
                </a:lnTo>
                <a:lnTo>
                  <a:pt x="235744" y="19050"/>
                </a:lnTo>
                <a:cubicBezTo>
                  <a:pt x="235744" y="46672"/>
                  <a:pt x="258223" y="69056"/>
                  <a:pt x="285750" y="69056"/>
                </a:cubicBezTo>
                <a:lnTo>
                  <a:pt x="323850" y="69056"/>
                </a:lnTo>
                <a:cubicBezTo>
                  <a:pt x="351377" y="69056"/>
                  <a:pt x="373856" y="46672"/>
                  <a:pt x="373856" y="19050"/>
                </a:cubicBezTo>
                <a:lnTo>
                  <a:pt x="373856" y="0"/>
                </a:lnTo>
                <a:lnTo>
                  <a:pt x="388144" y="0"/>
                </a:lnTo>
                <a:lnTo>
                  <a:pt x="388144" y="19050"/>
                </a:lnTo>
                <a:cubicBezTo>
                  <a:pt x="388144" y="54483"/>
                  <a:pt x="359283" y="83344"/>
                  <a:pt x="323850" y="83344"/>
                </a:cubicBezTo>
                <a:close/>
                <a:moveTo>
                  <a:pt x="53912" y="151543"/>
                </a:moveTo>
                <a:cubicBezTo>
                  <a:pt x="73438" y="171069"/>
                  <a:pt x="105156" y="171069"/>
                  <a:pt x="124587" y="151543"/>
                </a:cubicBezTo>
                <a:lnTo>
                  <a:pt x="151543" y="124587"/>
                </a:lnTo>
                <a:cubicBezTo>
                  <a:pt x="160973" y="115157"/>
                  <a:pt x="166211" y="102584"/>
                  <a:pt x="166211" y="89249"/>
                </a:cubicBezTo>
                <a:cubicBezTo>
                  <a:pt x="166211" y="75914"/>
                  <a:pt x="160973" y="63341"/>
                  <a:pt x="151543" y="53912"/>
                </a:cubicBezTo>
                <a:lnTo>
                  <a:pt x="138113" y="40481"/>
                </a:lnTo>
                <a:lnTo>
                  <a:pt x="148209" y="30385"/>
                </a:lnTo>
                <a:lnTo>
                  <a:pt x="161639" y="43815"/>
                </a:lnTo>
                <a:cubicBezTo>
                  <a:pt x="173831" y="55912"/>
                  <a:pt x="180499" y="72104"/>
                  <a:pt x="180499" y="89249"/>
                </a:cubicBezTo>
                <a:cubicBezTo>
                  <a:pt x="180499" y="106394"/>
                  <a:pt x="173831" y="122587"/>
                  <a:pt x="161639" y="134684"/>
                </a:cubicBezTo>
                <a:lnTo>
                  <a:pt x="134684" y="161639"/>
                </a:lnTo>
                <a:cubicBezTo>
                  <a:pt x="122111" y="174212"/>
                  <a:pt x="105728" y="180404"/>
                  <a:pt x="89249" y="180404"/>
                </a:cubicBezTo>
                <a:cubicBezTo>
                  <a:pt x="72771" y="180404"/>
                  <a:pt x="56293" y="174117"/>
                  <a:pt x="43815" y="161639"/>
                </a:cubicBezTo>
                <a:lnTo>
                  <a:pt x="30385" y="148209"/>
                </a:lnTo>
                <a:lnTo>
                  <a:pt x="40481" y="138113"/>
                </a:lnTo>
                <a:lnTo>
                  <a:pt x="53912" y="151543"/>
                </a:lnTo>
                <a:close/>
                <a:moveTo>
                  <a:pt x="458057" y="484918"/>
                </a:moveTo>
                <a:cubicBezTo>
                  <a:pt x="448628" y="494348"/>
                  <a:pt x="443389" y="506921"/>
                  <a:pt x="443389" y="520256"/>
                </a:cubicBezTo>
                <a:cubicBezTo>
                  <a:pt x="443389" y="533590"/>
                  <a:pt x="448628" y="546163"/>
                  <a:pt x="458057" y="555593"/>
                </a:cubicBezTo>
                <a:lnTo>
                  <a:pt x="471488" y="569024"/>
                </a:lnTo>
                <a:lnTo>
                  <a:pt x="461391" y="579120"/>
                </a:lnTo>
                <a:lnTo>
                  <a:pt x="447961" y="565690"/>
                </a:lnTo>
                <a:cubicBezTo>
                  <a:pt x="435769" y="553593"/>
                  <a:pt x="429101" y="537401"/>
                  <a:pt x="429101" y="520256"/>
                </a:cubicBezTo>
                <a:cubicBezTo>
                  <a:pt x="429101" y="503111"/>
                  <a:pt x="435769" y="486918"/>
                  <a:pt x="447961" y="474821"/>
                </a:cubicBezTo>
                <a:lnTo>
                  <a:pt x="474917" y="447866"/>
                </a:lnTo>
                <a:cubicBezTo>
                  <a:pt x="499967" y="422815"/>
                  <a:pt x="540830" y="422815"/>
                  <a:pt x="565880" y="447866"/>
                </a:cubicBezTo>
                <a:lnTo>
                  <a:pt x="579311" y="461296"/>
                </a:lnTo>
                <a:lnTo>
                  <a:pt x="569214" y="471392"/>
                </a:lnTo>
                <a:lnTo>
                  <a:pt x="555784" y="457962"/>
                </a:lnTo>
                <a:cubicBezTo>
                  <a:pt x="536258" y="438436"/>
                  <a:pt x="504539" y="438436"/>
                  <a:pt x="485108" y="457962"/>
                </a:cubicBezTo>
                <a:lnTo>
                  <a:pt x="458153" y="484918"/>
                </a:lnTo>
                <a:close/>
                <a:moveTo>
                  <a:pt x="151638" y="555593"/>
                </a:moveTo>
                <a:cubicBezTo>
                  <a:pt x="161068" y="546163"/>
                  <a:pt x="166306" y="533590"/>
                  <a:pt x="166306" y="520256"/>
                </a:cubicBezTo>
                <a:cubicBezTo>
                  <a:pt x="166306" y="506921"/>
                  <a:pt x="161068" y="494348"/>
                  <a:pt x="151638" y="484918"/>
                </a:cubicBezTo>
                <a:lnTo>
                  <a:pt x="124682" y="457962"/>
                </a:lnTo>
                <a:cubicBezTo>
                  <a:pt x="105156" y="438436"/>
                  <a:pt x="73438" y="438436"/>
                  <a:pt x="54007" y="457962"/>
                </a:cubicBezTo>
                <a:lnTo>
                  <a:pt x="40577" y="471392"/>
                </a:lnTo>
                <a:lnTo>
                  <a:pt x="30480" y="461296"/>
                </a:lnTo>
                <a:lnTo>
                  <a:pt x="43910" y="447866"/>
                </a:lnTo>
                <a:cubicBezTo>
                  <a:pt x="68961" y="422815"/>
                  <a:pt x="109728" y="422815"/>
                  <a:pt x="134874" y="447866"/>
                </a:cubicBezTo>
                <a:lnTo>
                  <a:pt x="161830" y="474821"/>
                </a:lnTo>
                <a:cubicBezTo>
                  <a:pt x="174022" y="486918"/>
                  <a:pt x="180689" y="503111"/>
                  <a:pt x="180689" y="520256"/>
                </a:cubicBezTo>
                <a:cubicBezTo>
                  <a:pt x="180689" y="537401"/>
                  <a:pt x="174022" y="553593"/>
                  <a:pt x="161830" y="565690"/>
                </a:cubicBezTo>
                <a:lnTo>
                  <a:pt x="148400" y="579120"/>
                </a:lnTo>
                <a:lnTo>
                  <a:pt x="138303" y="569024"/>
                </a:lnTo>
                <a:lnTo>
                  <a:pt x="151733" y="555593"/>
                </a:lnTo>
                <a:close/>
                <a:moveTo>
                  <a:pt x="565880" y="161544"/>
                </a:moveTo>
                <a:cubicBezTo>
                  <a:pt x="553307" y="174117"/>
                  <a:pt x="536924" y="180308"/>
                  <a:pt x="520446" y="180308"/>
                </a:cubicBezTo>
                <a:cubicBezTo>
                  <a:pt x="503968" y="180308"/>
                  <a:pt x="487490" y="174022"/>
                  <a:pt x="475012" y="161544"/>
                </a:cubicBezTo>
                <a:lnTo>
                  <a:pt x="448056" y="134588"/>
                </a:lnTo>
                <a:cubicBezTo>
                  <a:pt x="435864" y="122492"/>
                  <a:pt x="429197" y="106299"/>
                  <a:pt x="429197" y="89154"/>
                </a:cubicBezTo>
                <a:cubicBezTo>
                  <a:pt x="429197" y="72009"/>
                  <a:pt x="435864" y="55816"/>
                  <a:pt x="448056" y="43720"/>
                </a:cubicBezTo>
                <a:lnTo>
                  <a:pt x="461486" y="30290"/>
                </a:lnTo>
                <a:lnTo>
                  <a:pt x="471583" y="40386"/>
                </a:lnTo>
                <a:lnTo>
                  <a:pt x="458153" y="53816"/>
                </a:lnTo>
                <a:cubicBezTo>
                  <a:pt x="448723" y="63246"/>
                  <a:pt x="443484" y="75819"/>
                  <a:pt x="443484" y="89154"/>
                </a:cubicBezTo>
                <a:cubicBezTo>
                  <a:pt x="443484" y="102489"/>
                  <a:pt x="448723" y="115062"/>
                  <a:pt x="458153" y="124492"/>
                </a:cubicBezTo>
                <a:lnTo>
                  <a:pt x="485108" y="151448"/>
                </a:lnTo>
                <a:cubicBezTo>
                  <a:pt x="494538" y="160877"/>
                  <a:pt x="507111" y="166116"/>
                  <a:pt x="520446" y="166116"/>
                </a:cubicBezTo>
                <a:cubicBezTo>
                  <a:pt x="533781" y="166116"/>
                  <a:pt x="546354" y="160877"/>
                  <a:pt x="555784" y="151448"/>
                </a:cubicBezTo>
                <a:lnTo>
                  <a:pt x="569214" y="138017"/>
                </a:lnTo>
                <a:lnTo>
                  <a:pt x="579311" y="148114"/>
                </a:lnTo>
                <a:lnTo>
                  <a:pt x="565880" y="161544"/>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sp>
        <p:nvSpPr>
          <p:cNvPr id="11" name="TextBox 10">
            <a:extLst>
              <a:ext uri="{FF2B5EF4-FFF2-40B4-BE49-F238E27FC236}">
                <a16:creationId xmlns:a16="http://schemas.microsoft.com/office/drawing/2014/main" id="{5C3DB985-21DF-0B3E-7BF2-D950B14F5C42}"/>
              </a:ext>
            </a:extLst>
          </p:cNvPr>
          <p:cNvSpPr txBox="1"/>
          <p:nvPr/>
        </p:nvSpPr>
        <p:spPr>
          <a:xfrm>
            <a:off x="4674223" y="4051547"/>
            <a:ext cx="2748138" cy="307777"/>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2000" dirty="0">
                <a:latin typeface="Inter" panose="02000503000000020004" pitchFamily="2" charset="0"/>
                <a:ea typeface="ＭＳ Ｐゴシック" charset="0"/>
              </a:rPr>
              <a:t>Takeaway #2</a:t>
            </a:r>
            <a:endParaRPr lang="en-US" sz="2000" kern="1200" dirty="0">
              <a:latin typeface="Inter" panose="02000503000000020004" pitchFamily="2" charset="0"/>
              <a:ea typeface="ＭＳ Ｐゴシック" charset="0"/>
            </a:endParaRPr>
          </a:p>
        </p:txBody>
      </p:sp>
      <p:sp>
        <p:nvSpPr>
          <p:cNvPr id="10" name="TextBox 9">
            <a:extLst>
              <a:ext uri="{FF2B5EF4-FFF2-40B4-BE49-F238E27FC236}">
                <a16:creationId xmlns:a16="http://schemas.microsoft.com/office/drawing/2014/main" id="{FD75D620-5D68-61CE-B52F-BC44211B6BA7}"/>
              </a:ext>
            </a:extLst>
          </p:cNvPr>
          <p:cNvSpPr txBox="1"/>
          <p:nvPr/>
        </p:nvSpPr>
        <p:spPr>
          <a:xfrm>
            <a:off x="4674224" y="4517618"/>
            <a:ext cx="2748137" cy="1723549"/>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1600" dirty="0">
                <a:latin typeface="Inter" panose="02000503000000020004" pitchFamily="2" charset="0"/>
                <a:ea typeface="ＭＳ Ｐゴシック" charset="0"/>
              </a:rPr>
              <a:t>How Splunk's automated governance workflows simplify meeting regulatory mandates such as the Cyber Assessment Framework / NIST Cyber Security Framework</a:t>
            </a:r>
            <a:endParaRPr lang="en-US" sz="1600" kern="1200" dirty="0">
              <a:latin typeface="Inter" panose="02000503000000020004" pitchFamily="2" charset="0"/>
              <a:ea typeface="ＭＳ Ｐゴシック" charset="0"/>
            </a:endParaRPr>
          </a:p>
        </p:txBody>
      </p:sp>
      <p:sp>
        <p:nvSpPr>
          <p:cNvPr id="30" name="Freeform 238" descr="Icon of a magnifying glass zooming in on a pie chart representing &quot;data driven insights&quot;">
            <a:extLst>
              <a:ext uri="{FF2B5EF4-FFF2-40B4-BE49-F238E27FC236}">
                <a16:creationId xmlns:a16="http://schemas.microsoft.com/office/drawing/2014/main" id="{1D406FA6-A773-EE93-D368-C3D3CDFA1DCA}"/>
              </a:ext>
            </a:extLst>
          </p:cNvPr>
          <p:cNvSpPr>
            <a:spLocks noChangeAspect="1"/>
          </p:cNvSpPr>
          <p:nvPr/>
        </p:nvSpPr>
        <p:spPr>
          <a:xfrm>
            <a:off x="8092993" y="3399541"/>
            <a:ext cx="457200" cy="457200"/>
          </a:xfrm>
          <a:custGeom>
            <a:avLst/>
            <a:gdLst>
              <a:gd name="connsiteX0" fmla="*/ 235625 w 583572"/>
              <a:gd name="connsiteY0" fmla="*/ 471178 h 583572"/>
              <a:gd name="connsiteX1" fmla="*/ 396978 w 583572"/>
              <a:gd name="connsiteY1" fmla="*/ 407075 h 583572"/>
              <a:gd name="connsiteX2" fmla="*/ 573476 w 583572"/>
              <a:gd name="connsiteY2" fmla="*/ 583573 h 583572"/>
              <a:gd name="connsiteX3" fmla="*/ 583573 w 583572"/>
              <a:gd name="connsiteY3" fmla="*/ 573476 h 583572"/>
              <a:gd name="connsiteX4" fmla="*/ 407075 w 583572"/>
              <a:gd name="connsiteY4" fmla="*/ 396978 h 583572"/>
              <a:gd name="connsiteX5" fmla="*/ 402312 w 583572"/>
              <a:gd name="connsiteY5" fmla="*/ 68937 h 583572"/>
              <a:gd name="connsiteX6" fmla="*/ 68937 w 583572"/>
              <a:gd name="connsiteY6" fmla="*/ 68937 h 583572"/>
              <a:gd name="connsiteX7" fmla="*/ 68937 w 583572"/>
              <a:gd name="connsiteY7" fmla="*/ 402312 h 583572"/>
              <a:gd name="connsiteX8" fmla="*/ 235625 w 583572"/>
              <a:gd name="connsiteY8" fmla="*/ 471273 h 583572"/>
              <a:gd name="connsiteX9" fmla="*/ 79034 w 583572"/>
              <a:gd name="connsiteY9" fmla="*/ 78938 h 583572"/>
              <a:gd name="connsiteX10" fmla="*/ 235625 w 583572"/>
              <a:gd name="connsiteY10" fmla="*/ 14168 h 583572"/>
              <a:gd name="connsiteX11" fmla="*/ 392216 w 583572"/>
              <a:gd name="connsiteY11" fmla="*/ 78938 h 583572"/>
              <a:gd name="connsiteX12" fmla="*/ 392216 w 583572"/>
              <a:gd name="connsiteY12" fmla="*/ 392120 h 583572"/>
              <a:gd name="connsiteX13" fmla="*/ 79034 w 583572"/>
              <a:gd name="connsiteY13" fmla="*/ 392120 h 583572"/>
              <a:gd name="connsiteX14" fmla="*/ 79034 w 583572"/>
              <a:gd name="connsiteY14" fmla="*/ 78938 h 583572"/>
              <a:gd name="connsiteX15" fmla="*/ 136279 w 583572"/>
              <a:gd name="connsiteY15" fmla="*/ 334875 h 583572"/>
              <a:gd name="connsiteX16" fmla="*/ 136565 w 583572"/>
              <a:gd name="connsiteY16" fmla="*/ 335066 h 583572"/>
              <a:gd name="connsiteX17" fmla="*/ 235625 w 583572"/>
              <a:gd name="connsiteY17" fmla="*/ 376023 h 583572"/>
              <a:gd name="connsiteX18" fmla="*/ 376118 w 583572"/>
              <a:gd name="connsiteY18" fmla="*/ 235529 h 583572"/>
              <a:gd name="connsiteX19" fmla="*/ 235625 w 583572"/>
              <a:gd name="connsiteY19" fmla="*/ 95036 h 583572"/>
              <a:gd name="connsiteX20" fmla="*/ 95131 w 583572"/>
              <a:gd name="connsiteY20" fmla="*/ 235529 h 583572"/>
              <a:gd name="connsiteX21" fmla="*/ 136088 w 583572"/>
              <a:gd name="connsiteY21" fmla="*/ 334589 h 583572"/>
              <a:gd name="connsiteX22" fmla="*/ 136279 w 583572"/>
              <a:gd name="connsiteY22" fmla="*/ 334875 h 583572"/>
              <a:gd name="connsiteX23" fmla="*/ 240673 w 583572"/>
              <a:gd name="connsiteY23" fmla="*/ 240578 h 583572"/>
              <a:gd name="connsiteX24" fmla="*/ 240673 w 583572"/>
              <a:gd name="connsiteY24" fmla="*/ 240578 h 583572"/>
              <a:gd name="connsiteX25" fmla="*/ 240673 w 583572"/>
              <a:gd name="connsiteY25" fmla="*/ 240578 h 583572"/>
              <a:gd name="connsiteX26" fmla="*/ 240673 w 583572"/>
              <a:gd name="connsiteY26" fmla="*/ 240578 h 583572"/>
              <a:gd name="connsiteX27" fmla="*/ 240673 w 583572"/>
              <a:gd name="connsiteY27" fmla="*/ 240578 h 583572"/>
              <a:gd name="connsiteX28" fmla="*/ 240673 w 583572"/>
              <a:gd name="connsiteY28" fmla="*/ 240578 h 583572"/>
              <a:gd name="connsiteX29" fmla="*/ 242483 w 583572"/>
              <a:gd name="connsiteY29" fmla="*/ 237149 h 583572"/>
              <a:gd name="connsiteX30" fmla="*/ 242483 w 583572"/>
              <a:gd name="connsiteY30" fmla="*/ 237149 h 583572"/>
              <a:gd name="connsiteX31" fmla="*/ 242483 w 583572"/>
              <a:gd name="connsiteY31" fmla="*/ 237149 h 583572"/>
              <a:gd name="connsiteX32" fmla="*/ 242483 w 583572"/>
              <a:gd name="connsiteY32" fmla="*/ 237149 h 583572"/>
              <a:gd name="connsiteX33" fmla="*/ 242483 w 583572"/>
              <a:gd name="connsiteY33" fmla="*/ 237149 h 583572"/>
              <a:gd name="connsiteX34" fmla="*/ 242483 w 583572"/>
              <a:gd name="connsiteY34" fmla="*/ 237149 h 583572"/>
              <a:gd name="connsiteX35" fmla="*/ 242483 w 583572"/>
              <a:gd name="connsiteY35" fmla="*/ 237149 h 583572"/>
              <a:gd name="connsiteX36" fmla="*/ 242483 w 583572"/>
              <a:gd name="connsiteY36" fmla="*/ 237149 h 583572"/>
              <a:gd name="connsiteX37" fmla="*/ 242483 w 583572"/>
              <a:gd name="connsiteY37" fmla="*/ 237149 h 583572"/>
              <a:gd name="connsiteX38" fmla="*/ 242483 w 583572"/>
              <a:gd name="connsiteY38" fmla="*/ 237149 h 583572"/>
              <a:gd name="connsiteX39" fmla="*/ 242483 w 583572"/>
              <a:gd name="connsiteY39" fmla="*/ 237149 h 583572"/>
              <a:gd name="connsiteX40" fmla="*/ 242483 w 583572"/>
              <a:gd name="connsiteY40" fmla="*/ 237149 h 583572"/>
              <a:gd name="connsiteX41" fmla="*/ 242483 w 583572"/>
              <a:gd name="connsiteY41" fmla="*/ 237149 h 583572"/>
              <a:gd name="connsiteX42" fmla="*/ 242483 w 583572"/>
              <a:gd name="connsiteY42" fmla="*/ 237149 h 583572"/>
              <a:gd name="connsiteX43" fmla="*/ 242483 w 583572"/>
              <a:gd name="connsiteY43" fmla="*/ 237149 h 583572"/>
              <a:gd name="connsiteX44" fmla="*/ 242483 w 583572"/>
              <a:gd name="connsiteY44" fmla="*/ 237149 h 583572"/>
              <a:gd name="connsiteX45" fmla="*/ 242483 w 583572"/>
              <a:gd name="connsiteY45" fmla="*/ 237149 h 583572"/>
              <a:gd name="connsiteX46" fmla="*/ 242483 w 583572"/>
              <a:gd name="connsiteY46" fmla="*/ 237149 h 583572"/>
              <a:gd name="connsiteX47" fmla="*/ 242483 w 583572"/>
              <a:gd name="connsiteY47" fmla="*/ 237149 h 583572"/>
              <a:gd name="connsiteX48" fmla="*/ 242483 w 583572"/>
              <a:gd name="connsiteY48" fmla="*/ 237149 h 583572"/>
              <a:gd name="connsiteX49" fmla="*/ 242483 w 583572"/>
              <a:gd name="connsiteY49" fmla="*/ 237149 h 583572"/>
              <a:gd name="connsiteX50" fmla="*/ 242483 w 583572"/>
              <a:gd name="connsiteY50" fmla="*/ 237149 h 583572"/>
              <a:gd name="connsiteX51" fmla="*/ 242483 w 583572"/>
              <a:gd name="connsiteY51" fmla="*/ 237149 h 583572"/>
              <a:gd name="connsiteX52" fmla="*/ 242483 w 583572"/>
              <a:gd name="connsiteY52" fmla="*/ 237149 h 583572"/>
              <a:gd name="connsiteX53" fmla="*/ 242483 w 583572"/>
              <a:gd name="connsiteY53" fmla="*/ 237149 h 583572"/>
              <a:gd name="connsiteX54" fmla="*/ 242483 w 583572"/>
              <a:gd name="connsiteY54" fmla="*/ 237149 h 583572"/>
              <a:gd name="connsiteX55" fmla="*/ 242483 w 583572"/>
              <a:gd name="connsiteY55" fmla="*/ 235910 h 583572"/>
              <a:gd name="connsiteX56" fmla="*/ 242483 w 583572"/>
              <a:gd name="connsiteY56" fmla="*/ 110085 h 583572"/>
              <a:gd name="connsiteX57" fmla="*/ 361545 w 583572"/>
              <a:gd name="connsiteY57" fmla="*/ 235910 h 583572"/>
              <a:gd name="connsiteX58" fmla="*/ 235339 w 583572"/>
              <a:gd name="connsiteY58" fmla="*/ 362117 h 583572"/>
              <a:gd name="connsiteX59" fmla="*/ 151424 w 583572"/>
              <a:gd name="connsiteY59" fmla="*/ 329922 h 583572"/>
              <a:gd name="connsiteX60" fmla="*/ 240387 w 583572"/>
              <a:gd name="connsiteY60" fmla="*/ 240959 h 583572"/>
              <a:gd name="connsiteX61" fmla="*/ 228481 w 583572"/>
              <a:gd name="connsiteY61" fmla="*/ 109704 h 583572"/>
              <a:gd name="connsiteX62" fmla="*/ 228481 w 583572"/>
              <a:gd name="connsiteY62" fmla="*/ 228386 h 583572"/>
              <a:gd name="connsiteX63" fmla="*/ 109799 w 583572"/>
              <a:gd name="connsiteY63" fmla="*/ 228386 h 583572"/>
              <a:gd name="connsiteX64" fmla="*/ 228481 w 583572"/>
              <a:gd name="connsiteY64" fmla="*/ 109704 h 583572"/>
              <a:gd name="connsiteX65" fmla="*/ 218384 w 583572"/>
              <a:gd name="connsiteY65" fmla="*/ 242673 h 583572"/>
              <a:gd name="connsiteX66" fmla="*/ 141613 w 583572"/>
              <a:gd name="connsiteY66" fmla="*/ 319445 h 583572"/>
              <a:gd name="connsiteX67" fmla="*/ 109799 w 583572"/>
              <a:gd name="connsiteY67" fmla="*/ 242673 h 583572"/>
              <a:gd name="connsiteX68" fmla="*/ 218384 w 583572"/>
              <a:gd name="connsiteY68" fmla="*/ 242673 h 583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83572" h="583572">
                <a:moveTo>
                  <a:pt x="235625" y="471178"/>
                </a:moveTo>
                <a:cubicBezTo>
                  <a:pt x="293727" y="471178"/>
                  <a:pt x="351734" y="449651"/>
                  <a:pt x="396978" y="407075"/>
                </a:cubicBezTo>
                <a:lnTo>
                  <a:pt x="573476" y="583573"/>
                </a:lnTo>
                <a:lnTo>
                  <a:pt x="583573" y="573476"/>
                </a:lnTo>
                <a:lnTo>
                  <a:pt x="407075" y="396978"/>
                </a:lnTo>
                <a:cubicBezTo>
                  <a:pt x="493943" y="304681"/>
                  <a:pt x="492514" y="159139"/>
                  <a:pt x="402312" y="68937"/>
                </a:cubicBezTo>
                <a:cubicBezTo>
                  <a:pt x="310396" y="-22979"/>
                  <a:pt x="160853" y="-22979"/>
                  <a:pt x="68937" y="68937"/>
                </a:cubicBezTo>
                <a:cubicBezTo>
                  <a:pt x="-22979" y="160853"/>
                  <a:pt x="-22979" y="310396"/>
                  <a:pt x="68937" y="402312"/>
                </a:cubicBezTo>
                <a:cubicBezTo>
                  <a:pt x="114943" y="448318"/>
                  <a:pt x="175236" y="471273"/>
                  <a:pt x="235625" y="471273"/>
                </a:cubicBezTo>
                <a:close/>
                <a:moveTo>
                  <a:pt x="79034" y="78938"/>
                </a:moveTo>
                <a:cubicBezTo>
                  <a:pt x="122182" y="35790"/>
                  <a:pt x="178951" y="14168"/>
                  <a:pt x="235625" y="14168"/>
                </a:cubicBezTo>
                <a:cubicBezTo>
                  <a:pt x="292298" y="14168"/>
                  <a:pt x="349067" y="35790"/>
                  <a:pt x="392216" y="78938"/>
                </a:cubicBezTo>
                <a:cubicBezTo>
                  <a:pt x="478607" y="165330"/>
                  <a:pt x="478607" y="305824"/>
                  <a:pt x="392216" y="392120"/>
                </a:cubicBezTo>
                <a:cubicBezTo>
                  <a:pt x="305824" y="478417"/>
                  <a:pt x="165330" y="478512"/>
                  <a:pt x="79034" y="392120"/>
                </a:cubicBezTo>
                <a:cubicBezTo>
                  <a:pt x="-7263" y="305729"/>
                  <a:pt x="-7358" y="165235"/>
                  <a:pt x="79034" y="78938"/>
                </a:cubicBezTo>
                <a:close/>
                <a:moveTo>
                  <a:pt x="136279" y="334875"/>
                </a:moveTo>
                <a:cubicBezTo>
                  <a:pt x="136279" y="334875"/>
                  <a:pt x="136469" y="334875"/>
                  <a:pt x="136565" y="335066"/>
                </a:cubicBezTo>
                <a:cubicBezTo>
                  <a:pt x="161996" y="360402"/>
                  <a:pt x="197048" y="376023"/>
                  <a:pt x="235625" y="376023"/>
                </a:cubicBezTo>
                <a:cubicBezTo>
                  <a:pt x="313063" y="376023"/>
                  <a:pt x="376118" y="312968"/>
                  <a:pt x="376118" y="235529"/>
                </a:cubicBezTo>
                <a:cubicBezTo>
                  <a:pt x="376118" y="158091"/>
                  <a:pt x="313063" y="95036"/>
                  <a:pt x="235625" y="95036"/>
                </a:cubicBezTo>
                <a:cubicBezTo>
                  <a:pt x="158186" y="95036"/>
                  <a:pt x="95131" y="158091"/>
                  <a:pt x="95131" y="235529"/>
                </a:cubicBezTo>
                <a:cubicBezTo>
                  <a:pt x="95131" y="274201"/>
                  <a:pt x="110847" y="309158"/>
                  <a:pt x="136088" y="334589"/>
                </a:cubicBezTo>
                <a:cubicBezTo>
                  <a:pt x="136088" y="334589"/>
                  <a:pt x="136088" y="334780"/>
                  <a:pt x="136279" y="334875"/>
                </a:cubicBezTo>
                <a:close/>
                <a:moveTo>
                  <a:pt x="240673" y="240578"/>
                </a:moveTo>
                <a:lnTo>
                  <a:pt x="240673" y="240578"/>
                </a:lnTo>
                <a:cubicBezTo>
                  <a:pt x="240673" y="240578"/>
                  <a:pt x="240673" y="240578"/>
                  <a:pt x="240673" y="240578"/>
                </a:cubicBezTo>
                <a:cubicBezTo>
                  <a:pt x="240673" y="240578"/>
                  <a:pt x="240673" y="240578"/>
                  <a:pt x="240673" y="240578"/>
                </a:cubicBezTo>
                <a:cubicBezTo>
                  <a:pt x="240673" y="240578"/>
                  <a:pt x="240673" y="240578"/>
                  <a:pt x="240673" y="240578"/>
                </a:cubicBezTo>
                <a:lnTo>
                  <a:pt x="240673" y="240578"/>
                </a:lnTo>
                <a:cubicBezTo>
                  <a:pt x="241625" y="239625"/>
                  <a:pt x="242197" y="238387"/>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cubicBezTo>
                  <a:pt x="242483" y="237149"/>
                  <a:pt x="242483" y="237149"/>
                  <a:pt x="242483" y="237149"/>
                </a:cubicBez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lnTo>
                  <a:pt x="242483" y="237149"/>
                </a:lnTo>
                <a:cubicBezTo>
                  <a:pt x="242483" y="237149"/>
                  <a:pt x="242483" y="237149"/>
                  <a:pt x="242483" y="237149"/>
                </a:cubicBezTo>
                <a:lnTo>
                  <a:pt x="242483" y="237149"/>
                </a:lnTo>
                <a:cubicBezTo>
                  <a:pt x="242483" y="237149"/>
                  <a:pt x="242578" y="236291"/>
                  <a:pt x="242483" y="235910"/>
                </a:cubicBezTo>
                <a:lnTo>
                  <a:pt x="242483" y="110085"/>
                </a:lnTo>
                <a:cubicBezTo>
                  <a:pt x="308777" y="113800"/>
                  <a:pt x="361545" y="168759"/>
                  <a:pt x="361545" y="235910"/>
                </a:cubicBezTo>
                <a:cubicBezTo>
                  <a:pt x="361545" y="303062"/>
                  <a:pt x="304967" y="362117"/>
                  <a:pt x="235339" y="362117"/>
                </a:cubicBezTo>
                <a:cubicBezTo>
                  <a:pt x="203144" y="362117"/>
                  <a:pt x="173712" y="349829"/>
                  <a:pt x="151424" y="329922"/>
                </a:cubicBezTo>
                <a:lnTo>
                  <a:pt x="240387" y="240959"/>
                </a:lnTo>
                <a:close/>
                <a:moveTo>
                  <a:pt x="228481" y="109704"/>
                </a:moveTo>
                <a:lnTo>
                  <a:pt x="228481" y="228386"/>
                </a:lnTo>
                <a:lnTo>
                  <a:pt x="109799" y="228386"/>
                </a:lnTo>
                <a:cubicBezTo>
                  <a:pt x="113419" y="164473"/>
                  <a:pt x="164663" y="113324"/>
                  <a:pt x="228481" y="109704"/>
                </a:cubicBezTo>
                <a:close/>
                <a:moveTo>
                  <a:pt x="218384" y="242673"/>
                </a:moveTo>
                <a:lnTo>
                  <a:pt x="141613" y="319445"/>
                </a:lnTo>
                <a:cubicBezTo>
                  <a:pt x="123134" y="298775"/>
                  <a:pt x="111419" y="272105"/>
                  <a:pt x="109799" y="242673"/>
                </a:cubicBezTo>
                <a:lnTo>
                  <a:pt x="218384" y="242673"/>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sp>
        <p:nvSpPr>
          <p:cNvPr id="15" name="TextBox 14">
            <a:extLst>
              <a:ext uri="{FF2B5EF4-FFF2-40B4-BE49-F238E27FC236}">
                <a16:creationId xmlns:a16="http://schemas.microsoft.com/office/drawing/2014/main" id="{A0500FCD-0BB6-CD0C-6FFC-C5FFF13721DD}"/>
              </a:ext>
            </a:extLst>
          </p:cNvPr>
          <p:cNvSpPr txBox="1"/>
          <p:nvPr/>
        </p:nvSpPr>
        <p:spPr>
          <a:xfrm>
            <a:off x="8090609" y="4051547"/>
            <a:ext cx="2750347" cy="307777"/>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2000" dirty="0">
                <a:latin typeface="Inter" panose="02000503000000020004" pitchFamily="2" charset="0"/>
                <a:ea typeface="ＭＳ Ｐゴシック" charset="0"/>
              </a:rPr>
              <a:t>Takeaway #3</a:t>
            </a:r>
          </a:p>
        </p:txBody>
      </p:sp>
      <p:sp>
        <p:nvSpPr>
          <p:cNvPr id="14" name="TextBox 13">
            <a:extLst>
              <a:ext uri="{FF2B5EF4-FFF2-40B4-BE49-F238E27FC236}">
                <a16:creationId xmlns:a16="http://schemas.microsoft.com/office/drawing/2014/main" id="{906F7F65-90AC-D751-886D-8D897C9095D4}"/>
              </a:ext>
            </a:extLst>
          </p:cNvPr>
          <p:cNvSpPr txBox="1"/>
          <p:nvPr/>
        </p:nvSpPr>
        <p:spPr>
          <a:xfrm>
            <a:off x="8090608" y="4517618"/>
            <a:ext cx="2750347" cy="1231106"/>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1600" dirty="0">
                <a:latin typeface="Inter" panose="02000503000000020004" pitchFamily="2" charset="0"/>
                <a:ea typeface="ＭＳ Ｐゴシック" charset="0"/>
              </a:rPr>
              <a:t>Understand how to turn compliance reports into proactive, automated security actions inside Splunk.</a:t>
            </a:r>
            <a:endParaRPr lang="en-US" sz="1600" kern="1200" dirty="0">
              <a:latin typeface="Inter" panose="02000503000000020004" pitchFamily="2" charset="0"/>
              <a:ea typeface="ＭＳ Ｐゴシック" charset="0"/>
            </a:endParaRPr>
          </a:p>
        </p:txBody>
      </p:sp>
      <p:sp>
        <p:nvSpPr>
          <p:cNvPr id="4" name="TextBox 3">
            <a:extLst>
              <a:ext uri="{FF2B5EF4-FFF2-40B4-BE49-F238E27FC236}">
                <a16:creationId xmlns:a16="http://schemas.microsoft.com/office/drawing/2014/main" id="{9FA1873F-9487-203B-F48C-CA253E25C19A}"/>
              </a:ext>
            </a:extLst>
          </p:cNvPr>
          <p:cNvSpPr txBox="1"/>
          <p:nvPr/>
        </p:nvSpPr>
        <p:spPr>
          <a:xfrm>
            <a:off x="1260524" y="1395692"/>
            <a:ext cx="9227246" cy="1605568"/>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1600" dirty="0">
                <a:latin typeface="Inter" panose="02000503000000020004" pitchFamily="2" charset="0"/>
                <a:ea typeface="ＭＳ Ｐゴシック" charset="0"/>
              </a:rPr>
              <a:t>Compliance doesn’t have to be a checkbox chase. Splunk can transform governance into a living, automated process—mapping assets, identities, and risks in real time.  </a:t>
            </a:r>
          </a:p>
          <a:p>
            <a:pPr defTabSz="912276" fontAlgn="base">
              <a:spcAft>
                <a:spcPts val="1000"/>
              </a:spcAft>
              <a:buClr>
                <a:schemeClr val="bg1"/>
              </a:buClr>
              <a:buSzPct val="100000"/>
            </a:pPr>
            <a:r>
              <a:rPr lang="en-US" sz="1600" dirty="0">
                <a:latin typeface="Inter" panose="02000503000000020004" pitchFamily="2" charset="0"/>
                <a:ea typeface="ＭＳ Ｐゴシック" charset="0"/>
              </a:rPr>
              <a:t>Learn how to align with the UK Government’s Cyber Assessment Framework &amp;  the NIST Cyber Security Framework while leveraging AI‑driven, agentic workflows to detect anomalies, trigger automated responses, and sustain a continuously monitored, audit‑ready environment powered by Splunk Enterprise and Splunk Enterprise Security.</a:t>
            </a:r>
            <a:endParaRPr lang="en-US" sz="1600" kern="1200" dirty="0">
              <a:latin typeface="Inter" panose="02000503000000020004" pitchFamily="2" charset="0"/>
              <a:ea typeface="ＭＳ Ｐゴシック" charset="0"/>
            </a:endParaRPr>
          </a:p>
        </p:txBody>
      </p:sp>
    </p:spTree>
    <p:extLst>
      <p:ext uri="{BB962C8B-B14F-4D97-AF65-F5344CB8AC3E}">
        <p14:creationId xmlns:p14="http://schemas.microsoft.com/office/powerpoint/2010/main" val="500760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CDFB0-C33D-2C14-4285-2586D7BA039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A9AD78-5A7F-DBCD-7205-8F19B31119E8}"/>
              </a:ext>
            </a:extLst>
          </p:cNvPr>
          <p:cNvSpPr>
            <a:spLocks noGrp="1"/>
          </p:cNvSpPr>
          <p:nvPr>
            <p:ph type="title"/>
          </p:nvPr>
        </p:nvSpPr>
        <p:spPr/>
        <p:txBody>
          <a:bodyPr/>
          <a:lstStyle/>
          <a:p>
            <a:r>
              <a:rPr lang="en-GB" dirty="0"/>
              <a:t>You can’t protect what you don’t know you have.</a:t>
            </a:r>
          </a:p>
        </p:txBody>
      </p:sp>
      <p:sp>
        <p:nvSpPr>
          <p:cNvPr id="8" name="Text Placeholder 7">
            <a:extLst>
              <a:ext uri="{FF2B5EF4-FFF2-40B4-BE49-F238E27FC236}">
                <a16:creationId xmlns:a16="http://schemas.microsoft.com/office/drawing/2014/main" id="{290A03A8-3D16-D477-5C3C-06C585910746}"/>
              </a:ext>
            </a:extLst>
          </p:cNvPr>
          <p:cNvSpPr>
            <a:spLocks noGrp="1"/>
          </p:cNvSpPr>
          <p:nvPr>
            <p:ph type="body" sz="quarter" idx="12"/>
          </p:nvPr>
        </p:nvSpPr>
        <p:spPr/>
        <p:txBody>
          <a:bodyPr/>
          <a:lstStyle/>
          <a:p>
            <a:r>
              <a:rPr lang="en-GB" dirty="0"/>
              <a:t>Dave DeWalt</a:t>
            </a:r>
          </a:p>
          <a:p>
            <a:r>
              <a:rPr lang="en-GB" sz="1600" dirty="0">
                <a:solidFill>
                  <a:schemeClr val="bg1">
                    <a:lumMod val="75000"/>
                  </a:schemeClr>
                </a:solidFill>
              </a:rPr>
              <a:t>Former CEO, McAfee &amp; FireEye · Founder, NightDragon</a:t>
            </a:r>
          </a:p>
        </p:txBody>
      </p:sp>
    </p:spTree>
    <p:extLst>
      <p:ext uri="{BB962C8B-B14F-4D97-AF65-F5344CB8AC3E}">
        <p14:creationId xmlns:p14="http://schemas.microsoft.com/office/powerpoint/2010/main" val="475416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8F32256-A492-DDE8-4CBF-B3DF0BE815D9}"/>
              </a:ext>
            </a:extLst>
          </p:cNvPr>
          <p:cNvSpPr>
            <a:spLocks noGrp="1"/>
          </p:cNvSpPr>
          <p:nvPr>
            <p:ph type="title"/>
          </p:nvPr>
        </p:nvSpPr>
        <p:spPr/>
        <p:txBody>
          <a:bodyPr/>
          <a:lstStyle/>
          <a:p>
            <a:r>
              <a:rPr lang="en-GB" dirty="0"/>
              <a:t>Defining Terms</a:t>
            </a:r>
          </a:p>
        </p:txBody>
      </p:sp>
      <p:sp>
        <p:nvSpPr>
          <p:cNvPr id="7" name="Text Placeholder 6">
            <a:extLst>
              <a:ext uri="{FF2B5EF4-FFF2-40B4-BE49-F238E27FC236}">
                <a16:creationId xmlns:a16="http://schemas.microsoft.com/office/drawing/2014/main" id="{B599812E-B14C-7CD8-5FC3-6E7DFD61BFA2}"/>
              </a:ext>
            </a:extLst>
          </p:cNvPr>
          <p:cNvSpPr>
            <a:spLocks noGrp="1"/>
          </p:cNvSpPr>
          <p:nvPr>
            <p:ph type="body" sz="quarter" idx="11"/>
          </p:nvPr>
        </p:nvSpPr>
        <p:spPr/>
        <p:txBody>
          <a:bodyPr/>
          <a:lstStyle/>
          <a:p>
            <a:r>
              <a:rPr lang="en-GB" dirty="0"/>
              <a:t>…because you really guess how much is debated</a:t>
            </a:r>
          </a:p>
        </p:txBody>
      </p:sp>
      <p:sp>
        <p:nvSpPr>
          <p:cNvPr id="8" name="Text Placeholder 7">
            <a:extLst>
              <a:ext uri="{FF2B5EF4-FFF2-40B4-BE49-F238E27FC236}">
                <a16:creationId xmlns:a16="http://schemas.microsoft.com/office/drawing/2014/main" id="{E015E59A-C161-3A76-A6D2-F9E102EE147F}"/>
              </a:ext>
            </a:extLst>
          </p:cNvPr>
          <p:cNvSpPr>
            <a:spLocks noGrp="1"/>
          </p:cNvSpPr>
          <p:nvPr>
            <p:ph type="body" sz="quarter" idx="13"/>
          </p:nvPr>
        </p:nvSpPr>
        <p:spPr/>
        <p:txBody>
          <a:bodyPr/>
          <a:lstStyle/>
          <a:p>
            <a:r>
              <a:rPr lang="en-GB" dirty="0"/>
              <a:t>Asset</a:t>
            </a:r>
          </a:p>
        </p:txBody>
      </p:sp>
      <p:sp>
        <p:nvSpPr>
          <p:cNvPr id="9" name="Text Placeholder 8">
            <a:extLst>
              <a:ext uri="{FF2B5EF4-FFF2-40B4-BE49-F238E27FC236}">
                <a16:creationId xmlns:a16="http://schemas.microsoft.com/office/drawing/2014/main" id="{C8DD6820-D4B9-A46A-3632-830AD7475768}"/>
              </a:ext>
            </a:extLst>
          </p:cNvPr>
          <p:cNvSpPr>
            <a:spLocks noGrp="1"/>
          </p:cNvSpPr>
          <p:nvPr>
            <p:ph type="body" sz="quarter" idx="14"/>
          </p:nvPr>
        </p:nvSpPr>
        <p:spPr/>
        <p:txBody>
          <a:bodyPr/>
          <a:lstStyle/>
          <a:p>
            <a:r>
              <a:rPr lang="en-GB" dirty="0"/>
              <a:t>any component of the technical estate that must be identified, tracked, and secured - physical hardware, VMs, cloud instances, containers, code repositories, SaaS/third-party services. Not just servers and laptops.</a:t>
            </a:r>
          </a:p>
        </p:txBody>
      </p:sp>
      <p:sp>
        <p:nvSpPr>
          <p:cNvPr id="10" name="Text Placeholder 9">
            <a:extLst>
              <a:ext uri="{FF2B5EF4-FFF2-40B4-BE49-F238E27FC236}">
                <a16:creationId xmlns:a16="http://schemas.microsoft.com/office/drawing/2014/main" id="{342D889F-B96B-CBBC-02EB-C4B763F40721}"/>
              </a:ext>
            </a:extLst>
          </p:cNvPr>
          <p:cNvSpPr>
            <a:spLocks noGrp="1"/>
          </p:cNvSpPr>
          <p:nvPr>
            <p:ph type="body" sz="quarter" idx="17"/>
          </p:nvPr>
        </p:nvSpPr>
        <p:spPr/>
        <p:txBody>
          <a:bodyPr/>
          <a:lstStyle/>
          <a:p>
            <a:r>
              <a:rPr lang="en-GB" dirty="0"/>
              <a:t>Identity</a:t>
            </a:r>
          </a:p>
        </p:txBody>
      </p:sp>
      <p:sp>
        <p:nvSpPr>
          <p:cNvPr id="11" name="Text Placeholder 10">
            <a:extLst>
              <a:ext uri="{FF2B5EF4-FFF2-40B4-BE49-F238E27FC236}">
                <a16:creationId xmlns:a16="http://schemas.microsoft.com/office/drawing/2014/main" id="{4700771F-4AA2-FB50-A9DB-C32154E0D5C7}"/>
              </a:ext>
            </a:extLst>
          </p:cNvPr>
          <p:cNvSpPr>
            <a:spLocks noGrp="1"/>
          </p:cNvSpPr>
          <p:nvPr>
            <p:ph type="body" sz="quarter" idx="18"/>
          </p:nvPr>
        </p:nvSpPr>
        <p:spPr/>
        <p:txBody>
          <a:bodyPr/>
          <a:lstStyle/>
          <a:p>
            <a:r>
              <a:rPr lang="en-GB" dirty="0"/>
              <a:t>any entity - human or non-human - that authenticates and is granted access: users, service accounts, API keys, workload identities, certificates.</a:t>
            </a:r>
          </a:p>
        </p:txBody>
      </p:sp>
      <p:pic>
        <p:nvPicPr>
          <p:cNvPr id="16" name="Picture Placeholder 15">
            <a:extLst>
              <a:ext uri="{FF2B5EF4-FFF2-40B4-BE49-F238E27FC236}">
                <a16:creationId xmlns:a16="http://schemas.microsoft.com/office/drawing/2014/main" id="{C93BC5F3-042D-2FB3-0115-304835DF1BED}"/>
              </a:ext>
            </a:extLst>
          </p:cNvPr>
          <p:cNvPicPr>
            <a:picLocks noGrp="1" noChangeAspect="1"/>
          </p:cNvPicPr>
          <p:nvPr>
            <p:ph type="pic" sz="quarter" idx="19"/>
          </p:nvPr>
        </p:nvPicPr>
        <p:blipFill>
          <a:blip r:embed="rId3">
            <a:extLst>
              <a:ext uri="{28A0092B-C50C-407E-A947-70E740481C1C}">
                <a14:useLocalDpi xmlns:a14="http://schemas.microsoft.com/office/drawing/2010/main" val="0"/>
              </a:ext>
            </a:extLst>
          </a:blip>
          <a:srcRect t="1304" b="1304"/>
          <a:stretch>
            <a:fillRect/>
          </a:stretch>
        </p:blipFill>
        <p:spPr>
          <a:prstGeom prst="roundRect">
            <a:avLst>
              <a:gd name="adj" fmla="val 5474"/>
            </a:avLst>
          </a:prstGeom>
          <a:noFill/>
        </p:spPr>
      </p:pic>
      <p:pic>
        <p:nvPicPr>
          <p:cNvPr id="18" name="Picture Placeholder 17">
            <a:extLst>
              <a:ext uri="{FF2B5EF4-FFF2-40B4-BE49-F238E27FC236}">
                <a16:creationId xmlns:a16="http://schemas.microsoft.com/office/drawing/2014/main" id="{F026AAF1-3103-EB64-C2A8-9E200128142B}"/>
              </a:ext>
            </a:extLst>
          </p:cNvPr>
          <p:cNvPicPr>
            <a:picLocks noGrp="1" noChangeAspect="1"/>
          </p:cNvPicPr>
          <p:nvPr>
            <p:ph type="pic" sz="quarter" idx="20"/>
          </p:nvPr>
        </p:nvPicPr>
        <p:blipFill>
          <a:blip r:embed="rId4">
            <a:extLst>
              <a:ext uri="{28A0092B-C50C-407E-A947-70E740481C1C}">
                <a14:useLocalDpi xmlns:a14="http://schemas.microsoft.com/office/drawing/2010/main" val="0"/>
              </a:ext>
            </a:extLst>
          </a:blip>
          <a:srcRect t="1304" b="1304"/>
          <a:stretch>
            <a:fillRect/>
          </a:stretch>
        </p:blipFill>
        <p:spPr>
          <a:prstGeom prst="roundRect">
            <a:avLst>
              <a:gd name="adj" fmla="val 5474"/>
            </a:avLst>
          </a:prstGeom>
          <a:noFill/>
        </p:spPr>
      </p:pic>
      <p:sp>
        <p:nvSpPr>
          <p:cNvPr id="14" name="TextBox 13">
            <a:extLst>
              <a:ext uri="{FF2B5EF4-FFF2-40B4-BE49-F238E27FC236}">
                <a16:creationId xmlns:a16="http://schemas.microsoft.com/office/drawing/2014/main" id="{9DD51319-4800-9DBD-BB97-1BF1B75E1F22}"/>
              </a:ext>
            </a:extLst>
          </p:cNvPr>
          <p:cNvSpPr txBox="1"/>
          <p:nvPr/>
        </p:nvSpPr>
        <p:spPr>
          <a:xfrm>
            <a:off x="1239715" y="8053754"/>
            <a:ext cx="0" cy="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GB" sz="1600" kern="1200" dirty="0" err="1">
              <a:solidFill>
                <a:schemeClr val="bg1"/>
              </a:solidFill>
              <a:latin typeface="+mn-lt"/>
              <a:ea typeface="ＭＳ Ｐゴシック" charset="0"/>
            </a:endParaRPr>
          </a:p>
        </p:txBody>
      </p:sp>
    </p:spTree>
    <p:extLst>
      <p:ext uri="{BB962C8B-B14F-4D97-AF65-F5344CB8AC3E}">
        <p14:creationId xmlns:p14="http://schemas.microsoft.com/office/powerpoint/2010/main" val="382189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9C37095-2633-906F-65DB-71A42CB8A45A}"/>
              </a:ext>
            </a:extLst>
          </p:cNvPr>
          <p:cNvSpPr>
            <a:spLocks noGrp="1"/>
          </p:cNvSpPr>
          <p:nvPr>
            <p:ph type="title"/>
          </p:nvPr>
        </p:nvSpPr>
        <p:spPr/>
        <p:txBody>
          <a:bodyPr/>
          <a:lstStyle/>
          <a:p>
            <a:r>
              <a:rPr lang="en-GB" dirty="0"/>
              <a:t>Most orgs don't have a CMDB. The ones that do don't trust it.</a:t>
            </a:r>
          </a:p>
        </p:txBody>
      </p:sp>
      <p:sp>
        <p:nvSpPr>
          <p:cNvPr id="11" name="Text Placeholder 10">
            <a:extLst>
              <a:ext uri="{FF2B5EF4-FFF2-40B4-BE49-F238E27FC236}">
                <a16:creationId xmlns:a16="http://schemas.microsoft.com/office/drawing/2014/main" id="{FEB0A3E4-24AF-4BAA-5850-4939D278BB91}"/>
              </a:ext>
            </a:extLst>
          </p:cNvPr>
          <p:cNvSpPr>
            <a:spLocks noGrp="1"/>
          </p:cNvSpPr>
          <p:nvPr>
            <p:ph type="body" sz="quarter" idx="12"/>
          </p:nvPr>
        </p:nvSpPr>
        <p:spPr/>
        <p:txBody>
          <a:bodyPr/>
          <a:lstStyle/>
          <a:p>
            <a:r>
              <a:rPr lang="en-GB" dirty="0"/>
              <a:t>Reality Check</a:t>
            </a:r>
          </a:p>
        </p:txBody>
      </p:sp>
    </p:spTree>
    <p:extLst>
      <p:ext uri="{BB962C8B-B14F-4D97-AF65-F5344CB8AC3E}">
        <p14:creationId xmlns:p14="http://schemas.microsoft.com/office/powerpoint/2010/main" val="3894423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5653E3-852B-B83E-4564-B804A6C15843}"/>
              </a:ext>
            </a:extLst>
          </p:cNvPr>
          <p:cNvSpPr>
            <a:spLocks noGrp="1"/>
          </p:cNvSpPr>
          <p:nvPr>
            <p:ph type="title"/>
          </p:nvPr>
        </p:nvSpPr>
        <p:spPr/>
        <p:txBody>
          <a:bodyPr/>
          <a:lstStyle/>
          <a:p>
            <a:r>
              <a:rPr lang="en-GB" dirty="0"/>
              <a:t>Why CMDBs Fail (Even When They Exist)</a:t>
            </a:r>
          </a:p>
        </p:txBody>
      </p:sp>
      <p:sp>
        <p:nvSpPr>
          <p:cNvPr id="7" name="Text Placeholder 6">
            <a:extLst>
              <a:ext uri="{FF2B5EF4-FFF2-40B4-BE49-F238E27FC236}">
                <a16:creationId xmlns:a16="http://schemas.microsoft.com/office/drawing/2014/main" id="{2F753E0D-3B16-959D-98C6-89585E7E4C99}"/>
              </a:ext>
            </a:extLst>
          </p:cNvPr>
          <p:cNvSpPr>
            <a:spLocks noGrp="1"/>
          </p:cNvSpPr>
          <p:nvPr>
            <p:ph type="body" sz="quarter" idx="14"/>
          </p:nvPr>
        </p:nvSpPr>
        <p:spPr/>
        <p:txBody>
          <a:bodyPr/>
          <a:lstStyle/>
          <a:p>
            <a:r>
              <a:rPr lang="en-GB" sz="2800" dirty="0"/>
              <a:t>Manual entry drift, </a:t>
            </a:r>
          </a:p>
          <a:p>
            <a:r>
              <a:rPr lang="en-GB" sz="2800" dirty="0"/>
              <a:t>M&amp;A sprawl</a:t>
            </a:r>
          </a:p>
          <a:p>
            <a:r>
              <a:rPr lang="en-GB" sz="2800" dirty="0"/>
              <a:t>shadow IT</a:t>
            </a:r>
          </a:p>
          <a:p>
            <a:r>
              <a:rPr lang="en-GB" sz="2800" dirty="0"/>
              <a:t>ephemeral cloud instances</a:t>
            </a:r>
          </a:p>
          <a:p>
            <a:r>
              <a:rPr lang="en-GB" sz="2800" dirty="0"/>
              <a:t>ownership silos. </a:t>
            </a:r>
          </a:p>
          <a:p>
            <a:endParaRPr lang="en-GB" sz="2800" dirty="0"/>
          </a:p>
        </p:txBody>
      </p:sp>
      <p:sp>
        <p:nvSpPr>
          <p:cNvPr id="8" name="Text Placeholder 7">
            <a:extLst>
              <a:ext uri="{FF2B5EF4-FFF2-40B4-BE49-F238E27FC236}">
                <a16:creationId xmlns:a16="http://schemas.microsoft.com/office/drawing/2014/main" id="{DE8EEBD6-605D-E836-1CB4-CBF9DE211C3D}"/>
              </a:ext>
            </a:extLst>
          </p:cNvPr>
          <p:cNvSpPr>
            <a:spLocks noGrp="1"/>
          </p:cNvSpPr>
          <p:nvPr>
            <p:ph type="body" sz="quarter" idx="15"/>
          </p:nvPr>
        </p:nvSpPr>
        <p:spPr/>
        <p:txBody>
          <a:bodyPr/>
          <a:lstStyle/>
          <a:p>
            <a:pPr marL="0" indent="0">
              <a:buNone/>
            </a:pPr>
            <a:r>
              <a:rPr lang="en-GB" sz="3200" dirty="0"/>
              <a:t>The CMDB is a snapshot; your environment is a stream.</a:t>
            </a:r>
          </a:p>
        </p:txBody>
      </p:sp>
    </p:spTree>
    <p:extLst>
      <p:ext uri="{BB962C8B-B14F-4D97-AF65-F5344CB8AC3E}">
        <p14:creationId xmlns:p14="http://schemas.microsoft.com/office/powerpoint/2010/main" val="1847699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1268104-07B4-FEA4-967F-3F9EBA138A39}"/>
              </a:ext>
            </a:extLst>
          </p:cNvPr>
          <p:cNvSpPr>
            <a:spLocks noGrp="1"/>
          </p:cNvSpPr>
          <p:nvPr>
            <p:ph type="title"/>
          </p:nvPr>
        </p:nvSpPr>
        <p:spPr/>
        <p:txBody>
          <a:bodyPr/>
          <a:lstStyle/>
          <a:p>
            <a:r>
              <a:rPr lang="en-GB" dirty="0"/>
              <a:t>Reframe: ES Isn't a CMDB Replacement, It's an Enrichment Layer</a:t>
            </a:r>
          </a:p>
        </p:txBody>
      </p:sp>
      <p:pic>
        <p:nvPicPr>
          <p:cNvPr id="9" name="Picture Placeholder 8">
            <a:extLst>
              <a:ext uri="{FF2B5EF4-FFF2-40B4-BE49-F238E27FC236}">
                <a16:creationId xmlns:a16="http://schemas.microsoft.com/office/drawing/2014/main" id="{3ACE34E4-4C65-4DA6-A333-18575C6498E6}"/>
              </a:ext>
            </a:extLst>
          </p:cNvPr>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l="11919" r="11919"/>
          <a:stretch>
            <a:fillRect/>
          </a:stretch>
        </p:blipFill>
        <p:spPr>
          <a:prstGeom prst="roundRect">
            <a:avLst>
              <a:gd name="adj" fmla="val 1618"/>
            </a:avLst>
          </a:prstGeom>
          <a:gradFill>
            <a:gsLst>
              <a:gs pos="12000">
                <a:srgbClr val="F7F9FC"/>
              </a:gs>
              <a:gs pos="74000">
                <a:schemeClr val="bg2"/>
              </a:gs>
              <a:gs pos="100000">
                <a:schemeClr val="accent5"/>
              </a:gs>
            </a:gsLst>
            <a:lin ang="4800000" scaled="0"/>
          </a:gradFill>
        </p:spPr>
      </p:pic>
    </p:spTree>
    <p:extLst>
      <p:ext uri="{BB962C8B-B14F-4D97-AF65-F5344CB8AC3E}">
        <p14:creationId xmlns:p14="http://schemas.microsoft.com/office/powerpoint/2010/main" val="3114484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31F6F36-1D6C-8D8D-2D27-426ECFC8F1E2}"/>
              </a:ext>
            </a:extLst>
          </p:cNvPr>
          <p:cNvSpPr>
            <a:spLocks noGrp="1"/>
          </p:cNvSpPr>
          <p:nvPr>
            <p:ph type="title"/>
          </p:nvPr>
        </p:nvSpPr>
        <p:spPr>
          <a:xfrm>
            <a:off x="6096000" y="1244600"/>
            <a:ext cx="5373688" cy="1690511"/>
          </a:xfrm>
        </p:spPr>
        <p:txBody>
          <a:bodyPr/>
          <a:lstStyle/>
          <a:p>
            <a:r>
              <a:rPr lang="en-GB" dirty="0"/>
              <a:t>“The SOC Missed the Alert”</a:t>
            </a:r>
          </a:p>
        </p:txBody>
      </p:sp>
      <p:sp>
        <p:nvSpPr>
          <p:cNvPr id="10" name="Text Placeholder 9">
            <a:extLst>
              <a:ext uri="{FF2B5EF4-FFF2-40B4-BE49-F238E27FC236}">
                <a16:creationId xmlns:a16="http://schemas.microsoft.com/office/drawing/2014/main" id="{37F2182B-C5C8-EB28-BAF3-39DC01346192}"/>
              </a:ext>
            </a:extLst>
          </p:cNvPr>
          <p:cNvSpPr>
            <a:spLocks noGrp="1"/>
          </p:cNvSpPr>
          <p:nvPr>
            <p:ph type="body" sz="quarter" idx="12"/>
          </p:nvPr>
        </p:nvSpPr>
        <p:spPr>
          <a:xfrm>
            <a:off x="6096000" y="3429000"/>
            <a:ext cx="5373688" cy="673417"/>
          </a:xfrm>
        </p:spPr>
        <p:txBody>
          <a:bodyPr/>
          <a:lstStyle/>
          <a:p>
            <a:r>
              <a:rPr lang="en-GB" dirty="0"/>
              <a:t>Everyone always,  without mentioning;</a:t>
            </a:r>
          </a:p>
        </p:txBody>
      </p:sp>
      <p:sp>
        <p:nvSpPr>
          <p:cNvPr id="11" name="TextBox 10">
            <a:extLst>
              <a:ext uri="{FF2B5EF4-FFF2-40B4-BE49-F238E27FC236}">
                <a16:creationId xmlns:a16="http://schemas.microsoft.com/office/drawing/2014/main" id="{46E4A22E-52E9-9C8C-FF27-2685A35C6DB0}"/>
              </a:ext>
            </a:extLst>
          </p:cNvPr>
          <p:cNvSpPr txBox="1"/>
          <p:nvPr/>
        </p:nvSpPr>
        <p:spPr>
          <a:xfrm>
            <a:off x="5915378" y="4102418"/>
            <a:ext cx="5249333" cy="2264516"/>
          </a:xfrm>
          <a:prstGeom prst="rect">
            <a:avLst/>
          </a:prstGeom>
          <a:noFill/>
        </p:spPr>
        <p:txBody>
          <a:bodyPr wrap="squar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GB" sz="1600" dirty="0">
                <a:ea typeface="ＭＳ Ｐゴシック" charset="0"/>
              </a:rPr>
              <a:t>there was no telemetry source </a:t>
            </a:r>
          </a:p>
          <a:p>
            <a:pPr marL="182880" indent="-182880" defTabSz="912276" fontAlgn="base">
              <a:spcAft>
                <a:spcPts val="1000"/>
              </a:spcAft>
              <a:buClr>
                <a:schemeClr val="bg1"/>
              </a:buClr>
              <a:buSzPct val="100000"/>
              <a:buFont typeface="Arial" panose="020B0604020202020204" pitchFamily="34" charset="0"/>
              <a:buChar char="•"/>
            </a:pPr>
            <a:r>
              <a:rPr lang="en-GB" sz="1600" dirty="0">
                <a:ea typeface="ＭＳ Ｐゴシック" charset="0"/>
              </a:rPr>
              <a:t>the forgotten storage bucket</a:t>
            </a:r>
          </a:p>
          <a:p>
            <a:pPr marL="182880" indent="-182880" defTabSz="912276" fontAlgn="base">
              <a:spcAft>
                <a:spcPts val="1000"/>
              </a:spcAft>
              <a:buClr>
                <a:schemeClr val="bg1"/>
              </a:buClr>
              <a:buSzPct val="100000"/>
              <a:buFont typeface="Arial" panose="020B0604020202020204" pitchFamily="34" charset="0"/>
              <a:buChar char="•"/>
            </a:pPr>
            <a:r>
              <a:rPr lang="en-GB" sz="1600" dirty="0">
                <a:ea typeface="ＭＳ Ｐゴシック" charset="0"/>
              </a:rPr>
              <a:t>the still-routable decommissioned VPN concentrator</a:t>
            </a:r>
          </a:p>
          <a:p>
            <a:pPr marL="182880" indent="-182880" defTabSz="912276" fontAlgn="base">
              <a:spcAft>
                <a:spcPts val="1000"/>
              </a:spcAft>
              <a:buClr>
                <a:schemeClr val="bg1"/>
              </a:buClr>
              <a:buSzPct val="100000"/>
              <a:buFont typeface="Arial" panose="020B0604020202020204" pitchFamily="34" charset="0"/>
              <a:buChar char="•"/>
            </a:pPr>
            <a:r>
              <a:rPr lang="en-GB" sz="1600" dirty="0">
                <a:ea typeface="ＭＳ Ｐゴシック" charset="0"/>
              </a:rPr>
              <a:t>the admin account nobody remembered existed</a:t>
            </a:r>
            <a:endParaRPr lang="en-GB" sz="1600" kern="1200" dirty="0">
              <a:latin typeface="+mn-lt"/>
              <a:ea typeface="ＭＳ Ｐゴシック" charset="0"/>
            </a:endParaRPr>
          </a:p>
        </p:txBody>
      </p:sp>
    </p:spTree>
    <p:extLst>
      <p:ext uri="{BB962C8B-B14F-4D97-AF65-F5344CB8AC3E}">
        <p14:creationId xmlns:p14="http://schemas.microsoft.com/office/powerpoint/2010/main" val="2937863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FAE927-D64B-A63F-2D30-209206AE2F00}"/>
              </a:ext>
            </a:extLst>
          </p:cNvPr>
          <p:cNvSpPr>
            <a:spLocks noGrp="1"/>
          </p:cNvSpPr>
          <p:nvPr>
            <p:ph type="title"/>
          </p:nvPr>
        </p:nvSpPr>
        <p:spPr/>
        <p:txBody>
          <a:bodyPr/>
          <a:lstStyle/>
          <a:p>
            <a:r>
              <a:rPr lang="en-GB" dirty="0"/>
              <a:t>The Data You Don't Have</a:t>
            </a:r>
          </a:p>
        </p:txBody>
      </p:sp>
      <p:sp>
        <p:nvSpPr>
          <p:cNvPr id="5" name="Text Placeholder 4">
            <a:extLst>
              <a:ext uri="{FF2B5EF4-FFF2-40B4-BE49-F238E27FC236}">
                <a16:creationId xmlns:a16="http://schemas.microsoft.com/office/drawing/2014/main" id="{FC00B225-14F6-8244-D185-E35FFF435A85}"/>
              </a:ext>
            </a:extLst>
          </p:cNvPr>
          <p:cNvSpPr>
            <a:spLocks noGrp="1"/>
          </p:cNvSpPr>
          <p:nvPr>
            <p:ph type="body" sz="quarter" idx="11"/>
          </p:nvPr>
        </p:nvSpPr>
        <p:spPr/>
        <p:txBody>
          <a:bodyPr/>
          <a:lstStyle/>
          <a:p>
            <a:r>
              <a:rPr lang="en-GB" dirty="0"/>
              <a:t>(And Why That's Why Enterprise Security Fails)</a:t>
            </a:r>
          </a:p>
        </p:txBody>
      </p:sp>
      <p:sp>
        <p:nvSpPr>
          <p:cNvPr id="6" name="Text Placeholder 5">
            <a:extLst>
              <a:ext uri="{FF2B5EF4-FFF2-40B4-BE49-F238E27FC236}">
                <a16:creationId xmlns:a16="http://schemas.microsoft.com/office/drawing/2014/main" id="{60129DCF-A8EB-7A71-FB44-BFF2DABC09FD}"/>
              </a:ext>
            </a:extLst>
          </p:cNvPr>
          <p:cNvSpPr>
            <a:spLocks noGrp="1"/>
          </p:cNvSpPr>
          <p:nvPr>
            <p:ph type="body" sz="quarter" idx="13"/>
          </p:nvPr>
        </p:nvSpPr>
        <p:spPr/>
        <p:txBody>
          <a:bodyPr/>
          <a:lstStyle/>
          <a:p>
            <a:r>
              <a:rPr lang="en-GB" dirty="0"/>
              <a:t>unmanaged BYOD</a:t>
            </a:r>
          </a:p>
          <a:p>
            <a:r>
              <a:rPr lang="en-GB" dirty="0"/>
              <a:t>shadow IT</a:t>
            </a:r>
          </a:p>
          <a:p>
            <a:r>
              <a:rPr lang="en-GB" dirty="0"/>
              <a:t>SaaS nobody provisioned through IT</a:t>
            </a:r>
          </a:p>
        </p:txBody>
      </p:sp>
      <p:sp>
        <p:nvSpPr>
          <p:cNvPr id="7" name="Text Placeholder 6">
            <a:extLst>
              <a:ext uri="{FF2B5EF4-FFF2-40B4-BE49-F238E27FC236}">
                <a16:creationId xmlns:a16="http://schemas.microsoft.com/office/drawing/2014/main" id="{330809B0-66C0-B2CB-B5DA-776BA55FDEE8}"/>
              </a:ext>
            </a:extLst>
          </p:cNvPr>
          <p:cNvSpPr>
            <a:spLocks noGrp="1"/>
          </p:cNvSpPr>
          <p:nvPr>
            <p:ph type="body" sz="quarter" idx="14"/>
          </p:nvPr>
        </p:nvSpPr>
        <p:spPr/>
        <p:txBody>
          <a:bodyPr/>
          <a:lstStyle/>
          <a:p>
            <a:r>
              <a:rPr lang="en-GB" dirty="0"/>
              <a:t>decommissioned-but-still-live cloud resources nobody tore down</a:t>
            </a:r>
          </a:p>
          <a:p>
            <a:r>
              <a:rPr lang="en-GB" dirty="0"/>
              <a:t>OT/IoT devices with no agent capability</a:t>
            </a:r>
          </a:p>
        </p:txBody>
      </p:sp>
      <p:sp>
        <p:nvSpPr>
          <p:cNvPr id="8" name="Text Placeholder 7">
            <a:extLst>
              <a:ext uri="{FF2B5EF4-FFF2-40B4-BE49-F238E27FC236}">
                <a16:creationId xmlns:a16="http://schemas.microsoft.com/office/drawing/2014/main" id="{6125EEC7-FB12-0D45-92B0-77AF637781F9}"/>
              </a:ext>
            </a:extLst>
          </p:cNvPr>
          <p:cNvSpPr>
            <a:spLocks noGrp="1"/>
          </p:cNvSpPr>
          <p:nvPr>
            <p:ph type="body" sz="quarter" idx="15"/>
          </p:nvPr>
        </p:nvSpPr>
        <p:spPr/>
        <p:txBody>
          <a:bodyPr/>
          <a:lstStyle/>
          <a:p>
            <a:r>
              <a:rPr lang="en-GB" dirty="0"/>
              <a:t>contractor/third-party laptops</a:t>
            </a:r>
          </a:p>
          <a:p>
            <a:r>
              <a:rPr lang="en-GB" dirty="0"/>
              <a:t>orphaned service accounts</a:t>
            </a:r>
          </a:p>
          <a:p>
            <a:r>
              <a:rPr lang="en-GB" dirty="0"/>
              <a:t>undocumented API integrations</a:t>
            </a:r>
          </a:p>
        </p:txBody>
      </p:sp>
      <p:sp>
        <p:nvSpPr>
          <p:cNvPr id="9" name="Text Placeholder 8">
            <a:extLst>
              <a:ext uri="{FF2B5EF4-FFF2-40B4-BE49-F238E27FC236}">
                <a16:creationId xmlns:a16="http://schemas.microsoft.com/office/drawing/2014/main" id="{B3FDC232-17BF-480F-205E-31CB4DA8403C}"/>
              </a:ext>
            </a:extLst>
          </p:cNvPr>
          <p:cNvSpPr>
            <a:spLocks noGrp="1"/>
          </p:cNvSpPr>
          <p:nvPr>
            <p:ph type="body" sz="quarter" idx="16"/>
          </p:nvPr>
        </p:nvSpPr>
        <p:spPr/>
        <p:txBody>
          <a:bodyPr/>
          <a:lstStyle/>
          <a:p>
            <a:r>
              <a:rPr lang="en-GB" dirty="0"/>
              <a:t>pre-EDR-rollout assets</a:t>
            </a:r>
          </a:p>
          <a:p>
            <a:endParaRPr lang="en-GB" dirty="0"/>
          </a:p>
        </p:txBody>
      </p:sp>
      <p:sp>
        <p:nvSpPr>
          <p:cNvPr id="10" name="Text Placeholder 9">
            <a:extLst>
              <a:ext uri="{FF2B5EF4-FFF2-40B4-BE49-F238E27FC236}">
                <a16:creationId xmlns:a16="http://schemas.microsoft.com/office/drawing/2014/main" id="{E8B15D11-4BA8-D2A2-3F50-160FCB1F2C58}"/>
              </a:ext>
            </a:extLst>
          </p:cNvPr>
          <p:cNvSpPr>
            <a:spLocks noGrp="1"/>
          </p:cNvSpPr>
          <p:nvPr>
            <p:ph type="body" sz="quarter" idx="17"/>
          </p:nvPr>
        </p:nvSpPr>
        <p:spPr/>
        <p:txBody>
          <a:bodyPr/>
          <a:lstStyle/>
          <a:p>
            <a:r>
              <a:rPr lang="en-GB" dirty="0"/>
              <a:t>M&amp;A-inherited environments never fully onboarded</a:t>
            </a:r>
          </a:p>
        </p:txBody>
      </p:sp>
      <p:sp>
        <p:nvSpPr>
          <p:cNvPr id="11" name="Text Placeholder 4">
            <a:extLst>
              <a:ext uri="{FF2B5EF4-FFF2-40B4-BE49-F238E27FC236}">
                <a16:creationId xmlns:a16="http://schemas.microsoft.com/office/drawing/2014/main" id="{AD3A4FEF-B559-6D4F-8010-9BD8E5DC475B}"/>
              </a:ext>
            </a:extLst>
          </p:cNvPr>
          <p:cNvSpPr txBox="1">
            <a:spLocks/>
          </p:cNvSpPr>
          <p:nvPr/>
        </p:nvSpPr>
        <p:spPr>
          <a:xfrm>
            <a:off x="623004" y="4932538"/>
            <a:ext cx="10575573" cy="292100"/>
          </a:xfrm>
          <a:prstGeom prst="rect">
            <a:avLst/>
          </a:prstGeom>
          <a:noFill/>
        </p:spPr>
        <p:txBody>
          <a:bodyPr vert="horz" lIns="0" tIns="0" rIns="0" bIns="0" rtlCol="0">
            <a:noAutofit/>
          </a:bodyPr>
          <a:lstStyle>
            <a:lvl1pPr marL="0" indent="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None/>
              <a:defRPr lang="en-US" sz="1600" b="0" kern="1200">
                <a:solidFill>
                  <a:schemeClr val="tx1"/>
                </a:solidFill>
                <a:latin typeface="+mn-lt"/>
                <a:ea typeface="Inter" panose="02000503000000020004" pitchFamily="2" charset="0"/>
                <a:cs typeface="CiscoSans"/>
              </a:defRPr>
            </a:lvl1pPr>
            <a:lvl2pPr marL="182880" indent="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None/>
              <a:defRPr lang="en-US" sz="1400" kern="1200">
                <a:solidFill>
                  <a:schemeClr val="tx1"/>
                </a:solidFill>
                <a:latin typeface="+mn-lt"/>
                <a:ea typeface="Inter" panose="02000503000000020004" pitchFamily="2" charset="0"/>
                <a:cs typeface="CiscoSans"/>
              </a:defRPr>
            </a:lvl2pPr>
            <a:lvl3pPr marL="365760" indent="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None/>
              <a:defRPr lang="en-US" sz="1200" kern="1200">
                <a:solidFill>
                  <a:schemeClr val="tx1"/>
                </a:solidFill>
                <a:latin typeface="+mn-lt"/>
                <a:ea typeface="Inter" panose="02000503000000020004" pitchFamily="2" charset="0"/>
                <a:cs typeface="CiscoSans"/>
              </a:defRPr>
            </a:lvl3pPr>
            <a:lvl4pPr marL="548640" indent="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None/>
              <a:defRPr lang="en-US" sz="1100" kern="1200">
                <a:solidFill>
                  <a:schemeClr val="tx1"/>
                </a:solidFill>
                <a:latin typeface="+mn-lt"/>
                <a:ea typeface="Inter" panose="02000503000000020004" pitchFamily="2" charset="0"/>
                <a:cs typeface="CiscoSans"/>
              </a:defRPr>
            </a:lvl4pPr>
            <a:lvl5pPr marL="731520" indent="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None/>
              <a:defRPr lang="en-US" sz="1050" kern="1200">
                <a:solidFill>
                  <a:schemeClr val="tx1"/>
                </a:solidFill>
                <a:latin typeface="+mn-lt"/>
                <a:ea typeface="Inter" panose="02000503000000020004" pitchFamily="2"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dirty="0"/>
              <a:t>An unmonitored asset isn't a "known unknown" on a risk register — it's genuinely invisible. Your SIEM, EDR, and vulnerability scanner are only as good as their coverage; nothing analyses telemetry that was never generated</a:t>
            </a:r>
          </a:p>
        </p:txBody>
      </p:sp>
    </p:spTree>
    <p:extLst>
      <p:ext uri="{BB962C8B-B14F-4D97-AF65-F5344CB8AC3E}">
        <p14:creationId xmlns:p14="http://schemas.microsoft.com/office/powerpoint/2010/main" val="1367212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0B3C4A-36EC-BBD9-CC6C-58EFB94AB351}"/>
              </a:ext>
            </a:extLst>
          </p:cNvPr>
          <p:cNvSpPr>
            <a:spLocks noGrp="1"/>
          </p:cNvSpPr>
          <p:nvPr>
            <p:ph type="title"/>
          </p:nvPr>
        </p:nvSpPr>
        <p:spPr/>
        <p:txBody>
          <a:bodyPr/>
          <a:lstStyle/>
          <a:p>
            <a:r>
              <a:rPr lang="en-GB" dirty="0"/>
              <a:t>The Hard Part: Identity Correlation, Not Collection</a:t>
            </a:r>
          </a:p>
        </p:txBody>
      </p:sp>
      <p:pic>
        <p:nvPicPr>
          <p:cNvPr id="6" name="Picture 5">
            <a:extLst>
              <a:ext uri="{FF2B5EF4-FFF2-40B4-BE49-F238E27FC236}">
                <a16:creationId xmlns:a16="http://schemas.microsoft.com/office/drawing/2014/main" id="{831C4D35-DA34-5DFA-F31F-EC3B147A619E}"/>
              </a:ext>
            </a:extLst>
          </p:cNvPr>
          <p:cNvPicPr>
            <a:picLocks noChangeAspect="1"/>
          </p:cNvPicPr>
          <p:nvPr/>
        </p:nvPicPr>
        <p:blipFill>
          <a:blip r:embed="rId3"/>
          <a:stretch>
            <a:fillRect/>
          </a:stretch>
        </p:blipFill>
        <p:spPr>
          <a:xfrm>
            <a:off x="6391942" y="952500"/>
            <a:ext cx="5086036" cy="2261306"/>
          </a:xfrm>
          <a:prstGeom prst="rect">
            <a:avLst/>
          </a:prstGeom>
        </p:spPr>
      </p:pic>
      <p:sp>
        <p:nvSpPr>
          <p:cNvPr id="5" name="Text Placeholder 4">
            <a:extLst>
              <a:ext uri="{FF2B5EF4-FFF2-40B4-BE49-F238E27FC236}">
                <a16:creationId xmlns:a16="http://schemas.microsoft.com/office/drawing/2014/main" id="{FA65B800-D9BE-F996-E97A-47F6DA74A6CE}"/>
              </a:ext>
            </a:extLst>
          </p:cNvPr>
          <p:cNvSpPr>
            <a:spLocks noGrp="1"/>
          </p:cNvSpPr>
          <p:nvPr>
            <p:ph type="body" sz="quarter" idx="12"/>
          </p:nvPr>
        </p:nvSpPr>
        <p:spPr>
          <a:xfrm>
            <a:off x="323850" y="952500"/>
            <a:ext cx="5941483" cy="5122863"/>
          </a:xfrm>
        </p:spPr>
        <p:txBody>
          <a:bodyPr/>
          <a:lstStyle/>
          <a:p>
            <a:pPr>
              <a:spcAft>
                <a:spcPts val="0"/>
              </a:spcAft>
            </a:pPr>
            <a:r>
              <a:rPr lang="en-GB" sz="1400" dirty="0"/>
              <a:t>| </a:t>
            </a:r>
            <a:r>
              <a:rPr lang="en-GB" sz="1400" dirty="0" err="1"/>
              <a:t>inputlookup</a:t>
            </a:r>
            <a:r>
              <a:rPr lang="en-GB" sz="1400" dirty="0"/>
              <a:t> </a:t>
            </a:r>
            <a:r>
              <a:rPr lang="en-GB" sz="1400" dirty="0" err="1"/>
              <a:t>asset_inventory_lookup</a:t>
            </a:r>
            <a:endParaRPr lang="en-GB" sz="1400" dirty="0"/>
          </a:p>
          <a:p>
            <a:pPr>
              <a:spcAft>
                <a:spcPts val="0"/>
              </a:spcAft>
            </a:pPr>
            <a:r>
              <a:rPr lang="en-GB" sz="1400" dirty="0"/>
              <a:t>| eval </a:t>
            </a:r>
            <a:r>
              <a:rPr lang="en-GB" sz="1400" dirty="0" err="1"/>
              <a:t>asset_id</a:t>
            </a:r>
            <a:r>
              <a:rPr lang="en-GB" sz="1400" dirty="0"/>
              <a:t>=</a:t>
            </a:r>
            <a:r>
              <a:rPr lang="en-GB" sz="1400" dirty="0" err="1"/>
              <a:t>asset_id</a:t>
            </a:r>
            <a:endParaRPr lang="en-GB" sz="1400" dirty="0"/>
          </a:p>
          <a:p>
            <a:pPr>
              <a:spcAft>
                <a:spcPts val="0"/>
              </a:spcAft>
            </a:pPr>
            <a:r>
              <a:rPr lang="en-GB" sz="1400" dirty="0"/>
              <a:t>| join type=left </a:t>
            </a:r>
            <a:r>
              <a:rPr lang="en-GB" sz="1400" dirty="0" err="1"/>
              <a:t>asset_id</a:t>
            </a:r>
            <a:endParaRPr lang="en-GB" sz="1400" dirty="0"/>
          </a:p>
          <a:p>
            <a:pPr>
              <a:spcAft>
                <a:spcPts val="0"/>
              </a:spcAft>
            </a:pPr>
            <a:r>
              <a:rPr lang="en-GB" sz="1400" dirty="0"/>
              <a:t>    [ | </a:t>
            </a:r>
            <a:r>
              <a:rPr lang="en-GB" sz="1400" dirty="0" err="1"/>
              <a:t>inputlookup</a:t>
            </a:r>
            <a:r>
              <a:rPr lang="en-GB" sz="1400" dirty="0"/>
              <a:t> </a:t>
            </a:r>
            <a:r>
              <a:rPr lang="en-GB" sz="1400" dirty="0" err="1"/>
              <a:t>identity_inventory_lookup</a:t>
            </a:r>
            <a:endParaRPr lang="en-GB" sz="1400" dirty="0"/>
          </a:p>
          <a:p>
            <a:pPr>
              <a:spcAft>
                <a:spcPts val="0"/>
              </a:spcAft>
            </a:pPr>
            <a:r>
              <a:rPr lang="en-GB" sz="1400" dirty="0"/>
              <a:t>      | rename </a:t>
            </a:r>
            <a:r>
              <a:rPr lang="en-GB" sz="1400" dirty="0" err="1"/>
              <a:t>primary_asset_id</a:t>
            </a:r>
            <a:r>
              <a:rPr lang="en-GB" sz="1400" dirty="0"/>
              <a:t> as </a:t>
            </a:r>
            <a:r>
              <a:rPr lang="en-GB" sz="1400" dirty="0" err="1"/>
              <a:t>asset_id</a:t>
            </a:r>
            <a:r>
              <a:rPr lang="en-GB" sz="1400" dirty="0"/>
              <a:t> ]</a:t>
            </a:r>
          </a:p>
          <a:p>
            <a:pPr>
              <a:spcAft>
                <a:spcPts val="0"/>
              </a:spcAft>
            </a:pPr>
            <a:r>
              <a:rPr lang="en-GB" sz="1400" dirty="0"/>
              <a:t>| eval </a:t>
            </a:r>
            <a:r>
              <a:rPr lang="en-GB" sz="1400" dirty="0" err="1"/>
              <a:t>last_correlated</a:t>
            </a:r>
            <a:r>
              <a:rPr lang="en-GB" sz="1400" dirty="0"/>
              <a:t>=</a:t>
            </a:r>
            <a:r>
              <a:rPr lang="en-GB" sz="1400" dirty="0" err="1"/>
              <a:t>strftime</a:t>
            </a:r>
            <a:r>
              <a:rPr lang="en-GB" sz="1400" dirty="0"/>
              <a:t>(now(), </a:t>
            </a:r>
            <a:br>
              <a:rPr lang="en-GB" sz="1400" dirty="0"/>
            </a:br>
            <a:r>
              <a:rPr lang="en-GB" sz="1400" dirty="0"/>
              <a:t>"%Y-%m-%d %H:%M:%S")</a:t>
            </a:r>
          </a:p>
          <a:p>
            <a:pPr>
              <a:spcAft>
                <a:spcPts val="0"/>
              </a:spcAft>
            </a:pPr>
            <a:r>
              <a:rPr lang="en-GB" sz="1400" dirty="0"/>
              <a:t>| eval </a:t>
            </a:r>
            <a:r>
              <a:rPr lang="en-GB" sz="1400" dirty="0" err="1"/>
              <a:t>correlation_status</a:t>
            </a:r>
            <a:r>
              <a:rPr lang="en-GB" sz="1400" dirty="0"/>
              <a:t>=case(</a:t>
            </a:r>
          </a:p>
          <a:p>
            <a:pPr>
              <a:spcAft>
                <a:spcPts val="0"/>
              </a:spcAft>
            </a:pPr>
            <a:r>
              <a:rPr lang="en-GB" sz="1400" dirty="0"/>
              <a:t>    </a:t>
            </a:r>
            <a:r>
              <a:rPr lang="en-GB" sz="1400" dirty="0" err="1"/>
              <a:t>isnull</a:t>
            </a:r>
            <a:r>
              <a:rPr lang="en-GB" sz="1400" dirty="0"/>
              <a:t>(</a:t>
            </a:r>
            <a:r>
              <a:rPr lang="en-GB" sz="1400" dirty="0" err="1"/>
              <a:t>identity_id</a:t>
            </a:r>
            <a:r>
              <a:rPr lang="en-GB" sz="1400" dirty="0"/>
              <a:t>), "</a:t>
            </a:r>
            <a:r>
              <a:rPr lang="en-GB" sz="1400" dirty="0" err="1"/>
              <a:t>orphaned_asset</a:t>
            </a:r>
            <a:r>
              <a:rPr lang="en-GB" sz="1400" dirty="0"/>
              <a:t>",</a:t>
            </a:r>
          </a:p>
          <a:p>
            <a:pPr>
              <a:spcAft>
                <a:spcPts val="0"/>
              </a:spcAft>
            </a:pPr>
            <a:r>
              <a:rPr lang="en-GB" sz="1400" dirty="0"/>
              <a:t>    </a:t>
            </a:r>
            <a:r>
              <a:rPr lang="en-GB" sz="1400" dirty="0" err="1"/>
              <a:t>isnull</a:t>
            </a:r>
            <a:r>
              <a:rPr lang="en-GB" sz="1400" dirty="0"/>
              <a:t>(</a:t>
            </a:r>
            <a:r>
              <a:rPr lang="en-GB" sz="1400" dirty="0" err="1"/>
              <a:t>asset_id</a:t>
            </a:r>
            <a:r>
              <a:rPr lang="en-GB" sz="1400" dirty="0"/>
              <a:t>), "</a:t>
            </a:r>
            <a:r>
              <a:rPr lang="en-GB" sz="1400" dirty="0" err="1"/>
              <a:t>orphaned_identity</a:t>
            </a:r>
            <a:r>
              <a:rPr lang="en-GB" sz="1400" dirty="0"/>
              <a:t>",</a:t>
            </a:r>
          </a:p>
          <a:p>
            <a:pPr>
              <a:spcAft>
                <a:spcPts val="0"/>
              </a:spcAft>
            </a:pPr>
            <a:r>
              <a:rPr lang="en-GB" sz="1400" dirty="0"/>
              <a:t>    </a:t>
            </a:r>
            <a:r>
              <a:rPr lang="en-GB" sz="1400" dirty="0" err="1"/>
              <a:t>identity_status</a:t>
            </a:r>
            <a:r>
              <a:rPr lang="en-GB" sz="1400" dirty="0"/>
              <a:t>!="active",</a:t>
            </a:r>
          </a:p>
          <a:p>
            <a:pPr>
              <a:spcAft>
                <a:spcPts val="0"/>
              </a:spcAft>
            </a:pPr>
            <a:r>
              <a:rPr lang="en-GB" sz="1400" dirty="0"/>
              <a:t>    "</a:t>
            </a:r>
            <a:r>
              <a:rPr lang="en-GB" sz="1400" dirty="0" err="1"/>
              <a:t>stale_identity_on_active_asset</a:t>
            </a:r>
            <a:r>
              <a:rPr lang="en-GB" sz="1400" dirty="0"/>
              <a:t>",</a:t>
            </a:r>
          </a:p>
          <a:p>
            <a:pPr>
              <a:spcAft>
                <a:spcPts val="0"/>
              </a:spcAft>
            </a:pPr>
            <a:r>
              <a:rPr lang="en-GB" sz="1400" dirty="0"/>
              <a:t>    1=1, "correlated")</a:t>
            </a:r>
          </a:p>
          <a:p>
            <a:pPr>
              <a:spcAft>
                <a:spcPts val="0"/>
              </a:spcAft>
            </a:pPr>
            <a:r>
              <a:rPr lang="en-GB" sz="1400" dirty="0"/>
              <a:t>| table </a:t>
            </a:r>
            <a:r>
              <a:rPr lang="en-GB" sz="1400" dirty="0" err="1"/>
              <a:t>asset_id</a:t>
            </a:r>
            <a:r>
              <a:rPr lang="en-GB" sz="1400" dirty="0"/>
              <a:t>, </a:t>
            </a:r>
            <a:r>
              <a:rPr lang="en-GB" sz="1400" dirty="0" err="1"/>
              <a:t>asset_owner</a:t>
            </a:r>
            <a:r>
              <a:rPr lang="en-GB" sz="1400" dirty="0"/>
              <a:t>, </a:t>
            </a:r>
            <a:r>
              <a:rPr lang="en-GB" sz="1400" dirty="0" err="1"/>
              <a:t>asset_criticality</a:t>
            </a:r>
            <a:r>
              <a:rPr lang="en-GB" sz="1400" dirty="0"/>
              <a:t>, </a:t>
            </a:r>
            <a:r>
              <a:rPr lang="en-GB" sz="1400" dirty="0" err="1"/>
              <a:t>identity_id</a:t>
            </a:r>
            <a:r>
              <a:rPr lang="en-GB" sz="1400" dirty="0"/>
              <a:t>, </a:t>
            </a:r>
            <a:r>
              <a:rPr lang="en-GB" sz="1400" dirty="0" err="1"/>
              <a:t>identity_owner</a:t>
            </a:r>
            <a:r>
              <a:rPr lang="en-GB" sz="1400" dirty="0"/>
              <a:t>,</a:t>
            </a:r>
          </a:p>
          <a:p>
            <a:pPr>
              <a:spcAft>
                <a:spcPts val="0"/>
              </a:spcAft>
            </a:pPr>
            <a:r>
              <a:rPr lang="en-GB" sz="1400" dirty="0"/>
              <a:t>        </a:t>
            </a:r>
            <a:r>
              <a:rPr lang="en-GB" sz="1400" dirty="0" err="1"/>
              <a:t>identity_status</a:t>
            </a:r>
            <a:r>
              <a:rPr lang="en-GB" sz="1400" dirty="0"/>
              <a:t>, </a:t>
            </a:r>
            <a:br>
              <a:rPr lang="en-GB" sz="1400" dirty="0"/>
            </a:br>
            <a:r>
              <a:rPr lang="en-GB" sz="1400" dirty="0"/>
              <a:t>      </a:t>
            </a:r>
            <a:r>
              <a:rPr lang="en-GB" sz="1400" dirty="0" err="1"/>
              <a:t>identity_mfa_enrolled</a:t>
            </a:r>
            <a:r>
              <a:rPr lang="en-GB" sz="1400" dirty="0"/>
              <a:t>, </a:t>
            </a:r>
            <a:br>
              <a:rPr lang="en-GB" sz="1400" dirty="0"/>
            </a:br>
            <a:r>
              <a:rPr lang="en-GB" sz="1400" dirty="0"/>
              <a:t>      </a:t>
            </a:r>
            <a:r>
              <a:rPr lang="en-GB" sz="1400" dirty="0" err="1"/>
              <a:t>correlation_status</a:t>
            </a:r>
            <a:r>
              <a:rPr lang="en-GB" sz="1400" dirty="0"/>
              <a:t>, </a:t>
            </a:r>
          </a:p>
          <a:p>
            <a:pPr>
              <a:spcAft>
                <a:spcPts val="0"/>
              </a:spcAft>
            </a:pPr>
            <a:r>
              <a:rPr lang="en-GB" sz="1400" dirty="0"/>
              <a:t>       </a:t>
            </a:r>
            <a:r>
              <a:rPr lang="en-GB" sz="1400" dirty="0" err="1"/>
              <a:t>last_correlated</a:t>
            </a:r>
            <a:endParaRPr lang="en-GB" sz="1400" dirty="0"/>
          </a:p>
          <a:p>
            <a:pPr>
              <a:spcAft>
                <a:spcPts val="0"/>
              </a:spcAft>
            </a:pPr>
            <a:r>
              <a:rPr lang="en-GB" sz="1400" dirty="0"/>
              <a:t>| </a:t>
            </a:r>
            <a:r>
              <a:rPr lang="en-GB" sz="1400" dirty="0" err="1"/>
              <a:t>outputlookup</a:t>
            </a:r>
            <a:r>
              <a:rPr lang="en-GB" sz="1400" dirty="0"/>
              <a:t> </a:t>
            </a:r>
            <a:r>
              <a:rPr lang="en-GB" sz="1400" dirty="0" err="1"/>
              <a:t>asset_identity_correlated_lookup</a:t>
            </a:r>
            <a:endParaRPr lang="en-GB" sz="1400" dirty="0"/>
          </a:p>
          <a:p>
            <a:pPr>
              <a:spcAft>
                <a:spcPts val="0"/>
              </a:spcAft>
            </a:pPr>
            <a:endParaRPr lang="en-GB" dirty="0"/>
          </a:p>
        </p:txBody>
      </p:sp>
    </p:spTree>
    <p:extLst>
      <p:ext uri="{BB962C8B-B14F-4D97-AF65-F5344CB8AC3E}">
        <p14:creationId xmlns:p14="http://schemas.microsoft.com/office/powerpoint/2010/main" val="2492227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EE60510-6546-6ABC-0726-5F1A794BE063}"/>
              </a:ext>
            </a:extLst>
          </p:cNvPr>
          <p:cNvPicPr>
            <a:picLocks noChangeAspect="1"/>
          </p:cNvPicPr>
          <p:nvPr/>
        </p:nvPicPr>
        <p:blipFill rotWithShape="1">
          <a:blip r:embed="rId3"/>
          <a:srcRect l="1930" t="6908" r="3390" b="4307"/>
          <a:stretch>
            <a:fillRect/>
          </a:stretch>
        </p:blipFill>
        <p:spPr>
          <a:xfrm>
            <a:off x="987777" y="0"/>
            <a:ext cx="10216445" cy="6386794"/>
          </a:xfrm>
          <a:prstGeom prst="rect">
            <a:avLst/>
          </a:prstGeom>
        </p:spPr>
      </p:pic>
    </p:spTree>
    <p:extLst>
      <p:ext uri="{BB962C8B-B14F-4D97-AF65-F5344CB8AC3E}">
        <p14:creationId xmlns:p14="http://schemas.microsoft.com/office/powerpoint/2010/main" val="2441245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6040B-D8C0-68A3-9AD9-F8783E1CC1A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1937ED2-C725-D96E-246F-4C0D13F3A63A}"/>
              </a:ext>
            </a:extLst>
          </p:cNvPr>
          <p:cNvSpPr>
            <a:spLocks noGrp="1"/>
          </p:cNvSpPr>
          <p:nvPr>
            <p:ph type="title"/>
          </p:nvPr>
        </p:nvSpPr>
        <p:spPr/>
        <p:txBody>
          <a:bodyPr/>
          <a:lstStyle/>
          <a:p>
            <a:r>
              <a:rPr lang="en-GB" dirty="0"/>
              <a:t>Building the "Poor Man's CMDB" in Splunk</a:t>
            </a:r>
          </a:p>
        </p:txBody>
      </p:sp>
      <p:sp>
        <p:nvSpPr>
          <p:cNvPr id="5" name="Text Placeholder 4">
            <a:extLst>
              <a:ext uri="{FF2B5EF4-FFF2-40B4-BE49-F238E27FC236}">
                <a16:creationId xmlns:a16="http://schemas.microsoft.com/office/drawing/2014/main" id="{55377DC3-5A11-A126-13B8-920CE71712B8}"/>
              </a:ext>
            </a:extLst>
          </p:cNvPr>
          <p:cNvSpPr>
            <a:spLocks noGrp="1"/>
          </p:cNvSpPr>
          <p:nvPr>
            <p:ph type="body" sz="quarter" idx="12"/>
          </p:nvPr>
        </p:nvSpPr>
        <p:spPr>
          <a:xfrm>
            <a:off x="6547556" y="952500"/>
            <a:ext cx="5320594" cy="5122863"/>
          </a:xfrm>
        </p:spPr>
        <p:txBody>
          <a:bodyPr/>
          <a:lstStyle/>
          <a:p>
            <a:pPr>
              <a:spcAft>
                <a:spcPts val="0"/>
              </a:spcAft>
            </a:pPr>
            <a:r>
              <a:rPr lang="en-GB" sz="1400" dirty="0"/>
              <a:t>`` Correlate network/auth activity against Asset and Identity inventories ``</a:t>
            </a:r>
          </a:p>
          <a:p>
            <a:pPr>
              <a:spcAft>
                <a:spcPts val="0"/>
              </a:spcAft>
            </a:pPr>
            <a:r>
              <a:rPr lang="en-GB" sz="1400" dirty="0"/>
              <a:t>index=</a:t>
            </a:r>
            <a:r>
              <a:rPr lang="en-GB" sz="1400" dirty="0" err="1"/>
              <a:t>network_traffic</a:t>
            </a:r>
            <a:r>
              <a:rPr lang="en-GB" sz="1400" dirty="0"/>
              <a:t> OR index=auth OR index=</a:t>
            </a:r>
            <a:r>
              <a:rPr lang="en-GB" sz="1400" dirty="0" err="1"/>
              <a:t>osquery</a:t>
            </a:r>
            <a:endParaRPr lang="en-GB" sz="1400" dirty="0"/>
          </a:p>
          <a:p>
            <a:pPr>
              <a:spcAft>
                <a:spcPts val="0"/>
              </a:spcAft>
            </a:pPr>
            <a:r>
              <a:rPr lang="en-GB" sz="1400" dirty="0"/>
              <a:t>| eval </a:t>
            </a:r>
            <a:r>
              <a:rPr lang="en-GB" sz="1400" dirty="0" err="1"/>
              <a:t>asset_id</a:t>
            </a:r>
            <a:r>
              <a:rPr lang="en-GB" sz="1400" dirty="0"/>
              <a:t>=coalesce(</a:t>
            </a:r>
            <a:r>
              <a:rPr lang="en-GB" sz="1400" dirty="0" err="1"/>
              <a:t>dest_asset_id</a:t>
            </a:r>
            <a:r>
              <a:rPr lang="en-GB" sz="1400" dirty="0"/>
              <a:t>, </a:t>
            </a:r>
            <a:r>
              <a:rPr lang="en-GB" sz="1400" dirty="0" err="1"/>
              <a:t>dvc</a:t>
            </a:r>
            <a:r>
              <a:rPr lang="en-GB" sz="1400" dirty="0"/>
              <a:t>, </a:t>
            </a:r>
            <a:r>
              <a:rPr lang="en-GB" sz="1400" dirty="0" err="1"/>
              <a:t>dest</a:t>
            </a:r>
            <a:r>
              <a:rPr lang="en-GB" sz="1400" dirty="0"/>
              <a:t>)</a:t>
            </a:r>
          </a:p>
          <a:p>
            <a:pPr>
              <a:spcAft>
                <a:spcPts val="0"/>
              </a:spcAft>
            </a:pPr>
            <a:r>
              <a:rPr lang="en-GB" sz="1400" dirty="0"/>
              <a:t>| eval </a:t>
            </a:r>
            <a:r>
              <a:rPr lang="en-GB" sz="1400" dirty="0" err="1"/>
              <a:t>identity_id</a:t>
            </a:r>
            <a:r>
              <a:rPr lang="en-GB" sz="1400" dirty="0"/>
              <a:t>=coalesce(user, </a:t>
            </a:r>
            <a:r>
              <a:rPr lang="en-GB" sz="1400" dirty="0" err="1"/>
              <a:t>service_account</a:t>
            </a:r>
            <a:r>
              <a:rPr lang="en-GB" sz="1400" dirty="0"/>
              <a:t>, </a:t>
            </a:r>
            <a:r>
              <a:rPr lang="en-GB" sz="1400" dirty="0" err="1"/>
              <a:t>workload_identity</a:t>
            </a:r>
            <a:r>
              <a:rPr lang="en-GB" sz="1400" dirty="0"/>
              <a:t>)</a:t>
            </a:r>
          </a:p>
          <a:p>
            <a:pPr>
              <a:spcAft>
                <a:spcPts val="0"/>
              </a:spcAft>
            </a:pPr>
            <a:endParaRPr lang="en-GB" sz="1400" dirty="0"/>
          </a:p>
          <a:p>
            <a:pPr>
              <a:spcAft>
                <a:spcPts val="0"/>
              </a:spcAft>
            </a:pPr>
            <a:r>
              <a:rPr lang="en-GB" sz="1400" dirty="0"/>
              <a:t>`` Enrich with Asset inventory (KV Store-backed lookup, refreshed every 15m) ``</a:t>
            </a:r>
          </a:p>
          <a:p>
            <a:pPr>
              <a:spcAft>
                <a:spcPts val="0"/>
              </a:spcAft>
            </a:pPr>
            <a:r>
              <a:rPr lang="en-GB" sz="1400" dirty="0"/>
              <a:t>| lookup </a:t>
            </a:r>
            <a:r>
              <a:rPr lang="en-GB" sz="1400" dirty="0" err="1"/>
              <a:t>asset_inventory_lookup</a:t>
            </a:r>
            <a:r>
              <a:rPr lang="en-GB" sz="1400" dirty="0"/>
              <a:t> </a:t>
            </a:r>
            <a:r>
              <a:rPr lang="en-GB" sz="1400" dirty="0" err="1"/>
              <a:t>asset_id</a:t>
            </a:r>
            <a:endParaRPr lang="en-GB" sz="1400" dirty="0"/>
          </a:p>
          <a:p>
            <a:pPr>
              <a:spcAft>
                <a:spcPts val="0"/>
              </a:spcAft>
            </a:pPr>
            <a:r>
              <a:rPr lang="en-GB" sz="1400" dirty="0"/>
              <a:t>    OUTPUT </a:t>
            </a:r>
            <a:r>
              <a:rPr lang="en-GB" sz="1400" dirty="0" err="1"/>
              <a:t>asset_owner</a:t>
            </a:r>
            <a:r>
              <a:rPr lang="en-GB" sz="1400" dirty="0"/>
              <a:t>, </a:t>
            </a:r>
            <a:r>
              <a:rPr lang="en-GB" sz="1400" dirty="0" err="1"/>
              <a:t>asset_type</a:t>
            </a:r>
            <a:r>
              <a:rPr lang="en-GB" sz="1400" dirty="0"/>
              <a:t>, </a:t>
            </a:r>
            <a:r>
              <a:rPr lang="en-GB" sz="1400" dirty="0" err="1"/>
              <a:t>asset_environment</a:t>
            </a:r>
            <a:r>
              <a:rPr lang="en-GB" sz="1400" dirty="0"/>
              <a:t>, </a:t>
            </a:r>
            <a:r>
              <a:rPr lang="en-GB" sz="1400" dirty="0" err="1"/>
              <a:t>asset_criticality</a:t>
            </a:r>
            <a:r>
              <a:rPr lang="en-GB" sz="1400" dirty="0"/>
              <a:t>, </a:t>
            </a:r>
            <a:r>
              <a:rPr lang="en-GB" sz="1400" dirty="0" err="1"/>
              <a:t>asset_last_seen</a:t>
            </a:r>
            <a:endParaRPr lang="en-GB" sz="1400" dirty="0"/>
          </a:p>
          <a:p>
            <a:pPr>
              <a:spcAft>
                <a:spcPts val="0"/>
              </a:spcAft>
            </a:pPr>
            <a:endParaRPr lang="en-GB" sz="1400" dirty="0"/>
          </a:p>
          <a:p>
            <a:pPr>
              <a:spcAft>
                <a:spcPts val="0"/>
              </a:spcAft>
            </a:pPr>
            <a:r>
              <a:rPr lang="en-GB" sz="1400" dirty="0"/>
              <a:t>`` Enrich with Identity inventory (KV Store-backed lookup, refreshed every 15m) ``</a:t>
            </a:r>
          </a:p>
          <a:p>
            <a:pPr>
              <a:spcAft>
                <a:spcPts val="0"/>
              </a:spcAft>
            </a:pPr>
            <a:r>
              <a:rPr lang="en-GB" sz="1400" dirty="0"/>
              <a:t>| lookup </a:t>
            </a:r>
            <a:r>
              <a:rPr lang="en-GB" sz="1400" dirty="0" err="1"/>
              <a:t>identity_inventory_lookup</a:t>
            </a:r>
            <a:r>
              <a:rPr lang="en-GB" sz="1400" dirty="0"/>
              <a:t> </a:t>
            </a:r>
            <a:r>
              <a:rPr lang="en-GB" sz="1400" dirty="0" err="1"/>
              <a:t>identity_id</a:t>
            </a:r>
            <a:endParaRPr lang="en-GB" sz="1400" dirty="0"/>
          </a:p>
          <a:p>
            <a:pPr>
              <a:spcAft>
                <a:spcPts val="0"/>
              </a:spcAft>
            </a:pPr>
            <a:r>
              <a:rPr lang="en-GB" sz="1400" dirty="0"/>
              <a:t>    OUTPUT </a:t>
            </a:r>
            <a:r>
              <a:rPr lang="en-GB" sz="1400" dirty="0" err="1"/>
              <a:t>identity_type</a:t>
            </a:r>
            <a:r>
              <a:rPr lang="en-GB" sz="1400" dirty="0"/>
              <a:t>, </a:t>
            </a:r>
            <a:r>
              <a:rPr lang="en-GB" sz="1400" dirty="0" err="1"/>
              <a:t>identity_owner</a:t>
            </a:r>
            <a:r>
              <a:rPr lang="en-GB" sz="1400" dirty="0"/>
              <a:t>, </a:t>
            </a:r>
            <a:r>
              <a:rPr lang="en-GB" sz="1400" dirty="0" err="1"/>
              <a:t>identity_status</a:t>
            </a:r>
            <a:r>
              <a:rPr lang="en-GB" sz="1400" dirty="0"/>
              <a:t>, </a:t>
            </a:r>
            <a:r>
              <a:rPr lang="en-GB" sz="1400" dirty="0" err="1"/>
              <a:t>identity_mfa_enrolled</a:t>
            </a:r>
            <a:r>
              <a:rPr lang="en-GB" sz="1400" dirty="0"/>
              <a:t>, </a:t>
            </a:r>
            <a:r>
              <a:rPr lang="en-GB" sz="1400" dirty="0" err="1"/>
              <a:t>identity_risk_sc</a:t>
            </a:r>
            <a:endParaRPr lang="en-GB" sz="1400" dirty="0"/>
          </a:p>
        </p:txBody>
      </p:sp>
      <p:pic>
        <p:nvPicPr>
          <p:cNvPr id="2" name="Picture 1">
            <a:extLst>
              <a:ext uri="{FF2B5EF4-FFF2-40B4-BE49-F238E27FC236}">
                <a16:creationId xmlns:a16="http://schemas.microsoft.com/office/drawing/2014/main" id="{3FA1DB49-21D6-6716-7A44-6344B4169B4C}"/>
              </a:ext>
            </a:extLst>
          </p:cNvPr>
          <p:cNvPicPr>
            <a:picLocks noChangeAspect="1"/>
          </p:cNvPicPr>
          <p:nvPr/>
        </p:nvPicPr>
        <p:blipFill>
          <a:blip r:embed="rId3"/>
          <a:stretch>
            <a:fillRect/>
          </a:stretch>
        </p:blipFill>
        <p:spPr>
          <a:xfrm>
            <a:off x="323850" y="952500"/>
            <a:ext cx="6141721" cy="2476500"/>
          </a:xfrm>
          <a:prstGeom prst="rect">
            <a:avLst/>
          </a:prstGeom>
        </p:spPr>
      </p:pic>
      <p:pic>
        <p:nvPicPr>
          <p:cNvPr id="3" name="Picture 2">
            <a:extLst>
              <a:ext uri="{FF2B5EF4-FFF2-40B4-BE49-F238E27FC236}">
                <a16:creationId xmlns:a16="http://schemas.microsoft.com/office/drawing/2014/main" id="{E648B577-8C45-28DA-9AC8-894F254F093B}"/>
              </a:ext>
            </a:extLst>
          </p:cNvPr>
          <p:cNvPicPr>
            <a:picLocks noChangeAspect="1"/>
          </p:cNvPicPr>
          <p:nvPr/>
        </p:nvPicPr>
        <p:blipFill>
          <a:blip r:embed="rId4"/>
          <a:srcRect l="3414" t="6891" r="3947" b="14017"/>
          <a:stretch>
            <a:fillRect/>
          </a:stretch>
        </p:blipFill>
        <p:spPr>
          <a:xfrm>
            <a:off x="549909" y="3513931"/>
            <a:ext cx="5689601" cy="2733852"/>
          </a:xfrm>
          <a:prstGeom prst="rect">
            <a:avLst/>
          </a:prstGeom>
        </p:spPr>
      </p:pic>
    </p:spTree>
    <p:extLst>
      <p:ext uri="{BB962C8B-B14F-4D97-AF65-F5344CB8AC3E}">
        <p14:creationId xmlns:p14="http://schemas.microsoft.com/office/powerpoint/2010/main" val="1651559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652EF-7819-B20F-A6E7-495989167D92}"/>
              </a:ext>
            </a:extLst>
          </p:cNvPr>
          <p:cNvSpPr>
            <a:spLocks noGrp="1"/>
          </p:cNvSpPr>
          <p:nvPr>
            <p:ph type="title"/>
          </p:nvPr>
        </p:nvSpPr>
        <p:spPr/>
        <p:txBody>
          <a:bodyPr/>
          <a:lstStyle/>
          <a:p>
            <a:r>
              <a:rPr lang="en-GB" dirty="0"/>
              <a:t>Architecture Walkthrough</a:t>
            </a:r>
          </a:p>
        </p:txBody>
      </p:sp>
      <p:pic>
        <p:nvPicPr>
          <p:cNvPr id="5" name="Picture 4">
            <a:extLst>
              <a:ext uri="{FF2B5EF4-FFF2-40B4-BE49-F238E27FC236}">
                <a16:creationId xmlns:a16="http://schemas.microsoft.com/office/drawing/2014/main" id="{19A1A94B-9BFD-AAE6-2F96-F8F163D0C8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850" y="390475"/>
            <a:ext cx="11160074" cy="6389355"/>
          </a:xfrm>
          <a:prstGeom prst="rect">
            <a:avLst/>
          </a:prstGeom>
        </p:spPr>
      </p:pic>
    </p:spTree>
    <p:extLst>
      <p:ext uri="{BB962C8B-B14F-4D97-AF65-F5344CB8AC3E}">
        <p14:creationId xmlns:p14="http://schemas.microsoft.com/office/powerpoint/2010/main" val="1126814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1E050-D783-9CCB-D7A5-3C98D34E9523}"/>
              </a:ext>
            </a:extLst>
          </p:cNvPr>
          <p:cNvSpPr>
            <a:spLocks noGrp="1"/>
          </p:cNvSpPr>
          <p:nvPr>
            <p:ph type="title"/>
          </p:nvPr>
        </p:nvSpPr>
        <p:spPr/>
        <p:txBody>
          <a:bodyPr/>
          <a:lstStyle/>
          <a:p>
            <a:r>
              <a:rPr lang="en-GB" dirty="0"/>
              <a:t>Governance Gets Measurable</a:t>
            </a:r>
          </a:p>
        </p:txBody>
      </p:sp>
      <p:sp>
        <p:nvSpPr>
          <p:cNvPr id="3" name="Text Placeholder 2">
            <a:extLst>
              <a:ext uri="{FF2B5EF4-FFF2-40B4-BE49-F238E27FC236}">
                <a16:creationId xmlns:a16="http://schemas.microsoft.com/office/drawing/2014/main" id="{586C9188-F1ED-EBC5-0B07-BF1C7EE11405}"/>
              </a:ext>
            </a:extLst>
          </p:cNvPr>
          <p:cNvSpPr>
            <a:spLocks noGrp="1"/>
          </p:cNvSpPr>
          <p:nvPr>
            <p:ph type="body" sz="quarter" idx="12"/>
          </p:nvPr>
        </p:nvSpPr>
        <p:spPr>
          <a:xfrm>
            <a:off x="323850" y="952501"/>
            <a:ext cx="11544300" cy="3833988"/>
          </a:xfrm>
        </p:spPr>
        <p:txBody>
          <a:bodyPr/>
          <a:lstStyle/>
          <a:p>
            <a:r>
              <a:rPr lang="en-GB" dirty="0"/>
              <a:t>All assets relevant to the secure operation of essential function(s) are identified and inventoried (at a suitable level of detail).</a:t>
            </a:r>
            <a:r>
              <a:rPr lang="en-GB" dirty="0">
                <a:solidFill>
                  <a:schemeClr val="accent3">
                    <a:lumMod val="75000"/>
                  </a:schemeClr>
                </a:solidFill>
              </a:rPr>
              <a:t>The inventory is kept up-to-date. </a:t>
            </a:r>
          </a:p>
          <a:p>
            <a:endParaRPr lang="en-GB" dirty="0"/>
          </a:p>
          <a:p>
            <a:r>
              <a:rPr lang="en-GB" dirty="0"/>
              <a:t>You have prioritised your assets according to their importance to the operation of the essential function(s). </a:t>
            </a:r>
            <a:r>
              <a:rPr lang="en-GB" dirty="0">
                <a:solidFill>
                  <a:schemeClr val="accent3">
                    <a:lumMod val="75000"/>
                  </a:schemeClr>
                </a:solidFill>
              </a:rPr>
              <a:t>[Threat and Risk Scoring]</a:t>
            </a:r>
          </a:p>
          <a:p>
            <a:endParaRPr lang="en-GB" dirty="0"/>
          </a:p>
          <a:p>
            <a:r>
              <a:rPr lang="en-GB" dirty="0"/>
              <a:t>You have assigned responsibility for managing all assets, including physical assets, relevant to the operation of the essential function(s). </a:t>
            </a:r>
            <a:r>
              <a:rPr lang="en-GB" dirty="0">
                <a:solidFill>
                  <a:schemeClr val="accent4">
                    <a:lumMod val="75000"/>
                  </a:schemeClr>
                </a:solidFill>
              </a:rPr>
              <a:t>[Process: Incident Management]</a:t>
            </a:r>
            <a:endParaRPr lang="en-GB" dirty="0"/>
          </a:p>
          <a:p>
            <a:endParaRPr lang="en-GB" dirty="0"/>
          </a:p>
          <a:p>
            <a:r>
              <a:rPr lang="en-GB" dirty="0"/>
              <a:t>Assets relevant to the essential function(s) are managed with cyber security in mind throughout their lifecycle, from creation through to eventual decommissioning or disposal. </a:t>
            </a:r>
            <a:r>
              <a:rPr lang="en-GB" dirty="0">
                <a:solidFill>
                  <a:schemeClr val="accent4">
                    <a:lumMod val="75000"/>
                  </a:schemeClr>
                </a:solidFill>
              </a:rPr>
              <a:t>[Process: Onboarding to Splunk]</a:t>
            </a:r>
          </a:p>
        </p:txBody>
      </p:sp>
      <p:pic>
        <p:nvPicPr>
          <p:cNvPr id="4" name="Picture 3">
            <a:extLst>
              <a:ext uri="{FF2B5EF4-FFF2-40B4-BE49-F238E27FC236}">
                <a16:creationId xmlns:a16="http://schemas.microsoft.com/office/drawing/2014/main" id="{6991C09D-A94F-BF5E-7920-D24615404AF0}"/>
              </a:ext>
            </a:extLst>
          </p:cNvPr>
          <p:cNvPicPr>
            <a:picLocks noChangeAspect="1"/>
          </p:cNvPicPr>
          <p:nvPr/>
        </p:nvPicPr>
        <p:blipFill>
          <a:blip r:embed="rId3"/>
          <a:stretch>
            <a:fillRect/>
          </a:stretch>
        </p:blipFill>
        <p:spPr>
          <a:xfrm>
            <a:off x="323849" y="4944533"/>
            <a:ext cx="11583647" cy="1178325"/>
          </a:xfrm>
          <a:prstGeom prst="rect">
            <a:avLst/>
          </a:prstGeom>
        </p:spPr>
      </p:pic>
    </p:spTree>
    <p:extLst>
      <p:ext uri="{BB962C8B-B14F-4D97-AF65-F5344CB8AC3E}">
        <p14:creationId xmlns:p14="http://schemas.microsoft.com/office/powerpoint/2010/main" val="1025158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96CE0-27EE-974C-AECF-FB3DF3D898DA}"/>
              </a:ext>
            </a:extLst>
          </p:cNvPr>
          <p:cNvSpPr>
            <a:spLocks noGrp="1"/>
          </p:cNvSpPr>
          <p:nvPr>
            <p:ph type="title"/>
          </p:nvPr>
        </p:nvSpPr>
        <p:spPr/>
        <p:txBody>
          <a:bodyPr/>
          <a:lstStyle/>
          <a:p>
            <a:r>
              <a:rPr lang="en-GB" dirty="0"/>
              <a:t>From Visibility to Automated Action</a:t>
            </a:r>
          </a:p>
        </p:txBody>
      </p:sp>
      <p:sp>
        <p:nvSpPr>
          <p:cNvPr id="3" name="Text Placeholder 2">
            <a:extLst>
              <a:ext uri="{FF2B5EF4-FFF2-40B4-BE49-F238E27FC236}">
                <a16:creationId xmlns:a16="http://schemas.microsoft.com/office/drawing/2014/main" id="{194DF1F2-3AB1-2DEB-D19A-8D661791DB81}"/>
              </a:ext>
            </a:extLst>
          </p:cNvPr>
          <p:cNvSpPr>
            <a:spLocks noGrp="1"/>
          </p:cNvSpPr>
          <p:nvPr>
            <p:ph type="body" sz="quarter" idx="12"/>
          </p:nvPr>
        </p:nvSpPr>
        <p:spPr>
          <a:xfrm>
            <a:off x="323850" y="952500"/>
            <a:ext cx="6505928" cy="5122863"/>
          </a:xfrm>
        </p:spPr>
        <p:txBody>
          <a:bodyPr/>
          <a:lstStyle/>
          <a:p>
            <a:r>
              <a:rPr lang="en-GB" dirty="0"/>
              <a:t>Keeping the Inventory up to date:</a:t>
            </a:r>
          </a:p>
          <a:p>
            <a:r>
              <a:rPr lang="en-GB" dirty="0"/>
              <a:t>(Did you attend my talk yesterday?)</a:t>
            </a:r>
            <a:br>
              <a:rPr lang="en-GB" dirty="0"/>
            </a:br>
            <a:endParaRPr lang="en-GB" dirty="0"/>
          </a:p>
          <a:p>
            <a:r>
              <a:rPr lang="en-GB" dirty="0"/>
              <a:t>Alert Actions firing AI Agents:</a:t>
            </a:r>
          </a:p>
          <a:p>
            <a:pPr marL="285750" indent="-285750">
              <a:buFont typeface="Arial" panose="020B0604020202020204" pitchFamily="34" charset="0"/>
              <a:buChar char="•"/>
            </a:pPr>
            <a:r>
              <a:rPr lang="en-GB" dirty="0"/>
              <a:t>Perform a basic refresh of temporal assets</a:t>
            </a:r>
          </a:p>
          <a:p>
            <a:pPr marL="285750" indent="-285750">
              <a:buFont typeface="Arial" panose="020B0604020202020204" pitchFamily="34" charset="0"/>
              <a:buChar char="•"/>
            </a:pPr>
            <a:r>
              <a:rPr lang="en-GB" dirty="0"/>
              <a:t>Use a LLM to fingerprint and ID </a:t>
            </a:r>
          </a:p>
          <a:p>
            <a:pPr marL="285750" indent="-285750">
              <a:buFont typeface="Arial" panose="020B0604020202020204" pitchFamily="34" charset="0"/>
              <a:buChar char="•"/>
            </a:pPr>
            <a:r>
              <a:rPr lang="en-GB" dirty="0"/>
              <a:t>Rebalance risk scores dynamically before a human gets involved</a:t>
            </a:r>
          </a:p>
          <a:p>
            <a:pPr marL="285750" indent="-285750">
              <a:buFont typeface="Arial" panose="020B0604020202020204" pitchFamily="34" charset="0"/>
              <a:buChar char="•"/>
            </a:pPr>
            <a:endParaRPr lang="en-GB" dirty="0"/>
          </a:p>
          <a:p>
            <a:endParaRPr lang="en-GB" dirty="0"/>
          </a:p>
          <a:p>
            <a:endParaRPr lang="en-GB" dirty="0"/>
          </a:p>
        </p:txBody>
      </p:sp>
      <p:pic>
        <p:nvPicPr>
          <p:cNvPr id="4" name="Picture 3">
            <a:extLst>
              <a:ext uri="{FF2B5EF4-FFF2-40B4-BE49-F238E27FC236}">
                <a16:creationId xmlns:a16="http://schemas.microsoft.com/office/drawing/2014/main" id="{AA4FE28D-5D61-1680-CB35-D7C88BB0D8D6}"/>
              </a:ext>
            </a:extLst>
          </p:cNvPr>
          <p:cNvPicPr>
            <a:picLocks noChangeAspect="1"/>
          </p:cNvPicPr>
          <p:nvPr/>
        </p:nvPicPr>
        <p:blipFill>
          <a:blip r:embed="rId3">
            <a:extLst>
              <a:ext uri="{28A0092B-C50C-407E-A947-70E740481C1C}">
                <a14:useLocalDpi xmlns:a14="http://schemas.microsoft.com/office/drawing/2010/main" val="0"/>
              </a:ext>
            </a:extLst>
          </a:blip>
          <a:srcRect l="38875" t="47556" r="35027" b="17063"/>
          <a:stretch>
            <a:fillRect/>
          </a:stretch>
        </p:blipFill>
        <p:spPr>
          <a:xfrm>
            <a:off x="8681155" y="790589"/>
            <a:ext cx="2912533" cy="2260600"/>
          </a:xfrm>
          <a:prstGeom prst="rect">
            <a:avLst/>
          </a:prstGeom>
        </p:spPr>
      </p:pic>
    </p:spTree>
    <p:extLst>
      <p:ext uri="{BB962C8B-B14F-4D97-AF65-F5344CB8AC3E}">
        <p14:creationId xmlns:p14="http://schemas.microsoft.com/office/powerpoint/2010/main" val="596211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20F37-534A-0E39-E6D7-62008E00BEA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602243-4198-B829-5762-E8B24B44D90D}"/>
              </a:ext>
            </a:extLst>
          </p:cNvPr>
          <p:cNvSpPr>
            <a:spLocks noGrp="1"/>
          </p:cNvSpPr>
          <p:nvPr>
            <p:ph type="title"/>
          </p:nvPr>
        </p:nvSpPr>
        <p:spPr/>
        <p:txBody>
          <a:bodyPr/>
          <a:lstStyle/>
          <a:p>
            <a:r>
              <a:rPr lang="en-US" sz="2400" dirty="0"/>
              <a:t>The other AI: Assets and Identity. Using Splunk to keep in check</a:t>
            </a:r>
          </a:p>
        </p:txBody>
      </p:sp>
      <p:sp>
        <p:nvSpPr>
          <p:cNvPr id="31" name="Freeform 101" descr="Icon of two people talking representing &quot;Advisory&quot;">
            <a:extLst>
              <a:ext uri="{FF2B5EF4-FFF2-40B4-BE49-F238E27FC236}">
                <a16:creationId xmlns:a16="http://schemas.microsoft.com/office/drawing/2014/main" id="{9B8D24EE-B4E5-7391-3AB3-56A56591412A}"/>
              </a:ext>
            </a:extLst>
          </p:cNvPr>
          <p:cNvSpPr>
            <a:spLocks noChangeAspect="1"/>
          </p:cNvSpPr>
          <p:nvPr/>
        </p:nvSpPr>
        <p:spPr>
          <a:xfrm>
            <a:off x="1316620" y="2903975"/>
            <a:ext cx="448808" cy="457200"/>
          </a:xfrm>
          <a:custGeom>
            <a:avLst/>
            <a:gdLst>
              <a:gd name="connsiteX0" fmla="*/ 381762 w 585787"/>
              <a:gd name="connsiteY0" fmla="*/ 339566 h 596741"/>
              <a:gd name="connsiteX1" fmla="*/ 454724 w 585787"/>
              <a:gd name="connsiteY1" fmla="*/ 413385 h 596741"/>
              <a:gd name="connsiteX2" fmla="*/ 527685 w 585787"/>
              <a:gd name="connsiteY2" fmla="*/ 339566 h 596741"/>
              <a:gd name="connsiteX3" fmla="*/ 454724 w 585787"/>
              <a:gd name="connsiteY3" fmla="*/ 265748 h 596741"/>
              <a:gd name="connsiteX4" fmla="*/ 381762 w 585787"/>
              <a:gd name="connsiteY4" fmla="*/ 339566 h 596741"/>
              <a:gd name="connsiteX5" fmla="*/ 513493 w 585787"/>
              <a:gd name="connsiteY5" fmla="*/ 339566 h 596741"/>
              <a:gd name="connsiteX6" fmla="*/ 454819 w 585787"/>
              <a:gd name="connsiteY6" fmla="*/ 399098 h 596741"/>
              <a:gd name="connsiteX7" fmla="*/ 396145 w 585787"/>
              <a:gd name="connsiteY7" fmla="*/ 339566 h 596741"/>
              <a:gd name="connsiteX8" fmla="*/ 454819 w 585787"/>
              <a:gd name="connsiteY8" fmla="*/ 280035 h 596741"/>
              <a:gd name="connsiteX9" fmla="*/ 513493 w 585787"/>
              <a:gd name="connsiteY9" fmla="*/ 339566 h 596741"/>
              <a:gd name="connsiteX10" fmla="*/ 571500 w 585787"/>
              <a:gd name="connsiteY10" fmla="*/ 596741 h 596741"/>
              <a:gd name="connsiteX11" fmla="*/ 571500 w 585787"/>
              <a:gd name="connsiteY11" fmla="*/ 501491 h 596741"/>
              <a:gd name="connsiteX12" fmla="*/ 516731 w 585787"/>
              <a:gd name="connsiteY12" fmla="*/ 451485 h 596741"/>
              <a:gd name="connsiteX13" fmla="*/ 392906 w 585787"/>
              <a:gd name="connsiteY13" fmla="*/ 451485 h 596741"/>
              <a:gd name="connsiteX14" fmla="*/ 338137 w 585787"/>
              <a:gd name="connsiteY14" fmla="*/ 501491 h 596741"/>
              <a:gd name="connsiteX15" fmla="*/ 338137 w 585787"/>
              <a:gd name="connsiteY15" fmla="*/ 596741 h 596741"/>
              <a:gd name="connsiteX16" fmla="*/ 323850 w 585787"/>
              <a:gd name="connsiteY16" fmla="*/ 596741 h 596741"/>
              <a:gd name="connsiteX17" fmla="*/ 323850 w 585787"/>
              <a:gd name="connsiteY17" fmla="*/ 501491 h 596741"/>
              <a:gd name="connsiteX18" fmla="*/ 392906 w 585787"/>
              <a:gd name="connsiteY18" fmla="*/ 437198 h 596741"/>
              <a:gd name="connsiteX19" fmla="*/ 516731 w 585787"/>
              <a:gd name="connsiteY19" fmla="*/ 437198 h 596741"/>
              <a:gd name="connsiteX20" fmla="*/ 585788 w 585787"/>
              <a:gd name="connsiteY20" fmla="*/ 501491 h 596741"/>
              <a:gd name="connsiteX21" fmla="*/ 585788 w 585787"/>
              <a:gd name="connsiteY21" fmla="*/ 596741 h 596741"/>
              <a:gd name="connsiteX22" fmla="*/ 571500 w 585787"/>
              <a:gd name="connsiteY22" fmla="*/ 596741 h 596741"/>
              <a:gd name="connsiteX23" fmla="*/ 130969 w 585787"/>
              <a:gd name="connsiteY23" fmla="*/ 413385 h 596741"/>
              <a:gd name="connsiteX24" fmla="*/ 203930 w 585787"/>
              <a:gd name="connsiteY24" fmla="*/ 339566 h 596741"/>
              <a:gd name="connsiteX25" fmla="*/ 130969 w 585787"/>
              <a:gd name="connsiteY25" fmla="*/ 265748 h 596741"/>
              <a:gd name="connsiteX26" fmla="*/ 58007 w 585787"/>
              <a:gd name="connsiteY26" fmla="*/ 339566 h 596741"/>
              <a:gd name="connsiteX27" fmla="*/ 130969 w 585787"/>
              <a:gd name="connsiteY27" fmla="*/ 413385 h 596741"/>
              <a:gd name="connsiteX28" fmla="*/ 130969 w 585787"/>
              <a:gd name="connsiteY28" fmla="*/ 280035 h 596741"/>
              <a:gd name="connsiteX29" fmla="*/ 189643 w 585787"/>
              <a:gd name="connsiteY29" fmla="*/ 339566 h 596741"/>
              <a:gd name="connsiteX30" fmla="*/ 130969 w 585787"/>
              <a:gd name="connsiteY30" fmla="*/ 399098 h 596741"/>
              <a:gd name="connsiteX31" fmla="*/ 72295 w 585787"/>
              <a:gd name="connsiteY31" fmla="*/ 339566 h 596741"/>
              <a:gd name="connsiteX32" fmla="*/ 130969 w 585787"/>
              <a:gd name="connsiteY32" fmla="*/ 280035 h 596741"/>
              <a:gd name="connsiteX33" fmla="*/ 14288 w 585787"/>
              <a:gd name="connsiteY33" fmla="*/ 596741 h 596741"/>
              <a:gd name="connsiteX34" fmla="*/ 0 w 585787"/>
              <a:gd name="connsiteY34" fmla="*/ 596741 h 596741"/>
              <a:gd name="connsiteX35" fmla="*/ 0 w 585787"/>
              <a:gd name="connsiteY35" fmla="*/ 501491 h 596741"/>
              <a:gd name="connsiteX36" fmla="*/ 69056 w 585787"/>
              <a:gd name="connsiteY36" fmla="*/ 437198 h 596741"/>
              <a:gd name="connsiteX37" fmla="*/ 192881 w 585787"/>
              <a:gd name="connsiteY37" fmla="*/ 437198 h 596741"/>
              <a:gd name="connsiteX38" fmla="*/ 261937 w 585787"/>
              <a:gd name="connsiteY38" fmla="*/ 501491 h 596741"/>
              <a:gd name="connsiteX39" fmla="*/ 261937 w 585787"/>
              <a:gd name="connsiteY39" fmla="*/ 596741 h 596741"/>
              <a:gd name="connsiteX40" fmla="*/ 247650 w 585787"/>
              <a:gd name="connsiteY40" fmla="*/ 596741 h 596741"/>
              <a:gd name="connsiteX41" fmla="*/ 247650 w 585787"/>
              <a:gd name="connsiteY41" fmla="*/ 501491 h 596741"/>
              <a:gd name="connsiteX42" fmla="*/ 192881 w 585787"/>
              <a:gd name="connsiteY42" fmla="*/ 451485 h 596741"/>
              <a:gd name="connsiteX43" fmla="*/ 69056 w 585787"/>
              <a:gd name="connsiteY43" fmla="*/ 451485 h 596741"/>
              <a:gd name="connsiteX44" fmla="*/ 14288 w 585787"/>
              <a:gd name="connsiteY44" fmla="*/ 501491 h 596741"/>
              <a:gd name="connsiteX45" fmla="*/ 14288 w 585787"/>
              <a:gd name="connsiteY45" fmla="*/ 596741 h 596741"/>
              <a:gd name="connsiteX46" fmla="*/ 213931 w 585787"/>
              <a:gd name="connsiteY46" fmla="*/ 259461 h 596741"/>
              <a:gd name="connsiteX47" fmla="*/ 216694 w 585787"/>
              <a:gd name="connsiteY47" fmla="*/ 260128 h 596741"/>
              <a:gd name="connsiteX48" fmla="*/ 220504 w 585787"/>
              <a:gd name="connsiteY48" fmla="*/ 258889 h 596741"/>
              <a:gd name="connsiteX49" fmla="*/ 294989 w 585787"/>
              <a:gd name="connsiteY49" fmla="*/ 202978 h 596741"/>
              <a:gd name="connsiteX50" fmla="*/ 403003 w 585787"/>
              <a:gd name="connsiteY50" fmla="*/ 202978 h 596741"/>
              <a:gd name="connsiteX51" fmla="*/ 451580 w 585787"/>
              <a:gd name="connsiteY51" fmla="*/ 157067 h 596741"/>
              <a:gd name="connsiteX52" fmla="*/ 451580 w 585787"/>
              <a:gd name="connsiteY52" fmla="*/ 45910 h 596741"/>
              <a:gd name="connsiteX53" fmla="*/ 403003 w 585787"/>
              <a:gd name="connsiteY53" fmla="*/ 0 h 596741"/>
              <a:gd name="connsiteX54" fmla="*/ 182880 w 585787"/>
              <a:gd name="connsiteY54" fmla="*/ 0 h 596741"/>
              <a:gd name="connsiteX55" fmla="*/ 134303 w 585787"/>
              <a:gd name="connsiteY55" fmla="*/ 45910 h 596741"/>
              <a:gd name="connsiteX56" fmla="*/ 134303 w 585787"/>
              <a:gd name="connsiteY56" fmla="*/ 157067 h 596741"/>
              <a:gd name="connsiteX57" fmla="*/ 182880 w 585787"/>
              <a:gd name="connsiteY57" fmla="*/ 202978 h 596741"/>
              <a:gd name="connsiteX58" fmla="*/ 210503 w 585787"/>
              <a:gd name="connsiteY58" fmla="*/ 202978 h 596741"/>
              <a:gd name="connsiteX59" fmla="*/ 210503 w 585787"/>
              <a:gd name="connsiteY59" fmla="*/ 253841 h 596741"/>
              <a:gd name="connsiteX60" fmla="*/ 213931 w 585787"/>
              <a:gd name="connsiteY60" fmla="*/ 259461 h 596741"/>
              <a:gd name="connsiteX61" fmla="*/ 182880 w 585787"/>
              <a:gd name="connsiteY61" fmla="*/ 190405 h 596741"/>
              <a:gd name="connsiteX62" fmla="*/ 146780 w 585787"/>
              <a:gd name="connsiteY62" fmla="*/ 156972 h 596741"/>
              <a:gd name="connsiteX63" fmla="*/ 146780 w 585787"/>
              <a:gd name="connsiteY63" fmla="*/ 45815 h 596741"/>
              <a:gd name="connsiteX64" fmla="*/ 182880 w 585787"/>
              <a:gd name="connsiteY64" fmla="*/ 12382 h 596741"/>
              <a:gd name="connsiteX65" fmla="*/ 403003 w 585787"/>
              <a:gd name="connsiteY65" fmla="*/ 12382 h 596741"/>
              <a:gd name="connsiteX66" fmla="*/ 439103 w 585787"/>
              <a:gd name="connsiteY66" fmla="*/ 45815 h 596741"/>
              <a:gd name="connsiteX67" fmla="*/ 439103 w 585787"/>
              <a:gd name="connsiteY67" fmla="*/ 156972 h 596741"/>
              <a:gd name="connsiteX68" fmla="*/ 403003 w 585787"/>
              <a:gd name="connsiteY68" fmla="*/ 190405 h 596741"/>
              <a:gd name="connsiteX69" fmla="*/ 292894 w 585787"/>
              <a:gd name="connsiteY69" fmla="*/ 190405 h 596741"/>
              <a:gd name="connsiteX70" fmla="*/ 289084 w 585787"/>
              <a:gd name="connsiteY70" fmla="*/ 191643 h 596741"/>
              <a:gd name="connsiteX71" fmla="*/ 222885 w 585787"/>
              <a:gd name="connsiteY71" fmla="*/ 241268 h 596741"/>
              <a:gd name="connsiteX72" fmla="*/ 222885 w 585787"/>
              <a:gd name="connsiteY72" fmla="*/ 196691 h 596741"/>
              <a:gd name="connsiteX73" fmla="*/ 216599 w 585787"/>
              <a:gd name="connsiteY73" fmla="*/ 190405 h 596741"/>
              <a:gd name="connsiteX74" fmla="*/ 182690 w 585787"/>
              <a:gd name="connsiteY74" fmla="*/ 190405 h 59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85787" h="596741">
                <a:moveTo>
                  <a:pt x="381762" y="339566"/>
                </a:moveTo>
                <a:cubicBezTo>
                  <a:pt x="381762" y="380238"/>
                  <a:pt x="414528" y="413385"/>
                  <a:pt x="454724" y="413385"/>
                </a:cubicBezTo>
                <a:cubicBezTo>
                  <a:pt x="494919" y="413385"/>
                  <a:pt x="527685" y="380238"/>
                  <a:pt x="527685" y="339566"/>
                </a:cubicBezTo>
                <a:cubicBezTo>
                  <a:pt x="527685" y="298895"/>
                  <a:pt x="494919" y="265748"/>
                  <a:pt x="454724" y="265748"/>
                </a:cubicBezTo>
                <a:cubicBezTo>
                  <a:pt x="414528" y="265748"/>
                  <a:pt x="381762" y="298895"/>
                  <a:pt x="381762" y="339566"/>
                </a:cubicBezTo>
                <a:close/>
                <a:moveTo>
                  <a:pt x="513493" y="339566"/>
                </a:moveTo>
                <a:cubicBezTo>
                  <a:pt x="513493" y="372428"/>
                  <a:pt x="487109" y="399098"/>
                  <a:pt x="454819" y="399098"/>
                </a:cubicBezTo>
                <a:cubicBezTo>
                  <a:pt x="422529" y="399098"/>
                  <a:pt x="396145" y="372428"/>
                  <a:pt x="396145" y="339566"/>
                </a:cubicBezTo>
                <a:cubicBezTo>
                  <a:pt x="396145" y="306705"/>
                  <a:pt x="422529" y="280035"/>
                  <a:pt x="454819" y="280035"/>
                </a:cubicBezTo>
                <a:cubicBezTo>
                  <a:pt x="487109" y="280035"/>
                  <a:pt x="513493" y="306705"/>
                  <a:pt x="513493" y="339566"/>
                </a:cubicBezTo>
                <a:close/>
                <a:moveTo>
                  <a:pt x="571500" y="596741"/>
                </a:moveTo>
                <a:lnTo>
                  <a:pt x="571500" y="501491"/>
                </a:lnTo>
                <a:cubicBezTo>
                  <a:pt x="571500" y="473869"/>
                  <a:pt x="546926" y="451485"/>
                  <a:pt x="516731" y="451485"/>
                </a:cubicBezTo>
                <a:lnTo>
                  <a:pt x="392906" y="451485"/>
                </a:lnTo>
                <a:cubicBezTo>
                  <a:pt x="362712" y="451485"/>
                  <a:pt x="338137" y="473869"/>
                  <a:pt x="338137" y="501491"/>
                </a:cubicBezTo>
                <a:lnTo>
                  <a:pt x="338137" y="596741"/>
                </a:lnTo>
                <a:lnTo>
                  <a:pt x="323850" y="596741"/>
                </a:lnTo>
                <a:lnTo>
                  <a:pt x="323850" y="501491"/>
                </a:lnTo>
                <a:cubicBezTo>
                  <a:pt x="323850" y="466058"/>
                  <a:pt x="354806" y="437198"/>
                  <a:pt x="392906" y="437198"/>
                </a:cubicBezTo>
                <a:lnTo>
                  <a:pt x="516731" y="437198"/>
                </a:lnTo>
                <a:cubicBezTo>
                  <a:pt x="554831" y="437198"/>
                  <a:pt x="585788" y="466058"/>
                  <a:pt x="585788" y="501491"/>
                </a:cubicBezTo>
                <a:lnTo>
                  <a:pt x="585788" y="596741"/>
                </a:lnTo>
                <a:lnTo>
                  <a:pt x="571500" y="596741"/>
                </a:lnTo>
                <a:close/>
                <a:moveTo>
                  <a:pt x="130969" y="413385"/>
                </a:moveTo>
                <a:cubicBezTo>
                  <a:pt x="171260" y="413385"/>
                  <a:pt x="203930" y="380238"/>
                  <a:pt x="203930" y="339566"/>
                </a:cubicBezTo>
                <a:cubicBezTo>
                  <a:pt x="203930" y="298895"/>
                  <a:pt x="171164" y="265748"/>
                  <a:pt x="130969" y="265748"/>
                </a:cubicBezTo>
                <a:cubicBezTo>
                  <a:pt x="90773" y="265748"/>
                  <a:pt x="58007" y="298895"/>
                  <a:pt x="58007" y="339566"/>
                </a:cubicBezTo>
                <a:cubicBezTo>
                  <a:pt x="58007" y="380238"/>
                  <a:pt x="90773" y="413385"/>
                  <a:pt x="130969" y="413385"/>
                </a:cubicBezTo>
                <a:close/>
                <a:moveTo>
                  <a:pt x="130969" y="280035"/>
                </a:moveTo>
                <a:cubicBezTo>
                  <a:pt x="163354" y="280035"/>
                  <a:pt x="189643" y="306705"/>
                  <a:pt x="189643" y="339566"/>
                </a:cubicBezTo>
                <a:cubicBezTo>
                  <a:pt x="189643" y="372428"/>
                  <a:pt x="163259" y="399098"/>
                  <a:pt x="130969" y="399098"/>
                </a:cubicBezTo>
                <a:cubicBezTo>
                  <a:pt x="98679" y="399098"/>
                  <a:pt x="72295" y="372428"/>
                  <a:pt x="72295" y="339566"/>
                </a:cubicBezTo>
                <a:cubicBezTo>
                  <a:pt x="72295" y="306705"/>
                  <a:pt x="98679" y="280035"/>
                  <a:pt x="130969" y="280035"/>
                </a:cubicBezTo>
                <a:close/>
                <a:moveTo>
                  <a:pt x="14288" y="596741"/>
                </a:moveTo>
                <a:lnTo>
                  <a:pt x="0" y="596741"/>
                </a:lnTo>
                <a:lnTo>
                  <a:pt x="0" y="501491"/>
                </a:lnTo>
                <a:cubicBezTo>
                  <a:pt x="0" y="466058"/>
                  <a:pt x="30956" y="437198"/>
                  <a:pt x="69056" y="437198"/>
                </a:cubicBezTo>
                <a:lnTo>
                  <a:pt x="192881" y="437198"/>
                </a:lnTo>
                <a:cubicBezTo>
                  <a:pt x="230981" y="437198"/>
                  <a:pt x="261937" y="466058"/>
                  <a:pt x="261937" y="501491"/>
                </a:cubicBezTo>
                <a:lnTo>
                  <a:pt x="261937" y="596741"/>
                </a:lnTo>
                <a:lnTo>
                  <a:pt x="247650" y="596741"/>
                </a:lnTo>
                <a:lnTo>
                  <a:pt x="247650" y="501491"/>
                </a:lnTo>
                <a:cubicBezTo>
                  <a:pt x="247650" y="473869"/>
                  <a:pt x="223076" y="451485"/>
                  <a:pt x="192881" y="451485"/>
                </a:cubicBezTo>
                <a:lnTo>
                  <a:pt x="69056" y="451485"/>
                </a:lnTo>
                <a:cubicBezTo>
                  <a:pt x="38862" y="451485"/>
                  <a:pt x="14288" y="473869"/>
                  <a:pt x="14288" y="501491"/>
                </a:cubicBezTo>
                <a:lnTo>
                  <a:pt x="14288" y="596741"/>
                </a:lnTo>
                <a:close/>
                <a:moveTo>
                  <a:pt x="213931" y="259461"/>
                </a:moveTo>
                <a:cubicBezTo>
                  <a:pt x="214789" y="259937"/>
                  <a:pt x="215741" y="260128"/>
                  <a:pt x="216694" y="260128"/>
                </a:cubicBezTo>
                <a:cubicBezTo>
                  <a:pt x="218027" y="260128"/>
                  <a:pt x="219361" y="259747"/>
                  <a:pt x="220504" y="258889"/>
                </a:cubicBezTo>
                <a:lnTo>
                  <a:pt x="294989" y="202978"/>
                </a:lnTo>
                <a:lnTo>
                  <a:pt x="403003" y="202978"/>
                </a:lnTo>
                <a:cubicBezTo>
                  <a:pt x="429768" y="202978"/>
                  <a:pt x="451580" y="182404"/>
                  <a:pt x="451580" y="157067"/>
                </a:cubicBezTo>
                <a:lnTo>
                  <a:pt x="451580" y="45910"/>
                </a:lnTo>
                <a:cubicBezTo>
                  <a:pt x="451580" y="20574"/>
                  <a:pt x="429768" y="0"/>
                  <a:pt x="403003" y="0"/>
                </a:cubicBezTo>
                <a:lnTo>
                  <a:pt x="182880" y="0"/>
                </a:lnTo>
                <a:cubicBezTo>
                  <a:pt x="156115" y="0"/>
                  <a:pt x="134303" y="20574"/>
                  <a:pt x="134303" y="45910"/>
                </a:cubicBezTo>
                <a:lnTo>
                  <a:pt x="134303" y="157067"/>
                </a:lnTo>
                <a:cubicBezTo>
                  <a:pt x="134303" y="182404"/>
                  <a:pt x="156115" y="202978"/>
                  <a:pt x="182880" y="202978"/>
                </a:cubicBezTo>
                <a:lnTo>
                  <a:pt x="210503" y="202978"/>
                </a:lnTo>
                <a:lnTo>
                  <a:pt x="210503" y="253841"/>
                </a:lnTo>
                <a:cubicBezTo>
                  <a:pt x="210503" y="256223"/>
                  <a:pt x="211836" y="258413"/>
                  <a:pt x="213931" y="259461"/>
                </a:cubicBezTo>
                <a:close/>
                <a:moveTo>
                  <a:pt x="182880" y="190405"/>
                </a:moveTo>
                <a:cubicBezTo>
                  <a:pt x="162973" y="190405"/>
                  <a:pt x="146780" y="175451"/>
                  <a:pt x="146780" y="156972"/>
                </a:cubicBezTo>
                <a:lnTo>
                  <a:pt x="146780" y="45815"/>
                </a:lnTo>
                <a:cubicBezTo>
                  <a:pt x="146780" y="27432"/>
                  <a:pt x="162973" y="12382"/>
                  <a:pt x="182880" y="12382"/>
                </a:cubicBezTo>
                <a:lnTo>
                  <a:pt x="403003" y="12382"/>
                </a:lnTo>
                <a:cubicBezTo>
                  <a:pt x="422910" y="12382"/>
                  <a:pt x="439103" y="27337"/>
                  <a:pt x="439103" y="45815"/>
                </a:cubicBezTo>
                <a:lnTo>
                  <a:pt x="439103" y="156972"/>
                </a:lnTo>
                <a:cubicBezTo>
                  <a:pt x="439103" y="175355"/>
                  <a:pt x="422910" y="190405"/>
                  <a:pt x="403003" y="190405"/>
                </a:cubicBezTo>
                <a:lnTo>
                  <a:pt x="292894" y="190405"/>
                </a:lnTo>
                <a:cubicBezTo>
                  <a:pt x="291560" y="190405"/>
                  <a:pt x="290227" y="190881"/>
                  <a:pt x="289084" y="191643"/>
                </a:cubicBezTo>
                <a:lnTo>
                  <a:pt x="222885" y="241268"/>
                </a:lnTo>
                <a:lnTo>
                  <a:pt x="222885" y="196691"/>
                </a:lnTo>
                <a:cubicBezTo>
                  <a:pt x="222885" y="193262"/>
                  <a:pt x="220123" y="190405"/>
                  <a:pt x="216599" y="190405"/>
                </a:cubicBezTo>
                <a:lnTo>
                  <a:pt x="182690" y="190405"/>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sp>
        <p:nvSpPr>
          <p:cNvPr id="9" name="TextBox 8">
            <a:extLst>
              <a:ext uri="{FF2B5EF4-FFF2-40B4-BE49-F238E27FC236}">
                <a16:creationId xmlns:a16="http://schemas.microsoft.com/office/drawing/2014/main" id="{131C8A89-45AD-A0CD-436F-168C33F0881E}"/>
              </a:ext>
            </a:extLst>
          </p:cNvPr>
          <p:cNvSpPr txBox="1"/>
          <p:nvPr/>
        </p:nvSpPr>
        <p:spPr>
          <a:xfrm>
            <a:off x="1308233" y="3555981"/>
            <a:ext cx="2741481"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Takeaway #1</a:t>
            </a:r>
          </a:p>
        </p:txBody>
      </p:sp>
      <p:sp>
        <p:nvSpPr>
          <p:cNvPr id="8" name="TextBox 7">
            <a:extLst>
              <a:ext uri="{FF2B5EF4-FFF2-40B4-BE49-F238E27FC236}">
                <a16:creationId xmlns:a16="http://schemas.microsoft.com/office/drawing/2014/main" id="{D577D841-EE9D-EFFC-7624-6E2D3FB0448C}"/>
              </a:ext>
            </a:extLst>
          </p:cNvPr>
          <p:cNvSpPr txBox="1"/>
          <p:nvPr/>
        </p:nvSpPr>
        <p:spPr>
          <a:xfrm>
            <a:off x="1308232" y="4022052"/>
            <a:ext cx="2741482" cy="866904"/>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1600" dirty="0">
                <a:latin typeface="Inter" panose="02000503000000020004" pitchFamily="2" charset="0"/>
                <a:ea typeface="ＭＳ Ｐゴシック" charset="0"/>
              </a:rPr>
              <a:t>Splunk is a consumer of A&amp;I data, not ‘the’ source</a:t>
            </a:r>
          </a:p>
          <a:p>
            <a:pPr defTabSz="912276" fontAlgn="base">
              <a:spcAft>
                <a:spcPts val="1000"/>
              </a:spcAft>
              <a:buClr>
                <a:schemeClr val="bg1"/>
              </a:buClr>
              <a:buSzPct val="100000"/>
            </a:pPr>
            <a:endParaRPr lang="en-US" sz="1600" dirty="0">
              <a:latin typeface="Inter" panose="02000503000000020004" pitchFamily="2" charset="0"/>
              <a:ea typeface="ＭＳ Ｐゴシック" charset="0"/>
            </a:endParaRPr>
          </a:p>
        </p:txBody>
      </p:sp>
      <p:sp>
        <p:nvSpPr>
          <p:cNvPr id="29" name="Freeform 212" descr="Icon of a group of people's head in a circle  representing &quot;Collaboration&quot;">
            <a:extLst>
              <a:ext uri="{FF2B5EF4-FFF2-40B4-BE49-F238E27FC236}">
                <a16:creationId xmlns:a16="http://schemas.microsoft.com/office/drawing/2014/main" id="{EEC7B9F1-303A-E975-8DB3-E662C3279576}"/>
              </a:ext>
            </a:extLst>
          </p:cNvPr>
          <p:cNvSpPr>
            <a:spLocks noChangeAspect="1"/>
          </p:cNvSpPr>
          <p:nvPr/>
        </p:nvSpPr>
        <p:spPr>
          <a:xfrm>
            <a:off x="4720256" y="2903975"/>
            <a:ext cx="457200" cy="457200"/>
          </a:xfrm>
          <a:custGeom>
            <a:avLst/>
            <a:gdLst>
              <a:gd name="connsiteX0" fmla="*/ 152400 w 609600"/>
              <a:gd name="connsiteY0" fmla="*/ 259556 h 609600"/>
              <a:gd name="connsiteX1" fmla="*/ 107156 w 609600"/>
              <a:gd name="connsiteY1" fmla="*/ 304800 h 609600"/>
              <a:gd name="connsiteX2" fmla="*/ 152400 w 609600"/>
              <a:gd name="connsiteY2" fmla="*/ 350044 h 609600"/>
              <a:gd name="connsiteX3" fmla="*/ 197644 w 609600"/>
              <a:gd name="connsiteY3" fmla="*/ 304800 h 609600"/>
              <a:gd name="connsiteX4" fmla="*/ 152400 w 609600"/>
              <a:gd name="connsiteY4" fmla="*/ 259556 h 609600"/>
              <a:gd name="connsiteX5" fmla="*/ 152400 w 609600"/>
              <a:gd name="connsiteY5" fmla="*/ 335756 h 609600"/>
              <a:gd name="connsiteX6" fmla="*/ 121444 w 609600"/>
              <a:gd name="connsiteY6" fmla="*/ 304800 h 609600"/>
              <a:gd name="connsiteX7" fmla="*/ 152400 w 609600"/>
              <a:gd name="connsiteY7" fmla="*/ 273844 h 609600"/>
              <a:gd name="connsiteX8" fmla="*/ 183356 w 609600"/>
              <a:gd name="connsiteY8" fmla="*/ 304800 h 609600"/>
              <a:gd name="connsiteX9" fmla="*/ 152400 w 609600"/>
              <a:gd name="connsiteY9" fmla="*/ 335756 h 609600"/>
              <a:gd name="connsiteX10" fmla="*/ 411956 w 609600"/>
              <a:gd name="connsiteY10" fmla="*/ 304800 h 609600"/>
              <a:gd name="connsiteX11" fmla="*/ 457200 w 609600"/>
              <a:gd name="connsiteY11" fmla="*/ 350044 h 609600"/>
              <a:gd name="connsiteX12" fmla="*/ 502444 w 609600"/>
              <a:gd name="connsiteY12" fmla="*/ 304800 h 609600"/>
              <a:gd name="connsiteX13" fmla="*/ 457200 w 609600"/>
              <a:gd name="connsiteY13" fmla="*/ 259556 h 609600"/>
              <a:gd name="connsiteX14" fmla="*/ 411956 w 609600"/>
              <a:gd name="connsiteY14" fmla="*/ 304800 h 609600"/>
              <a:gd name="connsiteX15" fmla="*/ 457200 w 609600"/>
              <a:gd name="connsiteY15" fmla="*/ 273844 h 609600"/>
              <a:gd name="connsiteX16" fmla="*/ 488156 w 609600"/>
              <a:gd name="connsiteY16" fmla="*/ 304800 h 609600"/>
              <a:gd name="connsiteX17" fmla="*/ 457200 w 609600"/>
              <a:gd name="connsiteY17" fmla="*/ 335756 h 609600"/>
              <a:gd name="connsiteX18" fmla="*/ 426244 w 609600"/>
              <a:gd name="connsiteY18" fmla="*/ 304800 h 609600"/>
              <a:gd name="connsiteX19" fmla="*/ 457200 w 609600"/>
              <a:gd name="connsiteY19" fmla="*/ 273844 h 609600"/>
              <a:gd name="connsiteX20" fmla="*/ 304800 w 609600"/>
              <a:gd name="connsiteY20" fmla="*/ 411956 h 609600"/>
              <a:gd name="connsiteX21" fmla="*/ 259556 w 609600"/>
              <a:gd name="connsiteY21" fmla="*/ 457200 h 609600"/>
              <a:gd name="connsiteX22" fmla="*/ 304800 w 609600"/>
              <a:gd name="connsiteY22" fmla="*/ 502444 h 609600"/>
              <a:gd name="connsiteX23" fmla="*/ 350044 w 609600"/>
              <a:gd name="connsiteY23" fmla="*/ 457200 h 609600"/>
              <a:gd name="connsiteX24" fmla="*/ 304800 w 609600"/>
              <a:gd name="connsiteY24" fmla="*/ 411956 h 609600"/>
              <a:gd name="connsiteX25" fmla="*/ 304800 w 609600"/>
              <a:gd name="connsiteY25" fmla="*/ 488156 h 609600"/>
              <a:gd name="connsiteX26" fmla="*/ 273844 w 609600"/>
              <a:gd name="connsiteY26" fmla="*/ 457200 h 609600"/>
              <a:gd name="connsiteX27" fmla="*/ 304800 w 609600"/>
              <a:gd name="connsiteY27" fmla="*/ 426244 h 609600"/>
              <a:gd name="connsiteX28" fmla="*/ 335756 w 609600"/>
              <a:gd name="connsiteY28" fmla="*/ 457200 h 609600"/>
              <a:gd name="connsiteX29" fmla="*/ 304800 w 609600"/>
              <a:gd name="connsiteY29" fmla="*/ 488156 h 609600"/>
              <a:gd name="connsiteX30" fmla="*/ 304800 w 609600"/>
              <a:gd name="connsiteY30" fmla="*/ 107156 h 609600"/>
              <a:gd name="connsiteX31" fmla="*/ 259556 w 609600"/>
              <a:gd name="connsiteY31" fmla="*/ 152400 h 609600"/>
              <a:gd name="connsiteX32" fmla="*/ 304800 w 609600"/>
              <a:gd name="connsiteY32" fmla="*/ 197644 h 609600"/>
              <a:gd name="connsiteX33" fmla="*/ 350044 w 609600"/>
              <a:gd name="connsiteY33" fmla="*/ 152400 h 609600"/>
              <a:gd name="connsiteX34" fmla="*/ 304800 w 609600"/>
              <a:gd name="connsiteY34" fmla="*/ 107156 h 609600"/>
              <a:gd name="connsiteX35" fmla="*/ 304800 w 609600"/>
              <a:gd name="connsiteY35" fmla="*/ 183356 h 609600"/>
              <a:gd name="connsiteX36" fmla="*/ 273844 w 609600"/>
              <a:gd name="connsiteY36" fmla="*/ 152400 h 609600"/>
              <a:gd name="connsiteX37" fmla="*/ 304800 w 609600"/>
              <a:gd name="connsiteY37" fmla="*/ 121444 h 609600"/>
              <a:gd name="connsiteX38" fmla="*/ 335756 w 609600"/>
              <a:gd name="connsiteY38" fmla="*/ 152400 h 609600"/>
              <a:gd name="connsiteX39" fmla="*/ 304800 w 609600"/>
              <a:gd name="connsiteY39" fmla="*/ 183356 h 609600"/>
              <a:gd name="connsiteX40" fmla="*/ 444532 w 609600"/>
              <a:gd name="connsiteY40" fmla="*/ 444532 h 609600"/>
              <a:gd name="connsiteX41" fmla="*/ 444532 w 609600"/>
              <a:gd name="connsiteY41" fmla="*/ 380524 h 609600"/>
              <a:gd name="connsiteX42" fmla="*/ 380524 w 609600"/>
              <a:gd name="connsiteY42" fmla="*/ 380524 h 609600"/>
              <a:gd name="connsiteX43" fmla="*/ 367284 w 609600"/>
              <a:gd name="connsiteY43" fmla="*/ 412528 h 609600"/>
              <a:gd name="connsiteX44" fmla="*/ 380524 w 609600"/>
              <a:gd name="connsiteY44" fmla="*/ 444532 h 609600"/>
              <a:gd name="connsiteX45" fmla="*/ 412528 w 609600"/>
              <a:gd name="connsiteY45" fmla="*/ 457772 h 609600"/>
              <a:gd name="connsiteX46" fmla="*/ 444532 w 609600"/>
              <a:gd name="connsiteY46" fmla="*/ 444532 h 609600"/>
              <a:gd name="connsiteX47" fmla="*/ 390620 w 609600"/>
              <a:gd name="connsiteY47" fmla="*/ 434435 h 609600"/>
              <a:gd name="connsiteX48" fmla="*/ 381572 w 609600"/>
              <a:gd name="connsiteY48" fmla="*/ 412528 h 609600"/>
              <a:gd name="connsiteX49" fmla="*/ 390620 w 609600"/>
              <a:gd name="connsiteY49" fmla="*/ 390620 h 609600"/>
              <a:gd name="connsiteX50" fmla="*/ 412528 w 609600"/>
              <a:gd name="connsiteY50" fmla="*/ 381572 h 609600"/>
              <a:gd name="connsiteX51" fmla="*/ 434435 w 609600"/>
              <a:gd name="connsiteY51" fmla="*/ 390620 h 609600"/>
              <a:gd name="connsiteX52" fmla="*/ 434435 w 609600"/>
              <a:gd name="connsiteY52" fmla="*/ 434435 h 609600"/>
              <a:gd name="connsiteX53" fmla="*/ 390620 w 609600"/>
              <a:gd name="connsiteY53" fmla="*/ 434435 h 609600"/>
              <a:gd name="connsiteX54" fmla="*/ 242221 w 609600"/>
              <a:gd name="connsiteY54" fmla="*/ 196977 h 609600"/>
              <a:gd name="connsiteX55" fmla="*/ 228981 w 609600"/>
              <a:gd name="connsiteY55" fmla="*/ 164973 h 609600"/>
              <a:gd name="connsiteX56" fmla="*/ 164973 w 609600"/>
              <a:gd name="connsiteY56" fmla="*/ 164973 h 609600"/>
              <a:gd name="connsiteX57" fmla="*/ 164973 w 609600"/>
              <a:gd name="connsiteY57" fmla="*/ 228981 h 609600"/>
              <a:gd name="connsiteX58" fmla="*/ 196977 w 609600"/>
              <a:gd name="connsiteY58" fmla="*/ 242221 h 609600"/>
              <a:gd name="connsiteX59" fmla="*/ 228981 w 609600"/>
              <a:gd name="connsiteY59" fmla="*/ 228981 h 609600"/>
              <a:gd name="connsiteX60" fmla="*/ 242221 w 609600"/>
              <a:gd name="connsiteY60" fmla="*/ 196977 h 609600"/>
              <a:gd name="connsiteX61" fmla="*/ 218885 w 609600"/>
              <a:gd name="connsiteY61" fmla="*/ 218885 h 609600"/>
              <a:gd name="connsiteX62" fmla="*/ 175069 w 609600"/>
              <a:gd name="connsiteY62" fmla="*/ 218885 h 609600"/>
              <a:gd name="connsiteX63" fmla="*/ 175069 w 609600"/>
              <a:gd name="connsiteY63" fmla="*/ 175069 h 609600"/>
              <a:gd name="connsiteX64" fmla="*/ 196977 w 609600"/>
              <a:gd name="connsiteY64" fmla="*/ 166021 h 609600"/>
              <a:gd name="connsiteX65" fmla="*/ 218885 w 609600"/>
              <a:gd name="connsiteY65" fmla="*/ 175069 h 609600"/>
              <a:gd name="connsiteX66" fmla="*/ 227933 w 609600"/>
              <a:gd name="connsiteY66" fmla="*/ 196977 h 609600"/>
              <a:gd name="connsiteX67" fmla="*/ 218885 w 609600"/>
              <a:gd name="connsiteY67" fmla="*/ 218885 h 609600"/>
              <a:gd name="connsiteX68" fmla="*/ 228981 w 609600"/>
              <a:gd name="connsiteY68" fmla="*/ 444532 h 609600"/>
              <a:gd name="connsiteX69" fmla="*/ 242221 w 609600"/>
              <a:gd name="connsiteY69" fmla="*/ 412528 h 609600"/>
              <a:gd name="connsiteX70" fmla="*/ 228981 w 609600"/>
              <a:gd name="connsiteY70" fmla="*/ 380524 h 609600"/>
              <a:gd name="connsiteX71" fmla="*/ 164973 w 609600"/>
              <a:gd name="connsiteY71" fmla="*/ 380524 h 609600"/>
              <a:gd name="connsiteX72" fmla="*/ 164973 w 609600"/>
              <a:gd name="connsiteY72" fmla="*/ 444532 h 609600"/>
              <a:gd name="connsiteX73" fmla="*/ 196977 w 609600"/>
              <a:gd name="connsiteY73" fmla="*/ 457772 h 609600"/>
              <a:gd name="connsiteX74" fmla="*/ 228981 w 609600"/>
              <a:gd name="connsiteY74" fmla="*/ 444532 h 609600"/>
              <a:gd name="connsiteX75" fmla="*/ 175069 w 609600"/>
              <a:gd name="connsiteY75" fmla="*/ 390620 h 609600"/>
              <a:gd name="connsiteX76" fmla="*/ 196977 w 609600"/>
              <a:gd name="connsiteY76" fmla="*/ 381572 h 609600"/>
              <a:gd name="connsiteX77" fmla="*/ 218885 w 609600"/>
              <a:gd name="connsiteY77" fmla="*/ 390620 h 609600"/>
              <a:gd name="connsiteX78" fmla="*/ 227933 w 609600"/>
              <a:gd name="connsiteY78" fmla="*/ 412528 h 609600"/>
              <a:gd name="connsiteX79" fmla="*/ 218885 w 609600"/>
              <a:gd name="connsiteY79" fmla="*/ 434435 h 609600"/>
              <a:gd name="connsiteX80" fmla="*/ 175069 w 609600"/>
              <a:gd name="connsiteY80" fmla="*/ 434435 h 609600"/>
              <a:gd name="connsiteX81" fmla="*/ 175069 w 609600"/>
              <a:gd name="connsiteY81" fmla="*/ 390620 h 609600"/>
              <a:gd name="connsiteX82" fmla="*/ 380524 w 609600"/>
              <a:gd name="connsiteY82" fmla="*/ 164973 h 609600"/>
              <a:gd name="connsiteX83" fmla="*/ 367284 w 609600"/>
              <a:gd name="connsiteY83" fmla="*/ 196977 h 609600"/>
              <a:gd name="connsiteX84" fmla="*/ 380524 w 609600"/>
              <a:gd name="connsiteY84" fmla="*/ 228981 h 609600"/>
              <a:gd name="connsiteX85" fmla="*/ 412528 w 609600"/>
              <a:gd name="connsiteY85" fmla="*/ 242221 h 609600"/>
              <a:gd name="connsiteX86" fmla="*/ 444532 w 609600"/>
              <a:gd name="connsiteY86" fmla="*/ 228981 h 609600"/>
              <a:gd name="connsiteX87" fmla="*/ 444532 w 609600"/>
              <a:gd name="connsiteY87" fmla="*/ 164973 h 609600"/>
              <a:gd name="connsiteX88" fmla="*/ 380524 w 609600"/>
              <a:gd name="connsiteY88" fmla="*/ 164973 h 609600"/>
              <a:gd name="connsiteX89" fmla="*/ 434435 w 609600"/>
              <a:gd name="connsiteY89" fmla="*/ 218885 h 609600"/>
              <a:gd name="connsiteX90" fmla="*/ 390620 w 609600"/>
              <a:gd name="connsiteY90" fmla="*/ 218885 h 609600"/>
              <a:gd name="connsiteX91" fmla="*/ 381572 w 609600"/>
              <a:gd name="connsiteY91" fmla="*/ 196977 h 609600"/>
              <a:gd name="connsiteX92" fmla="*/ 390620 w 609600"/>
              <a:gd name="connsiteY92" fmla="*/ 175069 h 609600"/>
              <a:gd name="connsiteX93" fmla="*/ 412528 w 609600"/>
              <a:gd name="connsiteY93" fmla="*/ 166021 h 609600"/>
              <a:gd name="connsiteX94" fmla="*/ 434435 w 609600"/>
              <a:gd name="connsiteY94" fmla="*/ 175069 h 609600"/>
              <a:gd name="connsiteX95" fmla="*/ 434435 w 609600"/>
              <a:gd name="connsiteY95" fmla="*/ 218885 h 609600"/>
              <a:gd name="connsiteX96" fmla="*/ 590550 w 609600"/>
              <a:gd name="connsiteY96" fmla="*/ 221456 h 609600"/>
              <a:gd name="connsiteX97" fmla="*/ 609600 w 609600"/>
              <a:gd name="connsiteY97" fmla="*/ 221456 h 609600"/>
              <a:gd name="connsiteX98" fmla="*/ 609600 w 609600"/>
              <a:gd name="connsiteY98" fmla="*/ 235744 h 609600"/>
              <a:gd name="connsiteX99" fmla="*/ 590550 w 609600"/>
              <a:gd name="connsiteY99" fmla="*/ 235744 h 609600"/>
              <a:gd name="connsiteX100" fmla="*/ 540544 w 609600"/>
              <a:gd name="connsiteY100" fmla="*/ 285750 h 609600"/>
              <a:gd name="connsiteX101" fmla="*/ 540544 w 609600"/>
              <a:gd name="connsiteY101" fmla="*/ 323850 h 609600"/>
              <a:gd name="connsiteX102" fmla="*/ 590550 w 609600"/>
              <a:gd name="connsiteY102" fmla="*/ 373856 h 609600"/>
              <a:gd name="connsiteX103" fmla="*/ 609600 w 609600"/>
              <a:gd name="connsiteY103" fmla="*/ 373856 h 609600"/>
              <a:gd name="connsiteX104" fmla="*/ 609600 w 609600"/>
              <a:gd name="connsiteY104" fmla="*/ 388144 h 609600"/>
              <a:gd name="connsiteX105" fmla="*/ 590550 w 609600"/>
              <a:gd name="connsiteY105" fmla="*/ 388144 h 609600"/>
              <a:gd name="connsiteX106" fmla="*/ 526256 w 609600"/>
              <a:gd name="connsiteY106" fmla="*/ 323850 h 609600"/>
              <a:gd name="connsiteX107" fmla="*/ 526256 w 609600"/>
              <a:gd name="connsiteY107" fmla="*/ 285750 h 609600"/>
              <a:gd name="connsiteX108" fmla="*/ 590550 w 609600"/>
              <a:gd name="connsiteY108" fmla="*/ 221456 h 609600"/>
              <a:gd name="connsiteX109" fmla="*/ 19050 w 609600"/>
              <a:gd name="connsiteY109" fmla="*/ 388144 h 609600"/>
              <a:gd name="connsiteX110" fmla="*/ 0 w 609600"/>
              <a:gd name="connsiteY110" fmla="*/ 388144 h 609600"/>
              <a:gd name="connsiteX111" fmla="*/ 0 w 609600"/>
              <a:gd name="connsiteY111" fmla="*/ 373856 h 609600"/>
              <a:gd name="connsiteX112" fmla="*/ 19050 w 609600"/>
              <a:gd name="connsiteY112" fmla="*/ 373856 h 609600"/>
              <a:gd name="connsiteX113" fmla="*/ 69056 w 609600"/>
              <a:gd name="connsiteY113" fmla="*/ 323850 h 609600"/>
              <a:gd name="connsiteX114" fmla="*/ 69056 w 609600"/>
              <a:gd name="connsiteY114" fmla="*/ 285750 h 609600"/>
              <a:gd name="connsiteX115" fmla="*/ 19050 w 609600"/>
              <a:gd name="connsiteY115" fmla="*/ 235744 h 609600"/>
              <a:gd name="connsiteX116" fmla="*/ 0 w 609600"/>
              <a:gd name="connsiteY116" fmla="*/ 235744 h 609600"/>
              <a:gd name="connsiteX117" fmla="*/ 0 w 609600"/>
              <a:gd name="connsiteY117" fmla="*/ 221456 h 609600"/>
              <a:gd name="connsiteX118" fmla="*/ 19050 w 609600"/>
              <a:gd name="connsiteY118" fmla="*/ 221456 h 609600"/>
              <a:gd name="connsiteX119" fmla="*/ 83344 w 609600"/>
              <a:gd name="connsiteY119" fmla="*/ 285750 h 609600"/>
              <a:gd name="connsiteX120" fmla="*/ 83344 w 609600"/>
              <a:gd name="connsiteY120" fmla="*/ 323850 h 609600"/>
              <a:gd name="connsiteX121" fmla="*/ 19050 w 609600"/>
              <a:gd name="connsiteY121" fmla="*/ 388144 h 609600"/>
              <a:gd name="connsiteX122" fmla="*/ 373856 w 609600"/>
              <a:gd name="connsiteY122" fmla="*/ 609600 h 609600"/>
              <a:gd name="connsiteX123" fmla="*/ 373856 w 609600"/>
              <a:gd name="connsiteY123" fmla="*/ 590550 h 609600"/>
              <a:gd name="connsiteX124" fmla="*/ 323850 w 609600"/>
              <a:gd name="connsiteY124" fmla="*/ 540544 h 609600"/>
              <a:gd name="connsiteX125" fmla="*/ 285750 w 609600"/>
              <a:gd name="connsiteY125" fmla="*/ 540544 h 609600"/>
              <a:gd name="connsiteX126" fmla="*/ 235744 w 609600"/>
              <a:gd name="connsiteY126" fmla="*/ 590550 h 609600"/>
              <a:gd name="connsiteX127" fmla="*/ 235744 w 609600"/>
              <a:gd name="connsiteY127" fmla="*/ 609600 h 609600"/>
              <a:gd name="connsiteX128" fmla="*/ 221456 w 609600"/>
              <a:gd name="connsiteY128" fmla="*/ 609600 h 609600"/>
              <a:gd name="connsiteX129" fmla="*/ 221456 w 609600"/>
              <a:gd name="connsiteY129" fmla="*/ 590550 h 609600"/>
              <a:gd name="connsiteX130" fmla="*/ 285750 w 609600"/>
              <a:gd name="connsiteY130" fmla="*/ 526256 h 609600"/>
              <a:gd name="connsiteX131" fmla="*/ 323850 w 609600"/>
              <a:gd name="connsiteY131" fmla="*/ 526256 h 609600"/>
              <a:gd name="connsiteX132" fmla="*/ 388144 w 609600"/>
              <a:gd name="connsiteY132" fmla="*/ 590550 h 609600"/>
              <a:gd name="connsiteX133" fmla="*/ 388144 w 609600"/>
              <a:gd name="connsiteY133" fmla="*/ 609600 h 609600"/>
              <a:gd name="connsiteX134" fmla="*/ 373856 w 609600"/>
              <a:gd name="connsiteY134" fmla="*/ 609600 h 609600"/>
              <a:gd name="connsiteX135" fmla="*/ 323850 w 609600"/>
              <a:gd name="connsiteY135" fmla="*/ 83344 h 609600"/>
              <a:gd name="connsiteX136" fmla="*/ 285750 w 609600"/>
              <a:gd name="connsiteY136" fmla="*/ 83344 h 609600"/>
              <a:gd name="connsiteX137" fmla="*/ 221456 w 609600"/>
              <a:gd name="connsiteY137" fmla="*/ 19050 h 609600"/>
              <a:gd name="connsiteX138" fmla="*/ 221456 w 609600"/>
              <a:gd name="connsiteY138" fmla="*/ 0 h 609600"/>
              <a:gd name="connsiteX139" fmla="*/ 235744 w 609600"/>
              <a:gd name="connsiteY139" fmla="*/ 0 h 609600"/>
              <a:gd name="connsiteX140" fmla="*/ 235744 w 609600"/>
              <a:gd name="connsiteY140" fmla="*/ 19050 h 609600"/>
              <a:gd name="connsiteX141" fmla="*/ 285750 w 609600"/>
              <a:gd name="connsiteY141" fmla="*/ 69056 h 609600"/>
              <a:gd name="connsiteX142" fmla="*/ 323850 w 609600"/>
              <a:gd name="connsiteY142" fmla="*/ 69056 h 609600"/>
              <a:gd name="connsiteX143" fmla="*/ 373856 w 609600"/>
              <a:gd name="connsiteY143" fmla="*/ 19050 h 609600"/>
              <a:gd name="connsiteX144" fmla="*/ 373856 w 609600"/>
              <a:gd name="connsiteY144" fmla="*/ 0 h 609600"/>
              <a:gd name="connsiteX145" fmla="*/ 388144 w 609600"/>
              <a:gd name="connsiteY145" fmla="*/ 0 h 609600"/>
              <a:gd name="connsiteX146" fmla="*/ 388144 w 609600"/>
              <a:gd name="connsiteY146" fmla="*/ 19050 h 609600"/>
              <a:gd name="connsiteX147" fmla="*/ 323850 w 609600"/>
              <a:gd name="connsiteY147" fmla="*/ 83344 h 609600"/>
              <a:gd name="connsiteX148" fmla="*/ 53912 w 609600"/>
              <a:gd name="connsiteY148" fmla="*/ 151543 h 609600"/>
              <a:gd name="connsiteX149" fmla="*/ 124587 w 609600"/>
              <a:gd name="connsiteY149" fmla="*/ 151543 h 609600"/>
              <a:gd name="connsiteX150" fmla="*/ 151543 w 609600"/>
              <a:gd name="connsiteY150" fmla="*/ 124587 h 609600"/>
              <a:gd name="connsiteX151" fmla="*/ 166211 w 609600"/>
              <a:gd name="connsiteY151" fmla="*/ 89249 h 609600"/>
              <a:gd name="connsiteX152" fmla="*/ 151543 w 609600"/>
              <a:gd name="connsiteY152" fmla="*/ 53912 h 609600"/>
              <a:gd name="connsiteX153" fmla="*/ 138113 w 609600"/>
              <a:gd name="connsiteY153" fmla="*/ 40481 h 609600"/>
              <a:gd name="connsiteX154" fmla="*/ 148209 w 609600"/>
              <a:gd name="connsiteY154" fmla="*/ 30385 h 609600"/>
              <a:gd name="connsiteX155" fmla="*/ 161639 w 609600"/>
              <a:gd name="connsiteY155" fmla="*/ 43815 h 609600"/>
              <a:gd name="connsiteX156" fmla="*/ 180499 w 609600"/>
              <a:gd name="connsiteY156" fmla="*/ 89249 h 609600"/>
              <a:gd name="connsiteX157" fmla="*/ 161639 w 609600"/>
              <a:gd name="connsiteY157" fmla="*/ 134684 h 609600"/>
              <a:gd name="connsiteX158" fmla="*/ 134684 w 609600"/>
              <a:gd name="connsiteY158" fmla="*/ 161639 h 609600"/>
              <a:gd name="connsiteX159" fmla="*/ 89249 w 609600"/>
              <a:gd name="connsiteY159" fmla="*/ 180404 h 609600"/>
              <a:gd name="connsiteX160" fmla="*/ 43815 w 609600"/>
              <a:gd name="connsiteY160" fmla="*/ 161639 h 609600"/>
              <a:gd name="connsiteX161" fmla="*/ 30385 w 609600"/>
              <a:gd name="connsiteY161" fmla="*/ 148209 h 609600"/>
              <a:gd name="connsiteX162" fmla="*/ 40481 w 609600"/>
              <a:gd name="connsiteY162" fmla="*/ 138113 h 609600"/>
              <a:gd name="connsiteX163" fmla="*/ 53912 w 609600"/>
              <a:gd name="connsiteY163" fmla="*/ 151543 h 609600"/>
              <a:gd name="connsiteX164" fmla="*/ 458057 w 609600"/>
              <a:gd name="connsiteY164" fmla="*/ 484918 h 609600"/>
              <a:gd name="connsiteX165" fmla="*/ 443389 w 609600"/>
              <a:gd name="connsiteY165" fmla="*/ 520256 h 609600"/>
              <a:gd name="connsiteX166" fmla="*/ 458057 w 609600"/>
              <a:gd name="connsiteY166" fmla="*/ 555593 h 609600"/>
              <a:gd name="connsiteX167" fmla="*/ 471488 w 609600"/>
              <a:gd name="connsiteY167" fmla="*/ 569024 h 609600"/>
              <a:gd name="connsiteX168" fmla="*/ 461391 w 609600"/>
              <a:gd name="connsiteY168" fmla="*/ 579120 h 609600"/>
              <a:gd name="connsiteX169" fmla="*/ 447961 w 609600"/>
              <a:gd name="connsiteY169" fmla="*/ 565690 h 609600"/>
              <a:gd name="connsiteX170" fmla="*/ 429101 w 609600"/>
              <a:gd name="connsiteY170" fmla="*/ 520256 h 609600"/>
              <a:gd name="connsiteX171" fmla="*/ 447961 w 609600"/>
              <a:gd name="connsiteY171" fmla="*/ 474821 h 609600"/>
              <a:gd name="connsiteX172" fmla="*/ 474917 w 609600"/>
              <a:gd name="connsiteY172" fmla="*/ 447866 h 609600"/>
              <a:gd name="connsiteX173" fmla="*/ 565880 w 609600"/>
              <a:gd name="connsiteY173" fmla="*/ 447866 h 609600"/>
              <a:gd name="connsiteX174" fmla="*/ 579311 w 609600"/>
              <a:gd name="connsiteY174" fmla="*/ 461296 h 609600"/>
              <a:gd name="connsiteX175" fmla="*/ 569214 w 609600"/>
              <a:gd name="connsiteY175" fmla="*/ 471392 h 609600"/>
              <a:gd name="connsiteX176" fmla="*/ 555784 w 609600"/>
              <a:gd name="connsiteY176" fmla="*/ 457962 h 609600"/>
              <a:gd name="connsiteX177" fmla="*/ 485108 w 609600"/>
              <a:gd name="connsiteY177" fmla="*/ 457962 h 609600"/>
              <a:gd name="connsiteX178" fmla="*/ 458153 w 609600"/>
              <a:gd name="connsiteY178" fmla="*/ 484918 h 609600"/>
              <a:gd name="connsiteX179" fmla="*/ 151638 w 609600"/>
              <a:gd name="connsiteY179" fmla="*/ 555593 h 609600"/>
              <a:gd name="connsiteX180" fmla="*/ 166306 w 609600"/>
              <a:gd name="connsiteY180" fmla="*/ 520256 h 609600"/>
              <a:gd name="connsiteX181" fmla="*/ 151638 w 609600"/>
              <a:gd name="connsiteY181" fmla="*/ 484918 h 609600"/>
              <a:gd name="connsiteX182" fmla="*/ 124682 w 609600"/>
              <a:gd name="connsiteY182" fmla="*/ 457962 h 609600"/>
              <a:gd name="connsiteX183" fmla="*/ 54007 w 609600"/>
              <a:gd name="connsiteY183" fmla="*/ 457962 h 609600"/>
              <a:gd name="connsiteX184" fmla="*/ 40577 w 609600"/>
              <a:gd name="connsiteY184" fmla="*/ 471392 h 609600"/>
              <a:gd name="connsiteX185" fmla="*/ 30480 w 609600"/>
              <a:gd name="connsiteY185" fmla="*/ 461296 h 609600"/>
              <a:gd name="connsiteX186" fmla="*/ 43910 w 609600"/>
              <a:gd name="connsiteY186" fmla="*/ 447866 h 609600"/>
              <a:gd name="connsiteX187" fmla="*/ 134874 w 609600"/>
              <a:gd name="connsiteY187" fmla="*/ 447866 h 609600"/>
              <a:gd name="connsiteX188" fmla="*/ 161830 w 609600"/>
              <a:gd name="connsiteY188" fmla="*/ 474821 h 609600"/>
              <a:gd name="connsiteX189" fmla="*/ 180689 w 609600"/>
              <a:gd name="connsiteY189" fmla="*/ 520256 h 609600"/>
              <a:gd name="connsiteX190" fmla="*/ 161830 w 609600"/>
              <a:gd name="connsiteY190" fmla="*/ 565690 h 609600"/>
              <a:gd name="connsiteX191" fmla="*/ 148400 w 609600"/>
              <a:gd name="connsiteY191" fmla="*/ 579120 h 609600"/>
              <a:gd name="connsiteX192" fmla="*/ 138303 w 609600"/>
              <a:gd name="connsiteY192" fmla="*/ 569024 h 609600"/>
              <a:gd name="connsiteX193" fmla="*/ 151733 w 609600"/>
              <a:gd name="connsiteY193" fmla="*/ 555593 h 609600"/>
              <a:gd name="connsiteX194" fmla="*/ 565880 w 609600"/>
              <a:gd name="connsiteY194" fmla="*/ 161544 h 609600"/>
              <a:gd name="connsiteX195" fmla="*/ 520446 w 609600"/>
              <a:gd name="connsiteY195" fmla="*/ 180308 h 609600"/>
              <a:gd name="connsiteX196" fmla="*/ 475012 w 609600"/>
              <a:gd name="connsiteY196" fmla="*/ 161544 h 609600"/>
              <a:gd name="connsiteX197" fmla="*/ 448056 w 609600"/>
              <a:gd name="connsiteY197" fmla="*/ 134588 h 609600"/>
              <a:gd name="connsiteX198" fmla="*/ 429197 w 609600"/>
              <a:gd name="connsiteY198" fmla="*/ 89154 h 609600"/>
              <a:gd name="connsiteX199" fmla="*/ 448056 w 609600"/>
              <a:gd name="connsiteY199" fmla="*/ 43720 h 609600"/>
              <a:gd name="connsiteX200" fmla="*/ 461486 w 609600"/>
              <a:gd name="connsiteY200" fmla="*/ 30290 h 609600"/>
              <a:gd name="connsiteX201" fmla="*/ 471583 w 609600"/>
              <a:gd name="connsiteY201" fmla="*/ 40386 h 609600"/>
              <a:gd name="connsiteX202" fmla="*/ 458153 w 609600"/>
              <a:gd name="connsiteY202" fmla="*/ 53816 h 609600"/>
              <a:gd name="connsiteX203" fmla="*/ 443484 w 609600"/>
              <a:gd name="connsiteY203" fmla="*/ 89154 h 609600"/>
              <a:gd name="connsiteX204" fmla="*/ 458153 w 609600"/>
              <a:gd name="connsiteY204" fmla="*/ 124492 h 609600"/>
              <a:gd name="connsiteX205" fmla="*/ 485108 w 609600"/>
              <a:gd name="connsiteY205" fmla="*/ 151448 h 609600"/>
              <a:gd name="connsiteX206" fmla="*/ 520446 w 609600"/>
              <a:gd name="connsiteY206" fmla="*/ 166116 h 609600"/>
              <a:gd name="connsiteX207" fmla="*/ 555784 w 609600"/>
              <a:gd name="connsiteY207" fmla="*/ 151448 h 609600"/>
              <a:gd name="connsiteX208" fmla="*/ 569214 w 609600"/>
              <a:gd name="connsiteY208" fmla="*/ 138017 h 609600"/>
              <a:gd name="connsiteX209" fmla="*/ 579311 w 609600"/>
              <a:gd name="connsiteY209" fmla="*/ 148114 h 609600"/>
              <a:gd name="connsiteX210" fmla="*/ 565880 w 609600"/>
              <a:gd name="connsiteY210" fmla="*/ 161544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Lst>
            <a:rect l="l" t="t" r="r" b="b"/>
            <a:pathLst>
              <a:path w="609600" h="609600">
                <a:moveTo>
                  <a:pt x="152400" y="259556"/>
                </a:moveTo>
                <a:cubicBezTo>
                  <a:pt x="127444" y="259556"/>
                  <a:pt x="107156" y="279845"/>
                  <a:pt x="107156" y="304800"/>
                </a:cubicBezTo>
                <a:cubicBezTo>
                  <a:pt x="107156" y="329756"/>
                  <a:pt x="127444" y="350044"/>
                  <a:pt x="152400" y="350044"/>
                </a:cubicBezTo>
                <a:cubicBezTo>
                  <a:pt x="177356" y="350044"/>
                  <a:pt x="197644" y="329756"/>
                  <a:pt x="197644" y="304800"/>
                </a:cubicBezTo>
                <a:cubicBezTo>
                  <a:pt x="197644" y="279845"/>
                  <a:pt x="177356" y="259556"/>
                  <a:pt x="152400" y="259556"/>
                </a:cubicBezTo>
                <a:close/>
                <a:moveTo>
                  <a:pt x="152400" y="335756"/>
                </a:moveTo>
                <a:cubicBezTo>
                  <a:pt x="135350" y="335756"/>
                  <a:pt x="121444" y="321850"/>
                  <a:pt x="121444" y="304800"/>
                </a:cubicBezTo>
                <a:cubicBezTo>
                  <a:pt x="121444" y="287750"/>
                  <a:pt x="135350" y="273844"/>
                  <a:pt x="152400" y="273844"/>
                </a:cubicBezTo>
                <a:cubicBezTo>
                  <a:pt x="169450" y="273844"/>
                  <a:pt x="183356" y="287750"/>
                  <a:pt x="183356" y="304800"/>
                </a:cubicBezTo>
                <a:cubicBezTo>
                  <a:pt x="183356" y="321850"/>
                  <a:pt x="169450" y="335756"/>
                  <a:pt x="152400" y="335756"/>
                </a:cubicBezTo>
                <a:close/>
                <a:moveTo>
                  <a:pt x="411956" y="304800"/>
                </a:moveTo>
                <a:cubicBezTo>
                  <a:pt x="411956" y="329756"/>
                  <a:pt x="432245" y="350044"/>
                  <a:pt x="457200" y="350044"/>
                </a:cubicBezTo>
                <a:cubicBezTo>
                  <a:pt x="482156" y="350044"/>
                  <a:pt x="502444" y="329756"/>
                  <a:pt x="502444" y="304800"/>
                </a:cubicBezTo>
                <a:cubicBezTo>
                  <a:pt x="502444" y="279845"/>
                  <a:pt x="482156" y="259556"/>
                  <a:pt x="457200" y="259556"/>
                </a:cubicBezTo>
                <a:cubicBezTo>
                  <a:pt x="432245" y="259556"/>
                  <a:pt x="411956" y="279845"/>
                  <a:pt x="411956" y="304800"/>
                </a:cubicBezTo>
                <a:close/>
                <a:moveTo>
                  <a:pt x="457200" y="273844"/>
                </a:moveTo>
                <a:cubicBezTo>
                  <a:pt x="474250" y="273844"/>
                  <a:pt x="488156" y="287750"/>
                  <a:pt x="488156" y="304800"/>
                </a:cubicBezTo>
                <a:cubicBezTo>
                  <a:pt x="488156" y="321850"/>
                  <a:pt x="474250" y="335756"/>
                  <a:pt x="457200" y="335756"/>
                </a:cubicBezTo>
                <a:cubicBezTo>
                  <a:pt x="440150" y="335756"/>
                  <a:pt x="426244" y="321850"/>
                  <a:pt x="426244" y="304800"/>
                </a:cubicBezTo>
                <a:cubicBezTo>
                  <a:pt x="426244" y="287750"/>
                  <a:pt x="440150" y="273844"/>
                  <a:pt x="457200" y="273844"/>
                </a:cubicBezTo>
                <a:close/>
                <a:moveTo>
                  <a:pt x="304800" y="411956"/>
                </a:moveTo>
                <a:cubicBezTo>
                  <a:pt x="279845" y="411956"/>
                  <a:pt x="259556" y="432245"/>
                  <a:pt x="259556" y="457200"/>
                </a:cubicBezTo>
                <a:cubicBezTo>
                  <a:pt x="259556" y="482156"/>
                  <a:pt x="279845" y="502444"/>
                  <a:pt x="304800" y="502444"/>
                </a:cubicBezTo>
                <a:cubicBezTo>
                  <a:pt x="329756" y="502444"/>
                  <a:pt x="350044" y="482156"/>
                  <a:pt x="350044" y="457200"/>
                </a:cubicBezTo>
                <a:cubicBezTo>
                  <a:pt x="350044" y="432245"/>
                  <a:pt x="329756" y="411956"/>
                  <a:pt x="304800" y="411956"/>
                </a:cubicBezTo>
                <a:close/>
                <a:moveTo>
                  <a:pt x="304800" y="488156"/>
                </a:moveTo>
                <a:cubicBezTo>
                  <a:pt x="287750" y="488156"/>
                  <a:pt x="273844" y="474250"/>
                  <a:pt x="273844" y="457200"/>
                </a:cubicBezTo>
                <a:cubicBezTo>
                  <a:pt x="273844" y="440150"/>
                  <a:pt x="287750" y="426244"/>
                  <a:pt x="304800" y="426244"/>
                </a:cubicBezTo>
                <a:cubicBezTo>
                  <a:pt x="321850" y="426244"/>
                  <a:pt x="335756" y="440150"/>
                  <a:pt x="335756" y="457200"/>
                </a:cubicBezTo>
                <a:cubicBezTo>
                  <a:pt x="335756" y="474250"/>
                  <a:pt x="321850" y="488156"/>
                  <a:pt x="304800" y="488156"/>
                </a:cubicBezTo>
                <a:close/>
                <a:moveTo>
                  <a:pt x="304800" y="107156"/>
                </a:moveTo>
                <a:cubicBezTo>
                  <a:pt x="279845" y="107156"/>
                  <a:pt x="259556" y="127444"/>
                  <a:pt x="259556" y="152400"/>
                </a:cubicBezTo>
                <a:cubicBezTo>
                  <a:pt x="259556" y="177356"/>
                  <a:pt x="279845" y="197644"/>
                  <a:pt x="304800" y="197644"/>
                </a:cubicBezTo>
                <a:cubicBezTo>
                  <a:pt x="329756" y="197644"/>
                  <a:pt x="350044" y="177356"/>
                  <a:pt x="350044" y="152400"/>
                </a:cubicBezTo>
                <a:cubicBezTo>
                  <a:pt x="350044" y="127444"/>
                  <a:pt x="329756" y="107156"/>
                  <a:pt x="304800" y="107156"/>
                </a:cubicBezTo>
                <a:close/>
                <a:moveTo>
                  <a:pt x="304800" y="183356"/>
                </a:moveTo>
                <a:cubicBezTo>
                  <a:pt x="287750" y="183356"/>
                  <a:pt x="273844" y="169450"/>
                  <a:pt x="273844" y="152400"/>
                </a:cubicBezTo>
                <a:cubicBezTo>
                  <a:pt x="273844" y="135350"/>
                  <a:pt x="287750" y="121444"/>
                  <a:pt x="304800" y="121444"/>
                </a:cubicBezTo>
                <a:cubicBezTo>
                  <a:pt x="321850" y="121444"/>
                  <a:pt x="335756" y="135350"/>
                  <a:pt x="335756" y="152400"/>
                </a:cubicBezTo>
                <a:cubicBezTo>
                  <a:pt x="335756" y="169450"/>
                  <a:pt x="321850" y="183356"/>
                  <a:pt x="304800" y="183356"/>
                </a:cubicBezTo>
                <a:close/>
                <a:moveTo>
                  <a:pt x="444532" y="444532"/>
                </a:moveTo>
                <a:cubicBezTo>
                  <a:pt x="462153" y="426911"/>
                  <a:pt x="462153" y="398145"/>
                  <a:pt x="444532" y="380524"/>
                </a:cubicBezTo>
                <a:cubicBezTo>
                  <a:pt x="426911" y="362903"/>
                  <a:pt x="398145" y="362903"/>
                  <a:pt x="380524" y="380524"/>
                </a:cubicBezTo>
                <a:cubicBezTo>
                  <a:pt x="371951" y="389096"/>
                  <a:pt x="367284" y="400431"/>
                  <a:pt x="367284" y="412528"/>
                </a:cubicBezTo>
                <a:cubicBezTo>
                  <a:pt x="367284" y="424625"/>
                  <a:pt x="371951" y="435959"/>
                  <a:pt x="380524" y="444532"/>
                </a:cubicBezTo>
                <a:cubicBezTo>
                  <a:pt x="389382" y="453390"/>
                  <a:pt x="400907" y="457772"/>
                  <a:pt x="412528" y="457772"/>
                </a:cubicBezTo>
                <a:cubicBezTo>
                  <a:pt x="424148" y="457772"/>
                  <a:pt x="435674" y="453390"/>
                  <a:pt x="444532" y="444532"/>
                </a:cubicBezTo>
                <a:close/>
                <a:moveTo>
                  <a:pt x="390620" y="434435"/>
                </a:moveTo>
                <a:cubicBezTo>
                  <a:pt x="384810" y="428625"/>
                  <a:pt x="381572" y="420815"/>
                  <a:pt x="381572" y="412528"/>
                </a:cubicBezTo>
                <a:cubicBezTo>
                  <a:pt x="381572" y="404241"/>
                  <a:pt x="384810" y="396526"/>
                  <a:pt x="390620" y="390620"/>
                </a:cubicBezTo>
                <a:cubicBezTo>
                  <a:pt x="396621" y="384620"/>
                  <a:pt x="404622" y="381572"/>
                  <a:pt x="412528" y="381572"/>
                </a:cubicBezTo>
                <a:cubicBezTo>
                  <a:pt x="420434" y="381572"/>
                  <a:pt x="428339" y="384620"/>
                  <a:pt x="434435" y="390620"/>
                </a:cubicBezTo>
                <a:cubicBezTo>
                  <a:pt x="446532" y="402717"/>
                  <a:pt x="446532" y="422339"/>
                  <a:pt x="434435" y="434435"/>
                </a:cubicBezTo>
                <a:cubicBezTo>
                  <a:pt x="422339" y="446532"/>
                  <a:pt x="402717" y="446532"/>
                  <a:pt x="390620" y="434435"/>
                </a:cubicBezTo>
                <a:close/>
                <a:moveTo>
                  <a:pt x="242221" y="196977"/>
                </a:moveTo>
                <a:cubicBezTo>
                  <a:pt x="242221" y="184880"/>
                  <a:pt x="237553" y="173546"/>
                  <a:pt x="228981" y="164973"/>
                </a:cubicBezTo>
                <a:cubicBezTo>
                  <a:pt x="211360" y="147352"/>
                  <a:pt x="182594" y="147352"/>
                  <a:pt x="164973" y="164973"/>
                </a:cubicBezTo>
                <a:cubicBezTo>
                  <a:pt x="147352" y="182594"/>
                  <a:pt x="147352" y="211360"/>
                  <a:pt x="164973" y="228981"/>
                </a:cubicBezTo>
                <a:cubicBezTo>
                  <a:pt x="173831" y="237839"/>
                  <a:pt x="185356" y="242221"/>
                  <a:pt x="196977" y="242221"/>
                </a:cubicBezTo>
                <a:cubicBezTo>
                  <a:pt x="208598" y="242221"/>
                  <a:pt x="220123" y="237839"/>
                  <a:pt x="228981" y="228981"/>
                </a:cubicBezTo>
                <a:cubicBezTo>
                  <a:pt x="237553" y="220409"/>
                  <a:pt x="242221" y="209074"/>
                  <a:pt x="242221" y="196977"/>
                </a:cubicBezTo>
                <a:close/>
                <a:moveTo>
                  <a:pt x="218885" y="218885"/>
                </a:moveTo>
                <a:cubicBezTo>
                  <a:pt x="206788" y="230981"/>
                  <a:pt x="187166" y="230981"/>
                  <a:pt x="175069" y="218885"/>
                </a:cubicBezTo>
                <a:cubicBezTo>
                  <a:pt x="162973" y="206788"/>
                  <a:pt x="162973" y="187166"/>
                  <a:pt x="175069" y="175069"/>
                </a:cubicBezTo>
                <a:cubicBezTo>
                  <a:pt x="181070" y="169069"/>
                  <a:pt x="189071" y="166021"/>
                  <a:pt x="196977" y="166021"/>
                </a:cubicBezTo>
                <a:cubicBezTo>
                  <a:pt x="204883" y="166021"/>
                  <a:pt x="212884" y="169069"/>
                  <a:pt x="218885" y="175069"/>
                </a:cubicBezTo>
                <a:cubicBezTo>
                  <a:pt x="224695" y="180880"/>
                  <a:pt x="227933" y="188690"/>
                  <a:pt x="227933" y="196977"/>
                </a:cubicBezTo>
                <a:cubicBezTo>
                  <a:pt x="227933" y="205264"/>
                  <a:pt x="224695" y="212979"/>
                  <a:pt x="218885" y="218885"/>
                </a:cubicBezTo>
                <a:close/>
                <a:moveTo>
                  <a:pt x="228981" y="444532"/>
                </a:moveTo>
                <a:cubicBezTo>
                  <a:pt x="237553" y="435959"/>
                  <a:pt x="242221" y="424625"/>
                  <a:pt x="242221" y="412528"/>
                </a:cubicBezTo>
                <a:cubicBezTo>
                  <a:pt x="242221" y="400431"/>
                  <a:pt x="237553" y="389096"/>
                  <a:pt x="228981" y="380524"/>
                </a:cubicBezTo>
                <a:cubicBezTo>
                  <a:pt x="211360" y="362903"/>
                  <a:pt x="182594" y="362903"/>
                  <a:pt x="164973" y="380524"/>
                </a:cubicBezTo>
                <a:cubicBezTo>
                  <a:pt x="147352" y="398145"/>
                  <a:pt x="147352" y="426911"/>
                  <a:pt x="164973" y="444532"/>
                </a:cubicBezTo>
                <a:cubicBezTo>
                  <a:pt x="173831" y="453390"/>
                  <a:pt x="185356" y="457772"/>
                  <a:pt x="196977" y="457772"/>
                </a:cubicBezTo>
                <a:cubicBezTo>
                  <a:pt x="208598" y="457772"/>
                  <a:pt x="220123" y="453390"/>
                  <a:pt x="228981" y="444532"/>
                </a:cubicBezTo>
                <a:close/>
                <a:moveTo>
                  <a:pt x="175069" y="390620"/>
                </a:moveTo>
                <a:cubicBezTo>
                  <a:pt x="181070" y="384620"/>
                  <a:pt x="189071" y="381572"/>
                  <a:pt x="196977" y="381572"/>
                </a:cubicBezTo>
                <a:cubicBezTo>
                  <a:pt x="204883" y="381572"/>
                  <a:pt x="212884" y="384620"/>
                  <a:pt x="218885" y="390620"/>
                </a:cubicBezTo>
                <a:cubicBezTo>
                  <a:pt x="224695" y="396431"/>
                  <a:pt x="227933" y="404241"/>
                  <a:pt x="227933" y="412528"/>
                </a:cubicBezTo>
                <a:cubicBezTo>
                  <a:pt x="227933" y="420815"/>
                  <a:pt x="224695" y="428530"/>
                  <a:pt x="218885" y="434435"/>
                </a:cubicBezTo>
                <a:cubicBezTo>
                  <a:pt x="206788" y="446532"/>
                  <a:pt x="187166" y="446532"/>
                  <a:pt x="175069" y="434435"/>
                </a:cubicBezTo>
                <a:cubicBezTo>
                  <a:pt x="162973" y="422339"/>
                  <a:pt x="162973" y="402717"/>
                  <a:pt x="175069" y="390620"/>
                </a:cubicBezTo>
                <a:close/>
                <a:moveTo>
                  <a:pt x="380524" y="164973"/>
                </a:moveTo>
                <a:cubicBezTo>
                  <a:pt x="371951" y="173546"/>
                  <a:pt x="367284" y="184880"/>
                  <a:pt x="367284" y="196977"/>
                </a:cubicBezTo>
                <a:cubicBezTo>
                  <a:pt x="367284" y="209074"/>
                  <a:pt x="371951" y="220409"/>
                  <a:pt x="380524" y="228981"/>
                </a:cubicBezTo>
                <a:cubicBezTo>
                  <a:pt x="389382" y="237839"/>
                  <a:pt x="400907" y="242221"/>
                  <a:pt x="412528" y="242221"/>
                </a:cubicBezTo>
                <a:cubicBezTo>
                  <a:pt x="424148" y="242221"/>
                  <a:pt x="435674" y="237839"/>
                  <a:pt x="444532" y="228981"/>
                </a:cubicBezTo>
                <a:cubicBezTo>
                  <a:pt x="462153" y="211360"/>
                  <a:pt x="462153" y="182594"/>
                  <a:pt x="444532" y="164973"/>
                </a:cubicBezTo>
                <a:cubicBezTo>
                  <a:pt x="426911" y="147352"/>
                  <a:pt x="398145" y="147352"/>
                  <a:pt x="380524" y="164973"/>
                </a:cubicBezTo>
                <a:close/>
                <a:moveTo>
                  <a:pt x="434435" y="218885"/>
                </a:moveTo>
                <a:cubicBezTo>
                  <a:pt x="422339" y="230981"/>
                  <a:pt x="402717" y="230981"/>
                  <a:pt x="390620" y="218885"/>
                </a:cubicBezTo>
                <a:cubicBezTo>
                  <a:pt x="384810" y="213074"/>
                  <a:pt x="381572" y="205264"/>
                  <a:pt x="381572" y="196977"/>
                </a:cubicBezTo>
                <a:cubicBezTo>
                  <a:pt x="381572" y="188690"/>
                  <a:pt x="384810" y="180975"/>
                  <a:pt x="390620" y="175069"/>
                </a:cubicBezTo>
                <a:cubicBezTo>
                  <a:pt x="396621" y="169069"/>
                  <a:pt x="404622" y="166021"/>
                  <a:pt x="412528" y="166021"/>
                </a:cubicBezTo>
                <a:cubicBezTo>
                  <a:pt x="420434" y="166021"/>
                  <a:pt x="428339" y="169069"/>
                  <a:pt x="434435" y="175069"/>
                </a:cubicBezTo>
                <a:cubicBezTo>
                  <a:pt x="446532" y="187166"/>
                  <a:pt x="446532" y="206788"/>
                  <a:pt x="434435" y="218885"/>
                </a:cubicBezTo>
                <a:close/>
                <a:moveTo>
                  <a:pt x="590550" y="221456"/>
                </a:moveTo>
                <a:lnTo>
                  <a:pt x="609600" y="221456"/>
                </a:lnTo>
                <a:lnTo>
                  <a:pt x="609600" y="235744"/>
                </a:lnTo>
                <a:lnTo>
                  <a:pt x="590550" y="235744"/>
                </a:lnTo>
                <a:cubicBezTo>
                  <a:pt x="563023" y="235744"/>
                  <a:pt x="540544" y="258127"/>
                  <a:pt x="540544" y="285750"/>
                </a:cubicBezTo>
                <a:lnTo>
                  <a:pt x="540544" y="323850"/>
                </a:lnTo>
                <a:cubicBezTo>
                  <a:pt x="540544" y="351473"/>
                  <a:pt x="563023" y="373856"/>
                  <a:pt x="590550" y="373856"/>
                </a:cubicBezTo>
                <a:lnTo>
                  <a:pt x="609600" y="373856"/>
                </a:lnTo>
                <a:lnTo>
                  <a:pt x="609600" y="388144"/>
                </a:lnTo>
                <a:lnTo>
                  <a:pt x="590550" y="388144"/>
                </a:lnTo>
                <a:cubicBezTo>
                  <a:pt x="555117" y="388144"/>
                  <a:pt x="526256" y="359283"/>
                  <a:pt x="526256" y="323850"/>
                </a:cubicBezTo>
                <a:lnTo>
                  <a:pt x="526256" y="285750"/>
                </a:lnTo>
                <a:cubicBezTo>
                  <a:pt x="526256" y="250317"/>
                  <a:pt x="555117" y="221456"/>
                  <a:pt x="590550" y="221456"/>
                </a:cubicBezTo>
                <a:close/>
                <a:moveTo>
                  <a:pt x="19050" y="388144"/>
                </a:moveTo>
                <a:lnTo>
                  <a:pt x="0" y="388144"/>
                </a:lnTo>
                <a:lnTo>
                  <a:pt x="0" y="373856"/>
                </a:lnTo>
                <a:lnTo>
                  <a:pt x="19050" y="373856"/>
                </a:lnTo>
                <a:cubicBezTo>
                  <a:pt x="46672" y="373856"/>
                  <a:pt x="69056" y="351473"/>
                  <a:pt x="69056" y="323850"/>
                </a:cubicBezTo>
                <a:lnTo>
                  <a:pt x="69056" y="285750"/>
                </a:lnTo>
                <a:cubicBezTo>
                  <a:pt x="69056" y="258127"/>
                  <a:pt x="46672" y="235744"/>
                  <a:pt x="19050" y="235744"/>
                </a:cubicBezTo>
                <a:lnTo>
                  <a:pt x="0" y="235744"/>
                </a:lnTo>
                <a:lnTo>
                  <a:pt x="0" y="221456"/>
                </a:lnTo>
                <a:lnTo>
                  <a:pt x="19050" y="221456"/>
                </a:lnTo>
                <a:cubicBezTo>
                  <a:pt x="54483" y="221456"/>
                  <a:pt x="83344" y="250317"/>
                  <a:pt x="83344" y="285750"/>
                </a:cubicBezTo>
                <a:lnTo>
                  <a:pt x="83344" y="323850"/>
                </a:lnTo>
                <a:cubicBezTo>
                  <a:pt x="83344" y="359283"/>
                  <a:pt x="54483" y="388144"/>
                  <a:pt x="19050" y="388144"/>
                </a:cubicBezTo>
                <a:close/>
                <a:moveTo>
                  <a:pt x="373856" y="609600"/>
                </a:moveTo>
                <a:lnTo>
                  <a:pt x="373856" y="590550"/>
                </a:lnTo>
                <a:cubicBezTo>
                  <a:pt x="373856" y="562928"/>
                  <a:pt x="351377" y="540544"/>
                  <a:pt x="323850" y="540544"/>
                </a:cubicBezTo>
                <a:lnTo>
                  <a:pt x="285750" y="540544"/>
                </a:lnTo>
                <a:cubicBezTo>
                  <a:pt x="258223" y="540544"/>
                  <a:pt x="235744" y="562928"/>
                  <a:pt x="235744" y="590550"/>
                </a:cubicBezTo>
                <a:lnTo>
                  <a:pt x="235744" y="609600"/>
                </a:lnTo>
                <a:lnTo>
                  <a:pt x="221456" y="609600"/>
                </a:lnTo>
                <a:lnTo>
                  <a:pt x="221456" y="590550"/>
                </a:lnTo>
                <a:cubicBezTo>
                  <a:pt x="221456" y="555117"/>
                  <a:pt x="250317" y="526256"/>
                  <a:pt x="285750" y="526256"/>
                </a:cubicBezTo>
                <a:lnTo>
                  <a:pt x="323850" y="526256"/>
                </a:lnTo>
                <a:cubicBezTo>
                  <a:pt x="359283" y="526256"/>
                  <a:pt x="388144" y="555117"/>
                  <a:pt x="388144" y="590550"/>
                </a:cubicBezTo>
                <a:lnTo>
                  <a:pt x="388144" y="609600"/>
                </a:lnTo>
                <a:lnTo>
                  <a:pt x="373856" y="609600"/>
                </a:lnTo>
                <a:close/>
                <a:moveTo>
                  <a:pt x="323850" y="83344"/>
                </a:moveTo>
                <a:lnTo>
                  <a:pt x="285750" y="83344"/>
                </a:lnTo>
                <a:cubicBezTo>
                  <a:pt x="250317" y="83344"/>
                  <a:pt x="221456" y="54483"/>
                  <a:pt x="221456" y="19050"/>
                </a:cubicBezTo>
                <a:lnTo>
                  <a:pt x="221456" y="0"/>
                </a:lnTo>
                <a:lnTo>
                  <a:pt x="235744" y="0"/>
                </a:lnTo>
                <a:lnTo>
                  <a:pt x="235744" y="19050"/>
                </a:lnTo>
                <a:cubicBezTo>
                  <a:pt x="235744" y="46672"/>
                  <a:pt x="258223" y="69056"/>
                  <a:pt x="285750" y="69056"/>
                </a:cubicBezTo>
                <a:lnTo>
                  <a:pt x="323850" y="69056"/>
                </a:lnTo>
                <a:cubicBezTo>
                  <a:pt x="351377" y="69056"/>
                  <a:pt x="373856" y="46672"/>
                  <a:pt x="373856" y="19050"/>
                </a:cubicBezTo>
                <a:lnTo>
                  <a:pt x="373856" y="0"/>
                </a:lnTo>
                <a:lnTo>
                  <a:pt x="388144" y="0"/>
                </a:lnTo>
                <a:lnTo>
                  <a:pt x="388144" y="19050"/>
                </a:lnTo>
                <a:cubicBezTo>
                  <a:pt x="388144" y="54483"/>
                  <a:pt x="359283" y="83344"/>
                  <a:pt x="323850" y="83344"/>
                </a:cubicBezTo>
                <a:close/>
                <a:moveTo>
                  <a:pt x="53912" y="151543"/>
                </a:moveTo>
                <a:cubicBezTo>
                  <a:pt x="73438" y="171069"/>
                  <a:pt x="105156" y="171069"/>
                  <a:pt x="124587" y="151543"/>
                </a:cubicBezTo>
                <a:lnTo>
                  <a:pt x="151543" y="124587"/>
                </a:lnTo>
                <a:cubicBezTo>
                  <a:pt x="160973" y="115157"/>
                  <a:pt x="166211" y="102584"/>
                  <a:pt x="166211" y="89249"/>
                </a:cubicBezTo>
                <a:cubicBezTo>
                  <a:pt x="166211" y="75914"/>
                  <a:pt x="160973" y="63341"/>
                  <a:pt x="151543" y="53912"/>
                </a:cubicBezTo>
                <a:lnTo>
                  <a:pt x="138113" y="40481"/>
                </a:lnTo>
                <a:lnTo>
                  <a:pt x="148209" y="30385"/>
                </a:lnTo>
                <a:lnTo>
                  <a:pt x="161639" y="43815"/>
                </a:lnTo>
                <a:cubicBezTo>
                  <a:pt x="173831" y="55912"/>
                  <a:pt x="180499" y="72104"/>
                  <a:pt x="180499" y="89249"/>
                </a:cubicBezTo>
                <a:cubicBezTo>
                  <a:pt x="180499" y="106394"/>
                  <a:pt x="173831" y="122587"/>
                  <a:pt x="161639" y="134684"/>
                </a:cubicBezTo>
                <a:lnTo>
                  <a:pt x="134684" y="161639"/>
                </a:lnTo>
                <a:cubicBezTo>
                  <a:pt x="122111" y="174212"/>
                  <a:pt x="105728" y="180404"/>
                  <a:pt x="89249" y="180404"/>
                </a:cubicBezTo>
                <a:cubicBezTo>
                  <a:pt x="72771" y="180404"/>
                  <a:pt x="56293" y="174117"/>
                  <a:pt x="43815" y="161639"/>
                </a:cubicBezTo>
                <a:lnTo>
                  <a:pt x="30385" y="148209"/>
                </a:lnTo>
                <a:lnTo>
                  <a:pt x="40481" y="138113"/>
                </a:lnTo>
                <a:lnTo>
                  <a:pt x="53912" y="151543"/>
                </a:lnTo>
                <a:close/>
                <a:moveTo>
                  <a:pt x="458057" y="484918"/>
                </a:moveTo>
                <a:cubicBezTo>
                  <a:pt x="448628" y="494348"/>
                  <a:pt x="443389" y="506921"/>
                  <a:pt x="443389" y="520256"/>
                </a:cubicBezTo>
                <a:cubicBezTo>
                  <a:pt x="443389" y="533590"/>
                  <a:pt x="448628" y="546163"/>
                  <a:pt x="458057" y="555593"/>
                </a:cubicBezTo>
                <a:lnTo>
                  <a:pt x="471488" y="569024"/>
                </a:lnTo>
                <a:lnTo>
                  <a:pt x="461391" y="579120"/>
                </a:lnTo>
                <a:lnTo>
                  <a:pt x="447961" y="565690"/>
                </a:lnTo>
                <a:cubicBezTo>
                  <a:pt x="435769" y="553593"/>
                  <a:pt x="429101" y="537401"/>
                  <a:pt x="429101" y="520256"/>
                </a:cubicBezTo>
                <a:cubicBezTo>
                  <a:pt x="429101" y="503111"/>
                  <a:pt x="435769" y="486918"/>
                  <a:pt x="447961" y="474821"/>
                </a:cubicBezTo>
                <a:lnTo>
                  <a:pt x="474917" y="447866"/>
                </a:lnTo>
                <a:cubicBezTo>
                  <a:pt x="499967" y="422815"/>
                  <a:pt x="540830" y="422815"/>
                  <a:pt x="565880" y="447866"/>
                </a:cubicBezTo>
                <a:lnTo>
                  <a:pt x="579311" y="461296"/>
                </a:lnTo>
                <a:lnTo>
                  <a:pt x="569214" y="471392"/>
                </a:lnTo>
                <a:lnTo>
                  <a:pt x="555784" y="457962"/>
                </a:lnTo>
                <a:cubicBezTo>
                  <a:pt x="536258" y="438436"/>
                  <a:pt x="504539" y="438436"/>
                  <a:pt x="485108" y="457962"/>
                </a:cubicBezTo>
                <a:lnTo>
                  <a:pt x="458153" y="484918"/>
                </a:lnTo>
                <a:close/>
                <a:moveTo>
                  <a:pt x="151638" y="555593"/>
                </a:moveTo>
                <a:cubicBezTo>
                  <a:pt x="161068" y="546163"/>
                  <a:pt x="166306" y="533590"/>
                  <a:pt x="166306" y="520256"/>
                </a:cubicBezTo>
                <a:cubicBezTo>
                  <a:pt x="166306" y="506921"/>
                  <a:pt x="161068" y="494348"/>
                  <a:pt x="151638" y="484918"/>
                </a:cubicBezTo>
                <a:lnTo>
                  <a:pt x="124682" y="457962"/>
                </a:lnTo>
                <a:cubicBezTo>
                  <a:pt x="105156" y="438436"/>
                  <a:pt x="73438" y="438436"/>
                  <a:pt x="54007" y="457962"/>
                </a:cubicBezTo>
                <a:lnTo>
                  <a:pt x="40577" y="471392"/>
                </a:lnTo>
                <a:lnTo>
                  <a:pt x="30480" y="461296"/>
                </a:lnTo>
                <a:lnTo>
                  <a:pt x="43910" y="447866"/>
                </a:lnTo>
                <a:cubicBezTo>
                  <a:pt x="68961" y="422815"/>
                  <a:pt x="109728" y="422815"/>
                  <a:pt x="134874" y="447866"/>
                </a:cubicBezTo>
                <a:lnTo>
                  <a:pt x="161830" y="474821"/>
                </a:lnTo>
                <a:cubicBezTo>
                  <a:pt x="174022" y="486918"/>
                  <a:pt x="180689" y="503111"/>
                  <a:pt x="180689" y="520256"/>
                </a:cubicBezTo>
                <a:cubicBezTo>
                  <a:pt x="180689" y="537401"/>
                  <a:pt x="174022" y="553593"/>
                  <a:pt x="161830" y="565690"/>
                </a:cubicBezTo>
                <a:lnTo>
                  <a:pt x="148400" y="579120"/>
                </a:lnTo>
                <a:lnTo>
                  <a:pt x="138303" y="569024"/>
                </a:lnTo>
                <a:lnTo>
                  <a:pt x="151733" y="555593"/>
                </a:lnTo>
                <a:close/>
                <a:moveTo>
                  <a:pt x="565880" y="161544"/>
                </a:moveTo>
                <a:cubicBezTo>
                  <a:pt x="553307" y="174117"/>
                  <a:pt x="536924" y="180308"/>
                  <a:pt x="520446" y="180308"/>
                </a:cubicBezTo>
                <a:cubicBezTo>
                  <a:pt x="503968" y="180308"/>
                  <a:pt x="487490" y="174022"/>
                  <a:pt x="475012" y="161544"/>
                </a:cubicBezTo>
                <a:lnTo>
                  <a:pt x="448056" y="134588"/>
                </a:lnTo>
                <a:cubicBezTo>
                  <a:pt x="435864" y="122492"/>
                  <a:pt x="429197" y="106299"/>
                  <a:pt x="429197" y="89154"/>
                </a:cubicBezTo>
                <a:cubicBezTo>
                  <a:pt x="429197" y="72009"/>
                  <a:pt x="435864" y="55816"/>
                  <a:pt x="448056" y="43720"/>
                </a:cubicBezTo>
                <a:lnTo>
                  <a:pt x="461486" y="30290"/>
                </a:lnTo>
                <a:lnTo>
                  <a:pt x="471583" y="40386"/>
                </a:lnTo>
                <a:lnTo>
                  <a:pt x="458153" y="53816"/>
                </a:lnTo>
                <a:cubicBezTo>
                  <a:pt x="448723" y="63246"/>
                  <a:pt x="443484" y="75819"/>
                  <a:pt x="443484" y="89154"/>
                </a:cubicBezTo>
                <a:cubicBezTo>
                  <a:pt x="443484" y="102489"/>
                  <a:pt x="448723" y="115062"/>
                  <a:pt x="458153" y="124492"/>
                </a:cubicBezTo>
                <a:lnTo>
                  <a:pt x="485108" y="151448"/>
                </a:lnTo>
                <a:cubicBezTo>
                  <a:pt x="494538" y="160877"/>
                  <a:pt x="507111" y="166116"/>
                  <a:pt x="520446" y="166116"/>
                </a:cubicBezTo>
                <a:cubicBezTo>
                  <a:pt x="533781" y="166116"/>
                  <a:pt x="546354" y="160877"/>
                  <a:pt x="555784" y="151448"/>
                </a:cubicBezTo>
                <a:lnTo>
                  <a:pt x="569214" y="138017"/>
                </a:lnTo>
                <a:lnTo>
                  <a:pt x="579311" y="148114"/>
                </a:lnTo>
                <a:lnTo>
                  <a:pt x="565880" y="161544"/>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sp>
        <p:nvSpPr>
          <p:cNvPr id="11" name="TextBox 10">
            <a:extLst>
              <a:ext uri="{FF2B5EF4-FFF2-40B4-BE49-F238E27FC236}">
                <a16:creationId xmlns:a16="http://schemas.microsoft.com/office/drawing/2014/main" id="{4BBCA942-C043-29BF-CFBF-0854C6359C68}"/>
              </a:ext>
            </a:extLst>
          </p:cNvPr>
          <p:cNvSpPr txBox="1"/>
          <p:nvPr/>
        </p:nvSpPr>
        <p:spPr>
          <a:xfrm>
            <a:off x="4721931" y="3555981"/>
            <a:ext cx="2748138" cy="307777"/>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2000" dirty="0">
                <a:latin typeface="Inter" panose="02000503000000020004" pitchFamily="2" charset="0"/>
                <a:ea typeface="ＭＳ Ｐゴシック" charset="0"/>
              </a:rPr>
              <a:t>Takeaway #2</a:t>
            </a:r>
            <a:endParaRPr lang="en-US" sz="2000" kern="1200" dirty="0">
              <a:latin typeface="Inter" panose="02000503000000020004" pitchFamily="2" charset="0"/>
              <a:ea typeface="ＭＳ Ｐゴシック" charset="0"/>
            </a:endParaRPr>
          </a:p>
        </p:txBody>
      </p:sp>
      <p:sp>
        <p:nvSpPr>
          <p:cNvPr id="10" name="TextBox 9">
            <a:extLst>
              <a:ext uri="{FF2B5EF4-FFF2-40B4-BE49-F238E27FC236}">
                <a16:creationId xmlns:a16="http://schemas.microsoft.com/office/drawing/2014/main" id="{B35EBD9B-40CF-023B-A2BA-8F26342F8C43}"/>
              </a:ext>
            </a:extLst>
          </p:cNvPr>
          <p:cNvSpPr txBox="1"/>
          <p:nvPr/>
        </p:nvSpPr>
        <p:spPr>
          <a:xfrm>
            <a:off x="4721932" y="4022052"/>
            <a:ext cx="2748137" cy="2108269"/>
          </a:xfrm>
          <a:prstGeom prst="rect">
            <a:avLst/>
          </a:prstGeom>
          <a:noFill/>
        </p:spPr>
        <p:txBody>
          <a:bodyPr wrap="square" lIns="0" tIns="0" rIns="0" bIns="0" rtlCol="0">
            <a:spAutoFit/>
          </a:bodyPr>
          <a:lstStyle/>
          <a:p>
            <a:pPr marL="285750" indent="-285750" defTabSz="912276" fontAlgn="base">
              <a:spcAft>
                <a:spcPts val="1000"/>
              </a:spcAft>
              <a:buClr>
                <a:schemeClr val="bg1"/>
              </a:buClr>
              <a:buSzPct val="100000"/>
              <a:buFont typeface="Arial" panose="020B0604020202020204" pitchFamily="34" charset="0"/>
              <a:buChar char="•"/>
            </a:pPr>
            <a:r>
              <a:rPr lang="en-US" sz="1600" dirty="0">
                <a:latin typeface="Inter" panose="02000503000000020004" pitchFamily="2" charset="0"/>
                <a:ea typeface="ＭＳ Ｐゴシック" charset="0"/>
              </a:rPr>
              <a:t>Continuous Coverage</a:t>
            </a:r>
          </a:p>
          <a:p>
            <a:pPr marL="285750" indent="-285750" defTabSz="912276" fontAlgn="base">
              <a:spcAft>
                <a:spcPts val="1000"/>
              </a:spcAft>
              <a:buClr>
                <a:schemeClr val="bg1"/>
              </a:buClr>
              <a:buSzPct val="100000"/>
              <a:buFont typeface="Arial" panose="020B0604020202020204" pitchFamily="34" charset="0"/>
              <a:buChar char="•"/>
            </a:pPr>
            <a:r>
              <a:rPr lang="en-US" sz="1600" dirty="0">
                <a:latin typeface="Inter" panose="02000503000000020004" pitchFamily="2" charset="0"/>
                <a:ea typeface="ＭＳ Ｐゴシック" charset="0"/>
              </a:rPr>
              <a:t>CAF Principle A3 (Asset Management)</a:t>
            </a:r>
          </a:p>
          <a:p>
            <a:pPr marL="285750" indent="-285750" defTabSz="912276" fontAlgn="base">
              <a:spcAft>
                <a:spcPts val="1000"/>
              </a:spcAft>
              <a:buClr>
                <a:schemeClr val="bg1"/>
              </a:buClr>
              <a:buSzPct val="100000"/>
              <a:buFont typeface="Arial" panose="020B0604020202020204" pitchFamily="34" charset="0"/>
              <a:buChar char="•"/>
            </a:pPr>
            <a:r>
              <a:rPr lang="en-US" sz="1600" dirty="0">
                <a:latin typeface="Inter" panose="02000503000000020004" pitchFamily="2" charset="0"/>
                <a:ea typeface="ＭＳ Ｐゴシック" charset="0"/>
              </a:rPr>
              <a:t>NIST CSF ID.AM</a:t>
            </a:r>
          </a:p>
          <a:p>
            <a:pPr defTabSz="912276" fontAlgn="base">
              <a:spcAft>
                <a:spcPts val="1000"/>
              </a:spcAft>
              <a:buClr>
                <a:schemeClr val="bg1"/>
              </a:buClr>
              <a:buSzPct val="100000"/>
            </a:pPr>
            <a:r>
              <a:rPr lang="en-US" sz="1600" dirty="0">
                <a:latin typeface="Inter" panose="02000503000000020004" pitchFamily="2" charset="0"/>
                <a:ea typeface="ＭＳ Ｐゴシック" charset="0"/>
              </a:rPr>
              <a:t>Auditable KPIs of real time data, no longer using point in time spreadsheets</a:t>
            </a:r>
            <a:endParaRPr lang="en-US" sz="1600" kern="1200" dirty="0">
              <a:latin typeface="Inter" panose="02000503000000020004" pitchFamily="2" charset="0"/>
              <a:ea typeface="ＭＳ Ｐゴシック" charset="0"/>
            </a:endParaRPr>
          </a:p>
        </p:txBody>
      </p:sp>
      <p:sp>
        <p:nvSpPr>
          <p:cNvPr id="30" name="Freeform 238" descr="Icon of a magnifying glass zooming in on a pie chart representing &quot;data driven insights&quot;">
            <a:extLst>
              <a:ext uri="{FF2B5EF4-FFF2-40B4-BE49-F238E27FC236}">
                <a16:creationId xmlns:a16="http://schemas.microsoft.com/office/drawing/2014/main" id="{2BCA5595-38B3-1949-066A-5F62AC6A1C99}"/>
              </a:ext>
            </a:extLst>
          </p:cNvPr>
          <p:cNvSpPr>
            <a:spLocks noChangeAspect="1"/>
          </p:cNvSpPr>
          <p:nvPr/>
        </p:nvSpPr>
        <p:spPr>
          <a:xfrm>
            <a:off x="8140701" y="2903975"/>
            <a:ext cx="457200" cy="457200"/>
          </a:xfrm>
          <a:custGeom>
            <a:avLst/>
            <a:gdLst>
              <a:gd name="connsiteX0" fmla="*/ 235625 w 583572"/>
              <a:gd name="connsiteY0" fmla="*/ 471178 h 583572"/>
              <a:gd name="connsiteX1" fmla="*/ 396978 w 583572"/>
              <a:gd name="connsiteY1" fmla="*/ 407075 h 583572"/>
              <a:gd name="connsiteX2" fmla="*/ 573476 w 583572"/>
              <a:gd name="connsiteY2" fmla="*/ 583573 h 583572"/>
              <a:gd name="connsiteX3" fmla="*/ 583573 w 583572"/>
              <a:gd name="connsiteY3" fmla="*/ 573476 h 583572"/>
              <a:gd name="connsiteX4" fmla="*/ 407075 w 583572"/>
              <a:gd name="connsiteY4" fmla="*/ 396978 h 583572"/>
              <a:gd name="connsiteX5" fmla="*/ 402312 w 583572"/>
              <a:gd name="connsiteY5" fmla="*/ 68937 h 583572"/>
              <a:gd name="connsiteX6" fmla="*/ 68937 w 583572"/>
              <a:gd name="connsiteY6" fmla="*/ 68937 h 583572"/>
              <a:gd name="connsiteX7" fmla="*/ 68937 w 583572"/>
              <a:gd name="connsiteY7" fmla="*/ 402312 h 583572"/>
              <a:gd name="connsiteX8" fmla="*/ 235625 w 583572"/>
              <a:gd name="connsiteY8" fmla="*/ 471273 h 583572"/>
              <a:gd name="connsiteX9" fmla="*/ 79034 w 583572"/>
              <a:gd name="connsiteY9" fmla="*/ 78938 h 583572"/>
              <a:gd name="connsiteX10" fmla="*/ 235625 w 583572"/>
              <a:gd name="connsiteY10" fmla="*/ 14168 h 583572"/>
              <a:gd name="connsiteX11" fmla="*/ 392216 w 583572"/>
              <a:gd name="connsiteY11" fmla="*/ 78938 h 583572"/>
              <a:gd name="connsiteX12" fmla="*/ 392216 w 583572"/>
              <a:gd name="connsiteY12" fmla="*/ 392120 h 583572"/>
              <a:gd name="connsiteX13" fmla="*/ 79034 w 583572"/>
              <a:gd name="connsiteY13" fmla="*/ 392120 h 583572"/>
              <a:gd name="connsiteX14" fmla="*/ 79034 w 583572"/>
              <a:gd name="connsiteY14" fmla="*/ 78938 h 583572"/>
              <a:gd name="connsiteX15" fmla="*/ 136279 w 583572"/>
              <a:gd name="connsiteY15" fmla="*/ 334875 h 583572"/>
              <a:gd name="connsiteX16" fmla="*/ 136565 w 583572"/>
              <a:gd name="connsiteY16" fmla="*/ 335066 h 583572"/>
              <a:gd name="connsiteX17" fmla="*/ 235625 w 583572"/>
              <a:gd name="connsiteY17" fmla="*/ 376023 h 583572"/>
              <a:gd name="connsiteX18" fmla="*/ 376118 w 583572"/>
              <a:gd name="connsiteY18" fmla="*/ 235529 h 583572"/>
              <a:gd name="connsiteX19" fmla="*/ 235625 w 583572"/>
              <a:gd name="connsiteY19" fmla="*/ 95036 h 583572"/>
              <a:gd name="connsiteX20" fmla="*/ 95131 w 583572"/>
              <a:gd name="connsiteY20" fmla="*/ 235529 h 583572"/>
              <a:gd name="connsiteX21" fmla="*/ 136088 w 583572"/>
              <a:gd name="connsiteY21" fmla="*/ 334589 h 583572"/>
              <a:gd name="connsiteX22" fmla="*/ 136279 w 583572"/>
              <a:gd name="connsiteY22" fmla="*/ 334875 h 583572"/>
              <a:gd name="connsiteX23" fmla="*/ 240673 w 583572"/>
              <a:gd name="connsiteY23" fmla="*/ 240578 h 583572"/>
              <a:gd name="connsiteX24" fmla="*/ 240673 w 583572"/>
              <a:gd name="connsiteY24" fmla="*/ 240578 h 583572"/>
              <a:gd name="connsiteX25" fmla="*/ 240673 w 583572"/>
              <a:gd name="connsiteY25" fmla="*/ 240578 h 583572"/>
              <a:gd name="connsiteX26" fmla="*/ 240673 w 583572"/>
              <a:gd name="connsiteY26" fmla="*/ 240578 h 583572"/>
              <a:gd name="connsiteX27" fmla="*/ 240673 w 583572"/>
              <a:gd name="connsiteY27" fmla="*/ 240578 h 583572"/>
              <a:gd name="connsiteX28" fmla="*/ 240673 w 583572"/>
              <a:gd name="connsiteY28" fmla="*/ 240578 h 583572"/>
              <a:gd name="connsiteX29" fmla="*/ 242483 w 583572"/>
              <a:gd name="connsiteY29" fmla="*/ 237149 h 583572"/>
              <a:gd name="connsiteX30" fmla="*/ 242483 w 583572"/>
              <a:gd name="connsiteY30" fmla="*/ 237149 h 583572"/>
              <a:gd name="connsiteX31" fmla="*/ 242483 w 583572"/>
              <a:gd name="connsiteY31" fmla="*/ 237149 h 583572"/>
              <a:gd name="connsiteX32" fmla="*/ 242483 w 583572"/>
              <a:gd name="connsiteY32" fmla="*/ 237149 h 583572"/>
              <a:gd name="connsiteX33" fmla="*/ 242483 w 583572"/>
              <a:gd name="connsiteY33" fmla="*/ 237149 h 583572"/>
              <a:gd name="connsiteX34" fmla="*/ 242483 w 583572"/>
              <a:gd name="connsiteY34" fmla="*/ 237149 h 583572"/>
              <a:gd name="connsiteX35" fmla="*/ 242483 w 583572"/>
              <a:gd name="connsiteY35" fmla="*/ 237149 h 583572"/>
              <a:gd name="connsiteX36" fmla="*/ 242483 w 583572"/>
              <a:gd name="connsiteY36" fmla="*/ 237149 h 583572"/>
              <a:gd name="connsiteX37" fmla="*/ 242483 w 583572"/>
              <a:gd name="connsiteY37" fmla="*/ 237149 h 583572"/>
              <a:gd name="connsiteX38" fmla="*/ 242483 w 583572"/>
              <a:gd name="connsiteY38" fmla="*/ 237149 h 583572"/>
              <a:gd name="connsiteX39" fmla="*/ 242483 w 583572"/>
              <a:gd name="connsiteY39" fmla="*/ 237149 h 583572"/>
              <a:gd name="connsiteX40" fmla="*/ 242483 w 583572"/>
              <a:gd name="connsiteY40" fmla="*/ 237149 h 583572"/>
              <a:gd name="connsiteX41" fmla="*/ 242483 w 583572"/>
              <a:gd name="connsiteY41" fmla="*/ 237149 h 583572"/>
              <a:gd name="connsiteX42" fmla="*/ 242483 w 583572"/>
              <a:gd name="connsiteY42" fmla="*/ 237149 h 583572"/>
              <a:gd name="connsiteX43" fmla="*/ 242483 w 583572"/>
              <a:gd name="connsiteY43" fmla="*/ 237149 h 583572"/>
              <a:gd name="connsiteX44" fmla="*/ 242483 w 583572"/>
              <a:gd name="connsiteY44" fmla="*/ 237149 h 583572"/>
              <a:gd name="connsiteX45" fmla="*/ 242483 w 583572"/>
              <a:gd name="connsiteY45" fmla="*/ 237149 h 583572"/>
              <a:gd name="connsiteX46" fmla="*/ 242483 w 583572"/>
              <a:gd name="connsiteY46" fmla="*/ 237149 h 583572"/>
              <a:gd name="connsiteX47" fmla="*/ 242483 w 583572"/>
              <a:gd name="connsiteY47" fmla="*/ 237149 h 583572"/>
              <a:gd name="connsiteX48" fmla="*/ 242483 w 583572"/>
              <a:gd name="connsiteY48" fmla="*/ 237149 h 583572"/>
              <a:gd name="connsiteX49" fmla="*/ 242483 w 583572"/>
              <a:gd name="connsiteY49" fmla="*/ 237149 h 583572"/>
              <a:gd name="connsiteX50" fmla="*/ 242483 w 583572"/>
              <a:gd name="connsiteY50" fmla="*/ 237149 h 583572"/>
              <a:gd name="connsiteX51" fmla="*/ 242483 w 583572"/>
              <a:gd name="connsiteY51" fmla="*/ 237149 h 583572"/>
              <a:gd name="connsiteX52" fmla="*/ 242483 w 583572"/>
              <a:gd name="connsiteY52" fmla="*/ 237149 h 583572"/>
              <a:gd name="connsiteX53" fmla="*/ 242483 w 583572"/>
              <a:gd name="connsiteY53" fmla="*/ 237149 h 583572"/>
              <a:gd name="connsiteX54" fmla="*/ 242483 w 583572"/>
              <a:gd name="connsiteY54" fmla="*/ 237149 h 583572"/>
              <a:gd name="connsiteX55" fmla="*/ 242483 w 583572"/>
              <a:gd name="connsiteY55" fmla="*/ 235910 h 583572"/>
              <a:gd name="connsiteX56" fmla="*/ 242483 w 583572"/>
              <a:gd name="connsiteY56" fmla="*/ 110085 h 583572"/>
              <a:gd name="connsiteX57" fmla="*/ 361545 w 583572"/>
              <a:gd name="connsiteY57" fmla="*/ 235910 h 583572"/>
              <a:gd name="connsiteX58" fmla="*/ 235339 w 583572"/>
              <a:gd name="connsiteY58" fmla="*/ 362117 h 583572"/>
              <a:gd name="connsiteX59" fmla="*/ 151424 w 583572"/>
              <a:gd name="connsiteY59" fmla="*/ 329922 h 583572"/>
              <a:gd name="connsiteX60" fmla="*/ 240387 w 583572"/>
              <a:gd name="connsiteY60" fmla="*/ 240959 h 583572"/>
              <a:gd name="connsiteX61" fmla="*/ 228481 w 583572"/>
              <a:gd name="connsiteY61" fmla="*/ 109704 h 583572"/>
              <a:gd name="connsiteX62" fmla="*/ 228481 w 583572"/>
              <a:gd name="connsiteY62" fmla="*/ 228386 h 583572"/>
              <a:gd name="connsiteX63" fmla="*/ 109799 w 583572"/>
              <a:gd name="connsiteY63" fmla="*/ 228386 h 583572"/>
              <a:gd name="connsiteX64" fmla="*/ 228481 w 583572"/>
              <a:gd name="connsiteY64" fmla="*/ 109704 h 583572"/>
              <a:gd name="connsiteX65" fmla="*/ 218384 w 583572"/>
              <a:gd name="connsiteY65" fmla="*/ 242673 h 583572"/>
              <a:gd name="connsiteX66" fmla="*/ 141613 w 583572"/>
              <a:gd name="connsiteY66" fmla="*/ 319445 h 583572"/>
              <a:gd name="connsiteX67" fmla="*/ 109799 w 583572"/>
              <a:gd name="connsiteY67" fmla="*/ 242673 h 583572"/>
              <a:gd name="connsiteX68" fmla="*/ 218384 w 583572"/>
              <a:gd name="connsiteY68" fmla="*/ 242673 h 583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83572" h="583572">
                <a:moveTo>
                  <a:pt x="235625" y="471178"/>
                </a:moveTo>
                <a:cubicBezTo>
                  <a:pt x="293727" y="471178"/>
                  <a:pt x="351734" y="449651"/>
                  <a:pt x="396978" y="407075"/>
                </a:cubicBezTo>
                <a:lnTo>
                  <a:pt x="573476" y="583573"/>
                </a:lnTo>
                <a:lnTo>
                  <a:pt x="583573" y="573476"/>
                </a:lnTo>
                <a:lnTo>
                  <a:pt x="407075" y="396978"/>
                </a:lnTo>
                <a:cubicBezTo>
                  <a:pt x="493943" y="304681"/>
                  <a:pt x="492514" y="159139"/>
                  <a:pt x="402312" y="68937"/>
                </a:cubicBezTo>
                <a:cubicBezTo>
                  <a:pt x="310396" y="-22979"/>
                  <a:pt x="160853" y="-22979"/>
                  <a:pt x="68937" y="68937"/>
                </a:cubicBezTo>
                <a:cubicBezTo>
                  <a:pt x="-22979" y="160853"/>
                  <a:pt x="-22979" y="310396"/>
                  <a:pt x="68937" y="402312"/>
                </a:cubicBezTo>
                <a:cubicBezTo>
                  <a:pt x="114943" y="448318"/>
                  <a:pt x="175236" y="471273"/>
                  <a:pt x="235625" y="471273"/>
                </a:cubicBezTo>
                <a:close/>
                <a:moveTo>
                  <a:pt x="79034" y="78938"/>
                </a:moveTo>
                <a:cubicBezTo>
                  <a:pt x="122182" y="35790"/>
                  <a:pt x="178951" y="14168"/>
                  <a:pt x="235625" y="14168"/>
                </a:cubicBezTo>
                <a:cubicBezTo>
                  <a:pt x="292298" y="14168"/>
                  <a:pt x="349067" y="35790"/>
                  <a:pt x="392216" y="78938"/>
                </a:cubicBezTo>
                <a:cubicBezTo>
                  <a:pt x="478607" y="165330"/>
                  <a:pt x="478607" y="305824"/>
                  <a:pt x="392216" y="392120"/>
                </a:cubicBezTo>
                <a:cubicBezTo>
                  <a:pt x="305824" y="478417"/>
                  <a:pt x="165330" y="478512"/>
                  <a:pt x="79034" y="392120"/>
                </a:cubicBezTo>
                <a:cubicBezTo>
                  <a:pt x="-7263" y="305729"/>
                  <a:pt x="-7358" y="165235"/>
                  <a:pt x="79034" y="78938"/>
                </a:cubicBezTo>
                <a:close/>
                <a:moveTo>
                  <a:pt x="136279" y="334875"/>
                </a:moveTo>
                <a:cubicBezTo>
                  <a:pt x="136279" y="334875"/>
                  <a:pt x="136469" y="334875"/>
                  <a:pt x="136565" y="335066"/>
                </a:cubicBezTo>
                <a:cubicBezTo>
                  <a:pt x="161996" y="360402"/>
                  <a:pt x="197048" y="376023"/>
                  <a:pt x="235625" y="376023"/>
                </a:cubicBezTo>
                <a:cubicBezTo>
                  <a:pt x="313063" y="376023"/>
                  <a:pt x="376118" y="312968"/>
                  <a:pt x="376118" y="235529"/>
                </a:cubicBezTo>
                <a:cubicBezTo>
                  <a:pt x="376118" y="158091"/>
                  <a:pt x="313063" y="95036"/>
                  <a:pt x="235625" y="95036"/>
                </a:cubicBezTo>
                <a:cubicBezTo>
                  <a:pt x="158186" y="95036"/>
                  <a:pt x="95131" y="158091"/>
                  <a:pt x="95131" y="235529"/>
                </a:cubicBezTo>
                <a:cubicBezTo>
                  <a:pt x="95131" y="274201"/>
                  <a:pt x="110847" y="309158"/>
                  <a:pt x="136088" y="334589"/>
                </a:cubicBezTo>
                <a:cubicBezTo>
                  <a:pt x="136088" y="334589"/>
                  <a:pt x="136088" y="334780"/>
                  <a:pt x="136279" y="334875"/>
                </a:cubicBezTo>
                <a:close/>
                <a:moveTo>
                  <a:pt x="240673" y="240578"/>
                </a:moveTo>
                <a:lnTo>
                  <a:pt x="240673" y="240578"/>
                </a:lnTo>
                <a:cubicBezTo>
                  <a:pt x="240673" y="240578"/>
                  <a:pt x="240673" y="240578"/>
                  <a:pt x="240673" y="240578"/>
                </a:cubicBezTo>
                <a:cubicBezTo>
                  <a:pt x="240673" y="240578"/>
                  <a:pt x="240673" y="240578"/>
                  <a:pt x="240673" y="240578"/>
                </a:cubicBezTo>
                <a:cubicBezTo>
                  <a:pt x="240673" y="240578"/>
                  <a:pt x="240673" y="240578"/>
                  <a:pt x="240673" y="240578"/>
                </a:cubicBezTo>
                <a:lnTo>
                  <a:pt x="240673" y="240578"/>
                </a:lnTo>
                <a:cubicBezTo>
                  <a:pt x="241625" y="239625"/>
                  <a:pt x="242197" y="238387"/>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cubicBezTo>
                  <a:pt x="242483" y="237149"/>
                  <a:pt x="242483" y="237149"/>
                  <a:pt x="242483" y="237149"/>
                </a:cubicBez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lnTo>
                  <a:pt x="242483" y="237149"/>
                </a:lnTo>
                <a:cubicBezTo>
                  <a:pt x="242483" y="237149"/>
                  <a:pt x="242483" y="237149"/>
                  <a:pt x="242483" y="237149"/>
                </a:cubicBezTo>
                <a:lnTo>
                  <a:pt x="242483" y="237149"/>
                </a:lnTo>
                <a:cubicBezTo>
                  <a:pt x="242483" y="237149"/>
                  <a:pt x="242578" y="236291"/>
                  <a:pt x="242483" y="235910"/>
                </a:cubicBezTo>
                <a:lnTo>
                  <a:pt x="242483" y="110085"/>
                </a:lnTo>
                <a:cubicBezTo>
                  <a:pt x="308777" y="113800"/>
                  <a:pt x="361545" y="168759"/>
                  <a:pt x="361545" y="235910"/>
                </a:cubicBezTo>
                <a:cubicBezTo>
                  <a:pt x="361545" y="303062"/>
                  <a:pt x="304967" y="362117"/>
                  <a:pt x="235339" y="362117"/>
                </a:cubicBezTo>
                <a:cubicBezTo>
                  <a:pt x="203144" y="362117"/>
                  <a:pt x="173712" y="349829"/>
                  <a:pt x="151424" y="329922"/>
                </a:cubicBezTo>
                <a:lnTo>
                  <a:pt x="240387" y="240959"/>
                </a:lnTo>
                <a:close/>
                <a:moveTo>
                  <a:pt x="228481" y="109704"/>
                </a:moveTo>
                <a:lnTo>
                  <a:pt x="228481" y="228386"/>
                </a:lnTo>
                <a:lnTo>
                  <a:pt x="109799" y="228386"/>
                </a:lnTo>
                <a:cubicBezTo>
                  <a:pt x="113419" y="164473"/>
                  <a:pt x="164663" y="113324"/>
                  <a:pt x="228481" y="109704"/>
                </a:cubicBezTo>
                <a:close/>
                <a:moveTo>
                  <a:pt x="218384" y="242673"/>
                </a:moveTo>
                <a:lnTo>
                  <a:pt x="141613" y="319445"/>
                </a:lnTo>
                <a:cubicBezTo>
                  <a:pt x="123134" y="298775"/>
                  <a:pt x="111419" y="272105"/>
                  <a:pt x="109799" y="242673"/>
                </a:cubicBezTo>
                <a:lnTo>
                  <a:pt x="218384" y="242673"/>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sp>
        <p:nvSpPr>
          <p:cNvPr id="15" name="TextBox 14">
            <a:extLst>
              <a:ext uri="{FF2B5EF4-FFF2-40B4-BE49-F238E27FC236}">
                <a16:creationId xmlns:a16="http://schemas.microsoft.com/office/drawing/2014/main" id="{051BEC28-AC89-8E56-78EE-96E61CD7995C}"/>
              </a:ext>
            </a:extLst>
          </p:cNvPr>
          <p:cNvSpPr txBox="1"/>
          <p:nvPr/>
        </p:nvSpPr>
        <p:spPr>
          <a:xfrm>
            <a:off x="8138317" y="3555981"/>
            <a:ext cx="2750347" cy="307777"/>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2000" dirty="0">
                <a:latin typeface="Inter" panose="02000503000000020004" pitchFamily="2" charset="0"/>
                <a:ea typeface="ＭＳ Ｐゴシック" charset="0"/>
              </a:rPr>
              <a:t>Takeaway #3</a:t>
            </a:r>
          </a:p>
        </p:txBody>
      </p:sp>
      <p:sp>
        <p:nvSpPr>
          <p:cNvPr id="14" name="TextBox 13">
            <a:extLst>
              <a:ext uri="{FF2B5EF4-FFF2-40B4-BE49-F238E27FC236}">
                <a16:creationId xmlns:a16="http://schemas.microsoft.com/office/drawing/2014/main" id="{C6AF373E-1D01-4F39-FD0F-B11F3816FD1F}"/>
              </a:ext>
            </a:extLst>
          </p:cNvPr>
          <p:cNvSpPr txBox="1"/>
          <p:nvPr/>
        </p:nvSpPr>
        <p:spPr>
          <a:xfrm>
            <a:off x="8138316" y="4022052"/>
            <a:ext cx="2750347" cy="1862048"/>
          </a:xfrm>
          <a:prstGeom prst="rect">
            <a:avLst/>
          </a:prstGeom>
          <a:noFill/>
        </p:spPr>
        <p:txBody>
          <a:bodyPr wrap="square" lIns="0" tIns="0" rIns="0" bIns="0" rtlCol="0">
            <a:spAutoFit/>
          </a:bodyPr>
          <a:lstStyle/>
          <a:p>
            <a:pPr marL="285750" indent="-285750" defTabSz="912276" fontAlgn="base">
              <a:spcAft>
                <a:spcPts val="1000"/>
              </a:spcAft>
              <a:buClr>
                <a:schemeClr val="bg1"/>
              </a:buClr>
              <a:buSzPct val="100000"/>
              <a:buFont typeface="Arial" panose="020B0604020202020204" pitchFamily="34" charset="0"/>
              <a:buChar char="•"/>
            </a:pPr>
            <a:r>
              <a:rPr lang="en-US" sz="1600" dirty="0">
                <a:latin typeface="Inter" panose="02000503000000020004" pitchFamily="2" charset="0"/>
                <a:ea typeface="ＭＳ Ｐゴシック" charset="0"/>
              </a:rPr>
              <a:t>Rogue Asset Detection</a:t>
            </a:r>
          </a:p>
          <a:p>
            <a:pPr marL="285750" indent="-285750" defTabSz="912276" fontAlgn="base">
              <a:spcAft>
                <a:spcPts val="1000"/>
              </a:spcAft>
              <a:buClr>
                <a:schemeClr val="bg1"/>
              </a:buClr>
              <a:buSzPct val="100000"/>
              <a:buFont typeface="Arial" panose="020B0604020202020204" pitchFamily="34" charset="0"/>
              <a:buChar char="•"/>
            </a:pPr>
            <a:r>
              <a:rPr lang="en-US" sz="1600" dirty="0">
                <a:latin typeface="Inter" panose="02000503000000020004" pitchFamily="2" charset="0"/>
                <a:ea typeface="ＭＳ Ｐゴシック" charset="0"/>
              </a:rPr>
              <a:t>Automatic Ticket Creation</a:t>
            </a:r>
          </a:p>
          <a:p>
            <a:pPr marL="285750" indent="-285750" defTabSz="912276" fontAlgn="base">
              <a:spcAft>
                <a:spcPts val="1000"/>
              </a:spcAft>
              <a:buClr>
                <a:schemeClr val="bg1"/>
              </a:buClr>
              <a:buSzPct val="100000"/>
              <a:buFont typeface="Arial" panose="020B0604020202020204" pitchFamily="34" charset="0"/>
              <a:buChar char="•"/>
            </a:pPr>
            <a:r>
              <a:rPr lang="en-US" sz="1600" dirty="0">
                <a:latin typeface="Inter" panose="02000503000000020004" pitchFamily="2" charset="0"/>
                <a:ea typeface="ＭＳ Ｐゴシック" charset="0"/>
              </a:rPr>
              <a:t>Dynamic Risk re-scoring</a:t>
            </a:r>
          </a:p>
          <a:p>
            <a:pPr defTabSz="912276" fontAlgn="base">
              <a:spcAft>
                <a:spcPts val="1000"/>
              </a:spcAft>
              <a:buClr>
                <a:schemeClr val="bg1"/>
              </a:buClr>
              <a:buSzPct val="100000"/>
            </a:pPr>
            <a:r>
              <a:rPr lang="en-US" sz="1600" dirty="0">
                <a:latin typeface="Inter" panose="02000503000000020004" pitchFamily="2" charset="0"/>
                <a:ea typeface="ＭＳ Ｐゴシック" charset="0"/>
              </a:rPr>
              <a:t>Compliance Report is a live trigger,  not a PDF</a:t>
            </a:r>
          </a:p>
        </p:txBody>
      </p:sp>
      <p:sp>
        <p:nvSpPr>
          <p:cNvPr id="2" name="Title 2">
            <a:extLst>
              <a:ext uri="{FF2B5EF4-FFF2-40B4-BE49-F238E27FC236}">
                <a16:creationId xmlns:a16="http://schemas.microsoft.com/office/drawing/2014/main" id="{047E0661-414C-9025-FE34-C89CEB49BEA2}"/>
              </a:ext>
            </a:extLst>
          </p:cNvPr>
          <p:cNvSpPr txBox="1">
            <a:spLocks/>
          </p:cNvSpPr>
          <p:nvPr/>
        </p:nvSpPr>
        <p:spPr>
          <a:xfrm>
            <a:off x="1308232" y="1232145"/>
            <a:ext cx="9664568" cy="941139"/>
          </a:xfrm>
          <a:prstGeom prst="rect">
            <a:avLst/>
          </a:prstGeom>
          <a:noFill/>
        </p:spPr>
        <p:txBody>
          <a:bodyPr vert="horz" lIns="0" tIns="0" rIns="0" bIns="0" rtlCol="0" anchor="t">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a:solidFill>
                  <a:schemeClr val="tx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r>
              <a:rPr lang="en-GB" dirty="0"/>
              <a:t>You don't need a CMDB: you need continuous, correlated identity.</a:t>
            </a:r>
          </a:p>
        </p:txBody>
      </p:sp>
    </p:spTree>
    <p:extLst>
      <p:ext uri="{BB962C8B-B14F-4D97-AF65-F5344CB8AC3E}">
        <p14:creationId xmlns:p14="http://schemas.microsoft.com/office/powerpoint/2010/main" val="2466290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50968-3B02-1B70-15C7-A7CB95034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36160-6EF8-5713-32DA-0B9D7A0FEAAC}"/>
              </a:ext>
            </a:extLst>
          </p:cNvPr>
          <p:cNvSpPr>
            <a:spLocks noGrp="1"/>
          </p:cNvSpPr>
          <p:nvPr>
            <p:ph type="title"/>
          </p:nvPr>
        </p:nvSpPr>
        <p:spPr>
          <a:xfrm>
            <a:off x="5746750" y="1631745"/>
            <a:ext cx="5878513" cy="1554163"/>
          </a:xfrm>
        </p:spPr>
        <p:txBody>
          <a:bodyPr/>
          <a:lstStyle/>
          <a:p>
            <a:r>
              <a:rPr lang="en-US" sz="2800" dirty="0"/>
              <a:t>From Zero to Agentic: </a:t>
            </a:r>
            <a:br>
              <a:rPr lang="en-US" sz="2800" dirty="0"/>
            </a:br>
            <a:r>
              <a:rPr lang="en-US" sz="2800" dirty="0"/>
              <a:t>Building Your First AI-Driven Threat Investigation in Splunk Enterprise Security</a:t>
            </a:r>
          </a:p>
        </p:txBody>
      </p:sp>
      <p:sp>
        <p:nvSpPr>
          <p:cNvPr id="3" name="Text Placeholder 2">
            <a:extLst>
              <a:ext uri="{FF2B5EF4-FFF2-40B4-BE49-F238E27FC236}">
                <a16:creationId xmlns:a16="http://schemas.microsoft.com/office/drawing/2014/main" id="{B66B97A0-A2DF-87CB-F34A-7634E0C11C55}"/>
              </a:ext>
            </a:extLst>
          </p:cNvPr>
          <p:cNvSpPr>
            <a:spLocks noGrp="1"/>
          </p:cNvSpPr>
          <p:nvPr>
            <p:ph type="body" sz="quarter" idx="13"/>
          </p:nvPr>
        </p:nvSpPr>
        <p:spPr>
          <a:xfrm>
            <a:off x="5746750" y="3277983"/>
            <a:ext cx="5878513" cy="223837"/>
          </a:xfrm>
        </p:spPr>
        <p:txBody>
          <a:bodyPr/>
          <a:lstStyle/>
          <a:p>
            <a:r>
              <a:rPr lang="en-US" dirty="0"/>
              <a:t>SEC1215</a:t>
            </a:r>
          </a:p>
          <a:p>
            <a:endParaRPr lang="en-US" dirty="0"/>
          </a:p>
          <a:p>
            <a:endParaRPr lang="en-US" dirty="0"/>
          </a:p>
        </p:txBody>
      </p:sp>
      <p:sp>
        <p:nvSpPr>
          <p:cNvPr id="4" name="Text Placeholder 3">
            <a:extLst>
              <a:ext uri="{FF2B5EF4-FFF2-40B4-BE49-F238E27FC236}">
                <a16:creationId xmlns:a16="http://schemas.microsoft.com/office/drawing/2014/main" id="{070FB1C2-93D0-5F15-B94A-8C025404729D}"/>
              </a:ext>
            </a:extLst>
          </p:cNvPr>
          <p:cNvSpPr>
            <a:spLocks noGrp="1"/>
          </p:cNvSpPr>
          <p:nvPr>
            <p:ph type="body" sz="quarter" idx="11"/>
          </p:nvPr>
        </p:nvSpPr>
        <p:spPr>
          <a:xfrm>
            <a:off x="5746750" y="4009292"/>
            <a:ext cx="5878513" cy="1674163"/>
          </a:xfrm>
        </p:spPr>
        <p:txBody>
          <a:bodyPr/>
          <a:lstStyle/>
          <a:p>
            <a:pPr lvl="0"/>
            <a:r>
              <a:rPr lang="en-US" dirty="0"/>
              <a:t>David Pollard</a:t>
            </a:r>
          </a:p>
          <a:p>
            <a:pPr lvl="0"/>
            <a:r>
              <a:rPr lang="en-US" dirty="0"/>
              <a:t>Unshakeable Salt Ltd,  @UnshakeableSalt</a:t>
            </a:r>
            <a:br>
              <a:rPr lang="en-US" dirty="0"/>
            </a:br>
            <a:br>
              <a:rPr lang="en-US" dirty="0"/>
            </a:br>
            <a:r>
              <a:rPr lang="en-US" dirty="0"/>
              <a:t>Resources:</a:t>
            </a:r>
            <a:br>
              <a:rPr lang="en-US" dirty="0"/>
            </a:br>
            <a:r>
              <a:rPr lang="en-US" dirty="0"/>
              <a:t>https://</a:t>
            </a:r>
            <a:r>
              <a:rPr lang="en-US" dirty="0" err="1"/>
              <a:t>github.com</a:t>
            </a:r>
            <a:r>
              <a:rPr lang="en-US" dirty="0"/>
              <a:t>/</a:t>
            </a:r>
            <a:r>
              <a:rPr lang="en-US" dirty="0" err="1"/>
              <a:t>UnshakeableSaltLtd</a:t>
            </a:r>
            <a:r>
              <a:rPr lang="en-US" dirty="0"/>
              <a:t>/</a:t>
            </a:r>
            <a:r>
              <a:rPr lang="en-US" dirty="0" err="1"/>
              <a:t>SplunkConf</a:t>
            </a:r>
            <a:endParaRPr lang="en-US" dirty="0"/>
          </a:p>
        </p:txBody>
      </p:sp>
      <p:pic>
        <p:nvPicPr>
          <p:cNvPr id="12" name="Picture Placeholder 11">
            <a:extLst>
              <a:ext uri="{FF2B5EF4-FFF2-40B4-BE49-F238E27FC236}">
                <a16:creationId xmlns:a16="http://schemas.microsoft.com/office/drawing/2014/main" id="{14DEB1B0-17B2-6E40-B35A-4B1BF44636C6}"/>
              </a:ext>
            </a:extLst>
          </p:cNvPr>
          <p:cNvPicPr>
            <a:picLocks noGrp="1" noChangeAspect="1"/>
          </p:cNvPicPr>
          <p:nvPr>
            <p:ph type="pic" sz="quarter" idx="19"/>
          </p:nvPr>
        </p:nvPicPr>
        <p:blipFill>
          <a:blip r:embed="rId3">
            <a:extLst>
              <a:ext uri="{28A0092B-C50C-407E-A947-70E740481C1C}">
                <a14:useLocalDpi xmlns:a14="http://schemas.microsoft.com/office/drawing/2010/main" val="0"/>
              </a:ext>
            </a:extLst>
          </a:blip>
          <a:srcRect t="1300" b="1300"/>
          <a:stretch>
            <a:fillRect/>
          </a:stretch>
        </p:blipFill>
        <p:spPr>
          <a:prstGeom prst="roundRect">
            <a:avLst>
              <a:gd name="adj" fmla="val 5474"/>
            </a:avLst>
          </a:prstGeom>
          <a:noFill/>
        </p:spPr>
      </p:pic>
    </p:spTree>
    <p:extLst>
      <p:ext uri="{BB962C8B-B14F-4D97-AF65-F5344CB8AC3E}">
        <p14:creationId xmlns:p14="http://schemas.microsoft.com/office/powerpoint/2010/main" val="2551562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716A7-213A-DDE5-DCE0-21000546B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8E572-9E3A-E51A-CB34-A31754180379}"/>
              </a:ext>
            </a:extLst>
          </p:cNvPr>
          <p:cNvSpPr>
            <a:spLocks noGrp="1"/>
          </p:cNvSpPr>
          <p:nvPr>
            <p:ph type="title"/>
          </p:nvPr>
        </p:nvSpPr>
        <p:spPr>
          <a:xfrm>
            <a:off x="323850" y="3114676"/>
            <a:ext cx="4316976" cy="623888"/>
          </a:xfrm>
        </p:spPr>
        <p:txBody>
          <a:bodyPr/>
          <a:lstStyle/>
          <a:p>
            <a:r>
              <a:rPr lang="en-US" sz="4400" dirty="0"/>
              <a:t>Thank you</a:t>
            </a:r>
          </a:p>
        </p:txBody>
      </p:sp>
    </p:spTree>
    <p:extLst>
      <p:ext uri="{BB962C8B-B14F-4D97-AF65-F5344CB8AC3E}">
        <p14:creationId xmlns:p14="http://schemas.microsoft.com/office/powerpoint/2010/main" val="3336222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plunk Template_Light">
  <a:themeElements>
    <a:clrScheme name="Splunk Template _Light">
      <a:dk1>
        <a:srgbClr val="FFFFFF"/>
      </a:dk1>
      <a:lt1>
        <a:srgbClr val="000000"/>
      </a:lt1>
      <a:dk2>
        <a:srgbClr val="F1F4FA"/>
      </a:dk2>
      <a:lt2>
        <a:srgbClr val="04060A"/>
      </a:lt2>
      <a:accent1>
        <a:srgbClr val="02C8FF"/>
      </a:accent1>
      <a:accent2>
        <a:srgbClr val="0A60FF"/>
      </a:accent2>
      <a:accent3>
        <a:srgbClr val="FF007F"/>
      </a:accent3>
      <a:accent4>
        <a:srgbClr val="FF9000"/>
      </a:accent4>
      <a:accent5>
        <a:srgbClr val="E9EDF4"/>
      </a:accent5>
      <a:accent6>
        <a:srgbClr val="04060A"/>
      </a:accent6>
      <a:hlink>
        <a:srgbClr val="095FFF"/>
      </a:hlink>
      <a:folHlink>
        <a:srgbClr val="BBC1C9"/>
      </a:folHlink>
    </a:clrScheme>
    <a:fontScheme name="Splunk_Inter_04-14-2026">
      <a:majorFont>
        <a:latin typeface="Inter SemiBold"/>
        <a:ea typeface=""/>
        <a:cs typeface=""/>
      </a:majorFont>
      <a:minorFont>
        <a:latin typeface="Inte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28000">
              <a:schemeClr val="accent4"/>
            </a:gs>
            <a:gs pos="93000">
              <a:schemeClr val="accent3"/>
            </a:gs>
          </a:gsLst>
          <a:lin ang="10800000" scaled="1"/>
          <a:tileRect/>
        </a:gradFill>
        <a:ln w="15875">
          <a:solidFill>
            <a:schemeClr val="bg2"/>
          </a:solidFill>
        </a:ln>
        <a:effectLst/>
      </a:spPr>
      <a:bodyPr wrap="square" lIns="182880" tIns="182880" rIns="182880" bIns="182880" rtlCol="0" anchor="t" anchorCtr="0">
        <a:noAutofit/>
      </a:bodyPr>
      <a:lstStyle>
        <a:defPPr marL="182880" indent="-182880" algn="l">
          <a:buFont typeface="Arial" panose="020B0604020202020204" pitchFamily="34" charset="0"/>
          <a:buChar char="•"/>
          <a:defRPr sz="1600"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sz="1600" kern="1200" dirty="0" err="1" smtClean="0">
            <a:solidFill>
              <a:schemeClr val="bg1"/>
            </a:solidFill>
            <a:latin typeface="+mn-lt"/>
            <a:ea typeface="ＭＳ Ｐゴシック" charset="0"/>
          </a:defRPr>
        </a:defPPr>
      </a:lstStyle>
    </a:txDef>
  </a:objectDefaults>
  <a:extraClrSchemeLst/>
  <a:extLst>
    <a:ext uri="{05A4C25C-085E-4340-85A3-A5531E510DB2}">
      <thm15:themeFamily xmlns:thm15="http://schemas.microsoft.com/office/thememl/2012/main" name="conf26_SEC1215 Presentation_v1.pptx" id="{1640AA1F-01B3-664A-8E58-AB22105436D7}" vid="{538CE726-5326-DE4A-87EC-D62BF2C5BE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isco PowerPoint 02-26-2025">
      <a:majorFont>
        <a:latin typeface="CiscoSansTT Medium"/>
        <a:ea typeface=""/>
        <a:cs typeface=""/>
      </a:majorFont>
      <a:minorFont>
        <a:latin typeface="CiscoSansT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FC90483F6D65343AB8A3F0A3FE1718C" ma:contentTypeVersion="11" ma:contentTypeDescription="Create a new document." ma:contentTypeScope="" ma:versionID="ba2fe747e3ddf38885f0a6275a022522">
  <xsd:schema xmlns:xsd="http://www.w3.org/2001/XMLSchema" xmlns:xs="http://www.w3.org/2001/XMLSchema" xmlns:p="http://schemas.microsoft.com/office/2006/metadata/properties" xmlns:ns2="436e6cc3-73db-45b7-95c7-6e848b5dcabc" xmlns:ns3="3023c571-ab7f-4e41-8d03-2262f05dcfa9" targetNamespace="http://schemas.microsoft.com/office/2006/metadata/properties" ma:root="true" ma:fieldsID="97a6c8595afaa3df55ca0d3f559b3b67" ns2:_="" ns3:_="">
    <xsd:import namespace="436e6cc3-73db-45b7-95c7-6e848b5dcabc"/>
    <xsd:import namespace="3023c571-ab7f-4e41-8d03-2262f05dcfa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6e6cc3-73db-45b7-95c7-6e848b5dca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10261dd-85c0-4e16-8580-30375acfae1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023c571-ab7f-4e41-8d03-2262f05dcfa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aab1e4d-98fa-4c8f-8981-90ca02cff468}" ma:internalName="TaxCatchAll" ma:showField="CatchAllData" ma:web="3023c571-ab7f-4e41-8d03-2262f05dcfa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3023c571-ab7f-4e41-8d03-2262f05dcfa9" xsi:nil="true"/>
    <lcf76f155ced4ddcb4097134ff3c332f xmlns="436e6cc3-73db-45b7-95c7-6e848b5dcab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D0B9CF5-D5D6-4BCA-8BB3-2F2D5F46048E}">
  <ds:schemaRefs>
    <ds:schemaRef ds:uri="http://schemas.microsoft.com/sharepoint/v3/contenttype/forms"/>
  </ds:schemaRefs>
</ds:datastoreItem>
</file>

<file path=customXml/itemProps2.xml><?xml version="1.0" encoding="utf-8"?>
<ds:datastoreItem xmlns:ds="http://schemas.openxmlformats.org/officeDocument/2006/customXml" ds:itemID="{99BCD870-3D38-4491-B0DA-B0825E42F2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36e6cc3-73db-45b7-95c7-6e848b5dcabc"/>
    <ds:schemaRef ds:uri="3023c571-ab7f-4e41-8d03-2262f05dcfa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F4BF782-4FFE-4FA9-B058-D73184FB1945}">
  <ds:schemaRefs>
    <ds:schemaRef ds:uri="http://schemas.microsoft.com/office/2006/metadata/properties"/>
    <ds:schemaRef ds:uri="436e6cc3-73db-45b7-95c7-6e848b5dcabc"/>
    <ds:schemaRef ds:uri="http://schemas.microsoft.com/office/infopath/2007/PartnerControls"/>
    <ds:schemaRef ds:uri="http://www.w3.org/XML/1998/namespace"/>
    <ds:schemaRef ds:uri="http://schemas.microsoft.com/office/2006/documentManagement/types"/>
    <ds:schemaRef ds:uri="http://schemas.openxmlformats.org/package/2006/metadata/core-properties"/>
    <ds:schemaRef ds:uri="http://purl.org/dc/dcmitype/"/>
    <ds:schemaRef ds:uri="http://purl.org/dc/terms/"/>
    <ds:schemaRef ds:uri="http://purl.org/dc/elements/1.1/"/>
    <ds:schemaRef ds:uri="3023c571-ab7f-4e41-8d03-2262f05dcfa9"/>
  </ds:schemaRefs>
</ds:datastoreItem>
</file>

<file path=docMetadata/LabelInfo.xml><?xml version="1.0" encoding="utf-8"?>
<clbl:labelList xmlns:clbl="http://schemas.microsoft.com/office/2020/mipLabelMetadata">
  <clbl:label id="{c8f49a32-fde3-48a5-9266-b5b0972a22dc}" enabled="1" method="Privileged" siteId="{5ae1af62-9505-4097-a69a-c1553ef7840e}" removed="0"/>
</clbl:labelList>
</file>

<file path=docProps/app.xml><?xml version="1.0" encoding="utf-8"?>
<Properties xmlns="http://schemas.openxmlformats.org/officeDocument/2006/extended-properties" xmlns:vt="http://schemas.openxmlformats.org/officeDocument/2006/docPropsVTypes">
  <Template/>
  <TotalTime>12454</TotalTime>
  <Words>2585</Words>
  <Application>Microsoft Macintosh PowerPoint</Application>
  <PresentationFormat>Widescreen</PresentationFormat>
  <Paragraphs>206</Paragraphs>
  <Slides>18</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Aptos</vt:lpstr>
      <vt:lpstr>Inter</vt:lpstr>
      <vt:lpstr>Inter Light</vt:lpstr>
      <vt:lpstr>Splunk Data Sans Pro</vt:lpstr>
      <vt:lpstr>MS PGothic</vt:lpstr>
      <vt:lpstr>Source Code Pro</vt:lpstr>
      <vt:lpstr>Inter SemiBold</vt:lpstr>
      <vt:lpstr>Splunk Template_Light</vt:lpstr>
      <vt:lpstr>The other AI:  Assets and Identity.  Using Splunk to keep in check</vt:lpstr>
      <vt:lpstr>The other AI: Assets and Identity. Using Splunk to keep in check</vt:lpstr>
      <vt:lpstr>You can’t protect what you don’t know you have.</vt:lpstr>
      <vt:lpstr>Defining Terms</vt:lpstr>
      <vt:lpstr>Most orgs don't have a CMDB. The ones that do don't trust it.</vt:lpstr>
      <vt:lpstr>Why CMDBs Fail (Even When They Exist)</vt:lpstr>
      <vt:lpstr>Reframe: ES Isn't a CMDB Replacement, It's an Enrichment Layer</vt:lpstr>
      <vt:lpstr>“The SOC Missed the Alert”</vt:lpstr>
      <vt:lpstr>The Data You Don't Have</vt:lpstr>
      <vt:lpstr>The Hard Part: Identity Correlation, Not Collection</vt:lpstr>
      <vt:lpstr>PowerPoint Presentation</vt:lpstr>
      <vt:lpstr>Building the "Poor Man's CMDB" in Splunk</vt:lpstr>
      <vt:lpstr>Architecture Walkthrough</vt:lpstr>
      <vt:lpstr>Governance Gets Measurable</vt:lpstr>
      <vt:lpstr>From Visibility to Automated Action</vt:lpstr>
      <vt:lpstr>The other AI: Assets and Identity. Using Splunk to keep in check</vt:lpstr>
      <vt:lpstr>From Zero to Agentic:  Building Your First AI-Driven Threat Investigation in Splunk Enterprise Security</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Eric Miller (ericmil)</dc:creator>
  <cp:keywords/>
  <dc:description/>
  <cp:lastModifiedBy>D Pollard</cp:lastModifiedBy>
  <cp:revision>172</cp:revision>
  <dcterms:created xsi:type="dcterms:W3CDTF">2026-01-01T21:26:30Z</dcterms:created>
  <dcterms:modified xsi:type="dcterms:W3CDTF">2026-08-04T08:33:31Z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8f49a32-fde3-48a5-9266-b5b0972a22dc_Enabled">
    <vt:lpwstr>true</vt:lpwstr>
  </property>
  <property fmtid="{D5CDD505-2E9C-101B-9397-08002B2CF9AE}" pid="3" name="MSIP_Label_c8f49a32-fde3-48a5-9266-b5b0972a22dc_SetDate">
    <vt:lpwstr>2025-05-15T21:49:40Z</vt:lpwstr>
  </property>
  <property fmtid="{D5CDD505-2E9C-101B-9397-08002B2CF9AE}" pid="4" name="MSIP_Label_c8f49a32-fde3-48a5-9266-b5b0972a22dc_Method">
    <vt:lpwstr>Standard</vt:lpwstr>
  </property>
  <property fmtid="{D5CDD505-2E9C-101B-9397-08002B2CF9AE}" pid="5" name="MSIP_Label_c8f49a32-fde3-48a5-9266-b5b0972a22dc_Name">
    <vt:lpwstr>Cisco Confidential</vt:lpwstr>
  </property>
  <property fmtid="{D5CDD505-2E9C-101B-9397-08002B2CF9AE}" pid="6" name="MSIP_Label_c8f49a32-fde3-48a5-9266-b5b0972a22dc_SiteId">
    <vt:lpwstr>5ae1af62-9505-4097-a69a-c1553ef7840e</vt:lpwstr>
  </property>
  <property fmtid="{D5CDD505-2E9C-101B-9397-08002B2CF9AE}" pid="7" name="MSIP_Label_c8f49a32-fde3-48a5-9266-b5b0972a22dc_ActionId">
    <vt:lpwstr>219e4d3d-e52c-4661-a7c5-2e875435f34b</vt:lpwstr>
  </property>
  <property fmtid="{D5CDD505-2E9C-101B-9397-08002B2CF9AE}" pid="8" name="MSIP_Label_c8f49a32-fde3-48a5-9266-b5b0972a22dc_ContentBits">
    <vt:lpwstr>2</vt:lpwstr>
  </property>
  <property fmtid="{D5CDD505-2E9C-101B-9397-08002B2CF9AE}" pid="9" name="MSIP_Label_c8f49a32-fde3-48a5-9266-b5b0972a22dc_Tag">
    <vt:lpwstr>10, 3, 0, 1</vt:lpwstr>
  </property>
  <property fmtid="{D5CDD505-2E9C-101B-9397-08002B2CF9AE}" pid="10" name="ClassificationContentMarkingFooterLocations">
    <vt:lpwstr>Cisco Dark 05-12-2025:8</vt:lpwstr>
  </property>
  <property fmtid="{D5CDD505-2E9C-101B-9397-08002B2CF9AE}" pid="11" name="ClassificationContentMarkingFooterText">
    <vt:lpwstr>Cisco Confidential</vt:lpwstr>
  </property>
  <property fmtid="{D5CDD505-2E9C-101B-9397-08002B2CF9AE}" pid="12" name="ContentTypeId">
    <vt:lpwstr>0x0101002FC90483F6D65343AB8A3F0A3FE1718C</vt:lpwstr>
  </property>
</Properties>
</file>