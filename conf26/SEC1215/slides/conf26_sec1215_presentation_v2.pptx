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034" r:id="rId4"/>
  </p:sldMasterIdLst>
  <p:notesMasterIdLst>
    <p:notesMasterId r:id="rId27"/>
  </p:notesMasterIdLst>
  <p:handoutMasterIdLst>
    <p:handoutMasterId r:id="rId28"/>
  </p:handoutMasterIdLst>
  <p:sldIdLst>
    <p:sldId id="2147482720" r:id="rId5"/>
    <p:sldId id="2147482731" r:id="rId6"/>
    <p:sldId id="2147482422" r:id="rId7"/>
    <p:sldId id="2147482732" r:id="rId8"/>
    <p:sldId id="2147482746" r:id="rId9"/>
    <p:sldId id="2147482747" r:id="rId10"/>
    <p:sldId id="2147482748" r:id="rId11"/>
    <p:sldId id="2147482750" r:id="rId12"/>
    <p:sldId id="2147482734" r:id="rId13"/>
    <p:sldId id="2147482735" r:id="rId14"/>
    <p:sldId id="2147482738" r:id="rId15"/>
    <p:sldId id="2147482736" r:id="rId16"/>
    <p:sldId id="2147482739" r:id="rId17"/>
    <p:sldId id="2147482740" r:id="rId18"/>
    <p:sldId id="2147482741" r:id="rId19"/>
    <p:sldId id="2147482749" r:id="rId20"/>
    <p:sldId id="2147482742" r:id="rId21"/>
    <p:sldId id="2147482743" r:id="rId22"/>
    <p:sldId id="2147482752" r:id="rId23"/>
    <p:sldId id="2147482751" r:id="rId24"/>
    <p:sldId id="2147482745" r:id="rId25"/>
    <p:sldId id="2147482707" r:id="rId26"/>
  </p:sldIdLst>
  <p:sldSz cx="12192000" cy="6858000"/>
  <p:notesSz cx="6858000" cy="9144000"/>
  <p:embeddedFontLst>
    <p:embeddedFont>
      <p:font typeface="Inter" panose="02000503000000020004" pitchFamily="2" charset="0"/>
      <p:regular r:id="rId29"/>
      <p:bold r:id="rId30"/>
      <p:italic r:id="rId31"/>
      <p:boldItalic r:id="rId32"/>
    </p:embeddedFont>
    <p:embeddedFont>
      <p:font typeface="Inter Light" panose="02000403000000020004" pitchFamily="2" charset="0"/>
      <p:regular r:id="rId33"/>
      <p:italic r:id="rId34"/>
    </p:embeddedFont>
    <p:embeddedFont>
      <p:font typeface="Inter SemiBold" panose="02000503000000020004" pitchFamily="2" charset="0"/>
      <p:regular r:id="rId35"/>
      <p:bold r:id="rId36"/>
      <p:italic r:id="rId37"/>
      <p:boldItalic r:id="rId38"/>
    </p:embeddedFont>
    <p:embeddedFont>
      <p:font typeface="MS PGothic" panose="020B0600070205080204" pitchFamily="34" charset="-128"/>
      <p:regular r:id="rId39"/>
    </p:embeddedFont>
    <p:embeddedFont>
      <p:font typeface="Source Code Pro" panose="020B0509030403020204" pitchFamily="49" charset="0"/>
      <p:regular r:id="rId40"/>
      <p:bold r:id="rId41"/>
      <p:italic r:id="rId42"/>
      <p:boldItalic r:id="rId43"/>
    </p:embeddedFont>
    <p:embeddedFont>
      <p:font typeface="Splunk Data Sans Pro" panose="020B0504030202020204"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Title Slides" id="{6B5BE202-19CA-474B-817E-1B720625FA32}">
          <p14:sldIdLst>
            <p14:sldId id="2147482720"/>
            <p14:sldId id="2147482731"/>
            <p14:sldId id="2147482422"/>
          </p14:sldIdLst>
        </p14:section>
        <p14:section name="Main Presentation" id="{21037D84-9636-7B4F-BFBD-F6FA3E6BD564}">
          <p14:sldIdLst>
            <p14:sldId id="2147482732"/>
            <p14:sldId id="2147482746"/>
            <p14:sldId id="2147482747"/>
            <p14:sldId id="2147482748"/>
            <p14:sldId id="2147482750"/>
            <p14:sldId id="2147482734"/>
            <p14:sldId id="2147482735"/>
            <p14:sldId id="2147482738"/>
            <p14:sldId id="2147482736"/>
            <p14:sldId id="2147482739"/>
            <p14:sldId id="2147482740"/>
            <p14:sldId id="2147482741"/>
            <p14:sldId id="2147482749"/>
            <p14:sldId id="2147482742"/>
            <p14:sldId id="2147482743"/>
            <p14:sldId id="2147482752"/>
          </p14:sldIdLst>
        </p14:section>
        <p14:section name="Closing" id="{B139BF10-315B-4780-A8A1-1F17D5CB2565}">
          <p14:sldIdLst>
            <p14:sldId id="2147482751"/>
            <p14:sldId id="2147482745"/>
            <p14:sldId id="2147482707"/>
          </p14:sldIdLst>
        </p14:section>
      </p14:sectionLst>
    </p:ext>
    <p:ext uri="{EFAFB233-063F-42B5-8137-9DF3F51BA10A}">
      <p15:sldGuideLst xmlns:p15="http://schemas.microsoft.com/office/powerpoint/2012/main">
        <p15:guide id="2" pos="3840" userDrawn="1">
          <p15:clr>
            <a:srgbClr val="F26B43"/>
          </p15:clr>
        </p15:guide>
        <p15:guide id="3" orient="horz" pos="2160" userDrawn="1">
          <p15:clr>
            <a:srgbClr val="F26B43"/>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9AA2E3D1-FE07-41BA-0E3E-41F857C6F48F}" name="Kortney Melchiorre (kmelchio)" initials="KM(" userId="S::kmelchio@cisco.com::b8741b67-5639-4640-877b-9e127070f5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BFDFE"/>
    <a:srgbClr val="000B3F"/>
    <a:srgbClr val="04070B"/>
    <a:srgbClr val="0B1118"/>
    <a:srgbClr val="009DE2"/>
    <a:srgbClr val="EB4651"/>
    <a:srgbClr val="45991F"/>
    <a:srgbClr val="B4B9C0"/>
    <a:srgbClr val="525E6C"/>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EE8615-9E96-A640-AB56-F111AA9B4362}" v="6" dt="2026-07-24T09:19:56.8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40" autoAdjust="0"/>
    <p:restoredTop sz="38220" autoAdjust="0"/>
  </p:normalViewPr>
  <p:slideViewPr>
    <p:cSldViewPr snapToGrid="0" showGuides="1">
      <p:cViewPr varScale="1">
        <p:scale>
          <a:sx n="127" d="100"/>
          <a:sy n="127" d="100"/>
        </p:scale>
        <p:origin x="9912" y="192"/>
      </p:cViewPr>
      <p:guideLst>
        <p:guide pos="3840"/>
        <p:guide orient="horz"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7428"/>
    </p:cViewPr>
  </p:sorterViewPr>
  <p:notesViewPr>
    <p:cSldViewPr snapToGrid="0">
      <p:cViewPr varScale="1">
        <p:scale>
          <a:sx n="177" d="100"/>
          <a:sy n="177" d="100"/>
        </p:scale>
        <p:origin x="5136"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font" Target="fonts/font1.fntdata"/><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4" Type="http://schemas.openxmlformats.org/officeDocument/2006/relationships/font" Target="fonts/font16.fntdata"/><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6.xml"/><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160F12-8836-E7B4-E4D7-6BC3D171F2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AF74747-B370-D928-1BB9-0C19B2EBFA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B074C1-390D-874D-9D28-A0ABB3D06F25}" type="datetimeFigureOut">
              <a:rPr lang="en-US" smtClean="0"/>
              <a:t>8/3/26</a:t>
            </a:fld>
            <a:endParaRPr lang="en-US"/>
          </a:p>
        </p:txBody>
      </p:sp>
      <p:sp>
        <p:nvSpPr>
          <p:cNvPr id="4" name="Footer Placeholder 3">
            <a:extLst>
              <a:ext uri="{FF2B5EF4-FFF2-40B4-BE49-F238E27FC236}">
                <a16:creationId xmlns:a16="http://schemas.microsoft.com/office/drawing/2014/main" id="{D4A30FFE-7860-3800-3DFE-875324BBCF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F882DAE-C070-8F4E-FEB0-279E3987084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AC68FE2-D02A-974F-8241-2FBB35007C94}" type="slidenum">
              <a:rPr lang="en-US" smtClean="0"/>
              <a:t>‹#›</a:t>
            </a:fld>
            <a:endParaRPr lang="en-US"/>
          </a:p>
        </p:txBody>
      </p:sp>
    </p:spTree>
    <p:extLst>
      <p:ext uri="{BB962C8B-B14F-4D97-AF65-F5344CB8AC3E}">
        <p14:creationId xmlns:p14="http://schemas.microsoft.com/office/powerpoint/2010/main" val="38626490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2C72104B-A22A-485F-8181-8B2CD5833538}" type="datetimeFigureOut">
              <a:rPr lang="en-US" smtClean="0"/>
              <a:pPr/>
              <a:t>8/3/26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4DBB4990-0A23-4A10-BE7D-7E64CAB85BE3}" type="slidenum">
              <a:rPr lang="en-US" smtClean="0"/>
              <a:pPr/>
              <a:t>‹#›</a:t>
            </a:fld>
            <a:endParaRPr lang="en-US" dirty="0"/>
          </a:p>
        </p:txBody>
      </p:sp>
    </p:spTree>
    <p:extLst>
      <p:ext uri="{BB962C8B-B14F-4D97-AF65-F5344CB8AC3E}">
        <p14:creationId xmlns:p14="http://schemas.microsoft.com/office/powerpoint/2010/main" val="62820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CiscoSansTT" panose="020B0503020201020303" pitchFamily="34" charset="0"/>
      </a:defRPr>
    </a:lvl1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Welcome in, introduce yourself briefly: David Pollard, Unshakeable Salt Ltd. </a:t>
            </a:r>
          </a:p>
          <a:p>
            <a:endParaRPr lang="en-GB" dirty="0"/>
          </a:p>
          <a:p>
            <a:endParaRPr lang="en-GB" dirty="0"/>
          </a:p>
          <a:p>
            <a:r>
              <a:rPr lang="en-GB" dirty="0"/>
              <a:t>20-minute </a:t>
            </a:r>
            <a:r>
              <a:rPr lang="en-GB" dirty="0" err="1"/>
              <a:t>Theater</a:t>
            </a:r>
            <a:r>
              <a:rPr lang="en-GB" dirty="0"/>
              <a:t> Session (Tuesday, Sep 15, 1:30–1:50 PM MDT), </a:t>
            </a:r>
          </a:p>
          <a:p>
            <a:r>
              <a:rPr lang="en-GB" dirty="0"/>
              <a:t>Security track, </a:t>
            </a:r>
          </a:p>
          <a:p>
            <a:r>
              <a:rPr lang="en-GB" dirty="0"/>
              <a:t>Novice skill level, </a:t>
            </a:r>
          </a:p>
          <a:p>
            <a:br>
              <a:rPr lang="en-GB" dirty="0"/>
            </a:br>
            <a:r>
              <a:rPr lang="en-GB" dirty="0"/>
              <a:t>so the framing throughout is deliberately practical and not academic — this is what</a:t>
            </a:r>
          </a:p>
          <a:p>
            <a:r>
              <a:rPr lang="en-GB" dirty="0"/>
              <a:t>actually happened building one bespoke agentic use case inside Splunk Enterprise Security,</a:t>
            </a:r>
          </a:p>
          <a:p>
            <a:r>
              <a:rPr lang="en-GB" dirty="0"/>
              <a:t>not a vendor pitch.</a:t>
            </a:r>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a:t>
            </a:fld>
            <a:endParaRPr lang="en-US" dirty="0"/>
          </a:p>
        </p:txBody>
      </p:sp>
    </p:spTree>
    <p:extLst>
      <p:ext uri="{BB962C8B-B14F-4D97-AF65-F5344CB8AC3E}">
        <p14:creationId xmlns:p14="http://schemas.microsoft.com/office/powerpoint/2010/main" val="15404583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Structure: </a:t>
            </a:r>
          </a:p>
          <a:p>
            <a:r>
              <a:rPr lang="en-GB" dirty="0"/>
              <a:t>one real architecture, built twice — what we shipped first, what it taught us, and</a:t>
            </a:r>
          </a:p>
          <a:p>
            <a:r>
              <a:rPr lang="en-GB" dirty="0"/>
              <a:t>the simpler version running today → a live look at each phase → the pitfalls that drove the</a:t>
            </a:r>
          </a:p>
          <a:p>
            <a:r>
              <a:rPr lang="en-GB" dirty="0"/>
              <a:t>rebuild, so you don't have to hit them yourself.</a:t>
            </a:r>
          </a:p>
          <a:p>
            <a:endParaRPr lang="en-GB" dirty="0"/>
          </a:p>
          <a:p>
            <a:r>
              <a:rPr lang="en-GB" dirty="0"/>
              <a:t>These three takeaways come directly from the session abstract and are the spine of the</a:t>
            </a:r>
          </a:p>
          <a:p>
            <a:r>
              <a:rPr lang="en-GB" dirty="0"/>
              <a:t>whole talk</a:t>
            </a:r>
          </a:p>
        </p:txBody>
      </p:sp>
      <p:sp>
        <p:nvSpPr>
          <p:cNvPr id="4" name="Slide Number Placeholder 3"/>
          <p:cNvSpPr>
            <a:spLocks noGrp="1"/>
          </p:cNvSpPr>
          <p:nvPr>
            <p:ph type="sldNum" sz="quarter" idx="5"/>
          </p:nvPr>
        </p:nvSpPr>
        <p:spPr/>
        <p:txBody>
          <a:bodyPr/>
          <a:lstStyle/>
          <a:p>
            <a:fld id="{4DBB4990-0A23-4A10-BE7D-7E64CAB85BE3}" type="slidenum">
              <a:rPr lang="en-US" smtClean="0"/>
              <a:pPr/>
              <a:t>2</a:t>
            </a:fld>
            <a:endParaRPr lang="en-US" dirty="0"/>
          </a:p>
        </p:txBody>
      </p:sp>
    </p:spTree>
    <p:extLst>
      <p:ext uri="{BB962C8B-B14F-4D97-AF65-F5344CB8AC3E}">
        <p14:creationId xmlns:p14="http://schemas.microsoft.com/office/powerpoint/2010/main" val="1077580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3</a:t>
            </a:fld>
            <a:endParaRPr lang="en-US" dirty="0"/>
          </a:p>
        </p:txBody>
      </p:sp>
    </p:spTree>
    <p:extLst>
      <p:ext uri="{BB962C8B-B14F-4D97-AF65-F5344CB8AC3E}">
        <p14:creationId xmlns:p14="http://schemas.microsoft.com/office/powerpoint/2010/main" val="10938045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hook / problem statement before we show any architecture. </a:t>
            </a:r>
          </a:p>
          <a:p>
            <a:endParaRPr lang="en-GB" dirty="0"/>
          </a:p>
          <a:p>
            <a:r>
              <a:rPr lang="en-GB" dirty="0"/>
              <a:t>The core tension to land here: </a:t>
            </a:r>
          </a:p>
          <a:p>
            <a:endParaRPr lang="en-GB" dirty="0"/>
          </a:p>
          <a:p>
            <a:r>
              <a:rPr lang="en-GB" dirty="0"/>
              <a:t>agentic AI demos always show the LLM reasoning about a security event, but they</a:t>
            </a:r>
          </a:p>
          <a:p>
            <a:r>
              <a:rPr lang="en-GB" dirty="0"/>
              <a:t>skip the unglamorous part — getting that reasoning back into the platform in a form the</a:t>
            </a:r>
          </a:p>
          <a:p>
            <a:r>
              <a:rPr lang="en-GB" dirty="0"/>
              <a:t>platform's own automation (Risk-Based Alerting, Incident Review) can actually use.</a:t>
            </a:r>
          </a:p>
          <a:p>
            <a:endParaRPr lang="en-GB" dirty="0"/>
          </a:p>
          <a:p>
            <a:r>
              <a:rPr lang="en-GB" dirty="0"/>
              <a:t>Land the specific technical claim early, because it's the thesis of Phase 2 later: a risk</a:t>
            </a:r>
          </a:p>
          <a:p>
            <a:r>
              <a:rPr lang="en-GB" dirty="0"/>
              <a:t>modifier in the risk index is only usable by the Risk Analysis and Incident Review</a:t>
            </a:r>
          </a:p>
          <a:p>
            <a:r>
              <a:rPr lang="en-GB" dirty="0"/>
              <a:t>dashboards once it carries, at minimum, `</a:t>
            </a:r>
            <a:r>
              <a:rPr lang="en-GB" dirty="0" err="1"/>
              <a:t>risk_object</a:t>
            </a:r>
            <a:r>
              <a:rPr lang="en-GB" dirty="0"/>
              <a:t>`, `</a:t>
            </a:r>
            <a:r>
              <a:rPr lang="en-GB" dirty="0" err="1"/>
              <a:t>risk_object_type</a:t>
            </a:r>
            <a:r>
              <a:rPr lang="en-GB" dirty="0"/>
              <a:t>`, and `</a:t>
            </a:r>
            <a:r>
              <a:rPr lang="en-GB" dirty="0" err="1"/>
              <a:t>risk_score</a:t>
            </a:r>
            <a:r>
              <a:rPr lang="en-GB" dirty="0"/>
              <a:t>`</a:t>
            </a:r>
          </a:p>
          <a:p>
            <a:r>
              <a:rPr lang="en-GB" dirty="0"/>
              <a:t>— because the Risk data model (`</a:t>
            </a:r>
            <a:r>
              <a:rPr lang="en-GB" dirty="0" err="1"/>
              <a:t>All_Risk</a:t>
            </a:r>
            <a:r>
              <a:rPr lang="en-GB" dirty="0"/>
              <a:t>`) accelerates exactly those fields, and an object's</a:t>
            </a:r>
          </a:p>
          <a:p>
            <a:r>
              <a:rPr lang="en-GB" dirty="0"/>
              <a:t>overall risk score is the sum of every risk modifier's `</a:t>
            </a:r>
            <a:r>
              <a:rPr lang="en-GB" dirty="0" err="1"/>
              <a:t>risk_score</a:t>
            </a:r>
            <a:r>
              <a:rPr lang="en-GB" dirty="0"/>
              <a:t>` for it. </a:t>
            </a:r>
          </a:p>
          <a:p>
            <a:endParaRPr lang="en-GB" dirty="0"/>
          </a:p>
          <a:p>
            <a:r>
              <a:rPr lang="en-GB" dirty="0"/>
              <a:t>Don't over-explain yet — this slide is intentionally a teaser for slide 8, where we walk</a:t>
            </a:r>
          </a:p>
          <a:p>
            <a:r>
              <a:rPr lang="en-GB" dirty="0"/>
              <a:t>through the design we built *first* to chase exactly this bar (mapping the AI's verdict onto</a:t>
            </a:r>
          </a:p>
          <a:p>
            <a:r>
              <a:rPr lang="en-GB" dirty="0"/>
              <a:t>`</a:t>
            </a:r>
            <a:r>
              <a:rPr lang="en-GB" dirty="0" err="1"/>
              <a:t>risk_object</a:t>
            </a:r>
            <a:r>
              <a:rPr lang="en-GB" dirty="0"/>
              <a:t>`/`</a:t>
            </a:r>
            <a:r>
              <a:rPr lang="en-GB" dirty="0" err="1"/>
              <a:t>risk_object_type</a:t>
            </a:r>
            <a:r>
              <a:rPr lang="en-GB" dirty="0"/>
              <a:t>`/`</a:t>
            </a:r>
            <a:r>
              <a:rPr lang="en-GB" dirty="0" err="1"/>
              <a:t>risk_score</a:t>
            </a:r>
            <a:r>
              <a:rPr lang="en-GB" dirty="0"/>
              <a:t>`). Small honest caveat to set up now so it isn't</a:t>
            </a:r>
          </a:p>
          <a:p>
            <a:r>
              <a:rPr lang="en-GB" dirty="0"/>
              <a:t>a surprise later: what ships today (v1.3.3, slide 5) deliberately does not push the AI's</a:t>
            </a:r>
          </a:p>
          <a:p>
            <a:r>
              <a:rPr lang="en-GB" dirty="0"/>
              <a:t>answer into the risk index — that trade-off, and why it was still the right call, is Takeaway</a:t>
            </a:r>
          </a:p>
          <a:p>
            <a:r>
              <a:rPr lang="en-GB" dirty="0"/>
              <a:t>3's whole arc. The point right now is just: "posted to Slack" is not the same thing as</a:t>
            </a:r>
          </a:p>
          <a:p>
            <a:r>
              <a:rPr lang="en-GB" dirty="0"/>
              <a:t>"usable by Splunk."</a:t>
            </a:r>
          </a:p>
        </p:txBody>
      </p:sp>
      <p:sp>
        <p:nvSpPr>
          <p:cNvPr id="4" name="Slide Number Placeholder 3"/>
          <p:cNvSpPr>
            <a:spLocks noGrp="1"/>
          </p:cNvSpPr>
          <p:nvPr>
            <p:ph type="sldNum" sz="quarter" idx="5"/>
          </p:nvPr>
        </p:nvSpPr>
        <p:spPr/>
        <p:txBody>
          <a:bodyPr/>
          <a:lstStyle/>
          <a:p>
            <a:fld id="{4DBB4990-0A23-4A10-BE7D-7E64CAB85BE3}" type="slidenum">
              <a:rPr lang="en-US" smtClean="0"/>
              <a:pPr/>
              <a:t>4</a:t>
            </a:fld>
            <a:endParaRPr lang="en-US" dirty="0"/>
          </a:p>
        </p:txBody>
      </p:sp>
    </p:spTree>
    <p:extLst>
      <p:ext uri="{BB962C8B-B14F-4D97-AF65-F5344CB8AC3E}">
        <p14:creationId xmlns:p14="http://schemas.microsoft.com/office/powerpoint/2010/main" val="4005499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Design decision that follows from this: keep the **payload full and complete**, so a</a:t>
            </a:r>
          </a:p>
          <a:p>
            <a:r>
              <a:rPr lang="en-GB" dirty="0"/>
              <a:t>smaller/cheaper model still gets the whole picture to reason over — don't compensate for a</a:t>
            </a:r>
          </a:p>
          <a:p>
            <a:r>
              <a:rPr lang="en-GB" dirty="0"/>
              <a:t>weaker model by hand-crafting a bigger prompt.</a:t>
            </a:r>
          </a:p>
          <a:p>
            <a:endParaRPr lang="en-GB" dirty="0"/>
          </a:p>
          <a:p>
            <a:r>
              <a:rPr lang="en-GB" dirty="0"/>
              <a:t>Concretely, the agentic AI actor in this build is called directly: `</a:t>
            </a:r>
            <a:r>
              <a:rPr lang="en-GB" dirty="0" err="1"/>
              <a:t>notable_to_perplexity_json.py</a:t>
            </a:r>
            <a:r>
              <a:rPr lang="en-GB" dirty="0"/>
              <a:t>`</a:t>
            </a:r>
          </a:p>
          <a:p>
            <a:r>
              <a:rPr lang="en-GB" dirty="0"/>
              <a:t>makes a synchronous request to the Perplexity Chat Completions API, passing the JSON payload</a:t>
            </a:r>
          </a:p>
          <a:p>
            <a:r>
              <a:rPr lang="en-GB" dirty="0"/>
              <a:t>plus the standing `</a:t>
            </a:r>
            <a:r>
              <a:rPr lang="en-GB" dirty="0" err="1"/>
              <a:t>perplexity_ask</a:t>
            </a:r>
            <a:r>
              <a:rPr lang="en-GB" dirty="0"/>
              <a:t>` checks you'll see in Phase 1, and the model is named by a</a:t>
            </a:r>
          </a:p>
          <a:p>
            <a:r>
              <a:rPr lang="en-GB" dirty="0"/>
              <a:t>plain config value, `</a:t>
            </a:r>
            <a:r>
              <a:rPr lang="en-GB" dirty="0" err="1"/>
              <a:t>param.perplexity_model</a:t>
            </a:r>
            <a:r>
              <a:rPr lang="en-GB" dirty="0"/>
              <a:t>`. Emphasise this is a *contract*, not a lock-in:</a:t>
            </a:r>
          </a:p>
          <a:p>
            <a:r>
              <a:rPr lang="en-GB" dirty="0"/>
              <a:t>because the interface between Splunk and the AI is a plain JSON payload in, and a JSON Schema</a:t>
            </a:r>
          </a:p>
          <a:p>
            <a:r>
              <a:rPr lang="en-GB" dirty="0"/>
              <a:t>`</a:t>
            </a:r>
            <a:r>
              <a:rPr lang="en-GB" dirty="0" err="1"/>
              <a:t>response_format</a:t>
            </a:r>
            <a:r>
              <a:rPr lang="en-GB" dirty="0"/>
              <a:t>` out (see Phase 2), the model behind that call is swappable by editing one</a:t>
            </a:r>
          </a:p>
          <a:p>
            <a:r>
              <a:rPr lang="en-GB" dirty="0"/>
              <a:t>config field — the integration doesn't care which model answers, only that it can honour a</a:t>
            </a:r>
          </a:p>
          <a:p>
            <a:r>
              <a:rPr lang="en-GB" dirty="0"/>
              <a:t>structured schema. Worth naming explicitly: this is simpler than the first version of this</a:t>
            </a:r>
          </a:p>
          <a:p>
            <a:r>
              <a:rPr lang="en-GB" dirty="0"/>
              <a:t>build, which invoked the AI in-thread via a Slack mention and had to parse whatever came back</a:t>
            </a:r>
          </a:p>
          <a:p>
            <a:r>
              <a:rPr lang="en-GB" dirty="0"/>
              <a:t>as a reply — swapping models there meant hoping the new model kept following the same</a:t>
            </a:r>
          </a:p>
          <a:p>
            <a:r>
              <a:rPr lang="en-GB" dirty="0"/>
              <a:t>free-text convention. That's gone now; the schema does the enforcing, not the model's good</a:t>
            </a:r>
          </a:p>
          <a:p>
            <a:r>
              <a:rPr lang="en-GB" dirty="0"/>
              <a:t>behaviour.</a:t>
            </a:r>
          </a:p>
          <a:p>
            <a:endParaRPr lang="en-GB" dirty="0"/>
          </a:p>
          <a:p>
            <a:r>
              <a:rPr lang="en-GB" dirty="0"/>
              <a:t>Practical guidance to leave the audience with: start the cost/latency/privacy/capability</a:t>
            </a:r>
          </a:p>
          <a:p>
            <a:r>
              <a:rPr lang="en-GB" dirty="0"/>
              <a:t>conversation with "what's the smallest model that reliably returns our JSON shape," not</a:t>
            </a:r>
          </a:p>
          <a:p>
            <a:r>
              <a:rPr lang="en-GB" dirty="0"/>
              <a:t>"which model is smartest" — capability requirements here are narrow and specific (score a</a:t>
            </a:r>
          </a:p>
          <a:p>
            <a:r>
              <a:rPr lang="en-GB" dirty="0"/>
              <a:t>notable against three standing checks, reply in strict JSON), not general reasoning.</a:t>
            </a:r>
          </a:p>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8</a:t>
            </a:fld>
            <a:endParaRPr lang="en-US" dirty="0"/>
          </a:p>
        </p:txBody>
      </p:sp>
    </p:spTree>
    <p:extLst>
      <p:ext uri="{BB962C8B-B14F-4D97-AF65-F5344CB8AC3E}">
        <p14:creationId xmlns:p14="http://schemas.microsoft.com/office/powerpoint/2010/main" val="255094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single architecture diagram the whole rest of the talk hangs off — full version</a:t>
            </a:r>
          </a:p>
          <a:p>
            <a:r>
              <a:rPr lang="en-GB" dirty="0"/>
              <a:t>lives in</a:t>
            </a:r>
          </a:p>
          <a:p>
            <a:endParaRPr lang="en-GB" dirty="0"/>
          </a:p>
          <a:p>
            <a:r>
              <a:rPr lang="en-GB" dirty="0"/>
              <a:t>Walk it top to bottom exactly once here, slowly, then tell the room "we're now going to walk</a:t>
            </a:r>
          </a:p>
          <a:p>
            <a:r>
              <a:rPr lang="en-GB" dirty="0"/>
              <a:t>each of these three phases in detail" — this sets up slides 6–10.</a:t>
            </a:r>
          </a:p>
          <a:p>
            <a:endParaRPr lang="en-GB" dirty="0"/>
          </a:p>
          <a:p>
            <a:r>
              <a:rPr lang="en-GB" dirty="0"/>
              <a:t>Name the phases explicitly since you'll refer back to them by number for the rest of the</a:t>
            </a:r>
          </a:p>
          <a:p>
            <a:r>
              <a:rPr lang="en-GB" dirty="0"/>
              <a:t>deck — and flag up front that Phase 2 and Phase 3 used to be two separate hops, not one:</a:t>
            </a:r>
          </a:p>
          <a:p>
            <a:endParaRPr lang="en-GB" dirty="0"/>
          </a:p>
          <a:p>
            <a:r>
              <a:rPr lang="en-GB" dirty="0"/>
              <a:t>- **Phase 1** — ES alert-action output feeds the agentic AI (shipped, `</a:t>
            </a:r>
            <a:r>
              <a:rPr lang="en-GB" dirty="0" err="1"/>
              <a:t>TA_ResponseActions</a:t>
            </a:r>
            <a:r>
              <a:rPr lang="en-GB" dirty="0"/>
              <a:t>`).</a:t>
            </a:r>
          </a:p>
          <a:p>
            <a:r>
              <a:rPr lang="en-GB" dirty="0"/>
              <a:t>- **Phase 2** — the AI answers, in-line, before delivery (shipped, v1.3.3, inside the same</a:t>
            </a:r>
          </a:p>
          <a:p>
            <a:r>
              <a:rPr lang="en-GB" dirty="0"/>
              <a:t>  process as Phase 1).</a:t>
            </a:r>
          </a:p>
          <a:p>
            <a:r>
              <a:rPr lang="en-GB" dirty="0"/>
              <a:t>- **Phase 3** — that answer lands via Splunk's own existing APIs, with zero human</a:t>
            </a:r>
          </a:p>
          <a:p>
            <a:r>
              <a:rPr lang="en-GB" dirty="0"/>
              <a:t>  intervention (shipped, v1.3.3, same call as Phase 2 — no second component).</a:t>
            </a:r>
          </a:p>
          <a:p>
            <a:endParaRPr lang="en-GB" dirty="0"/>
          </a:p>
          <a:p>
            <a:r>
              <a:rPr lang="en-GB" dirty="0"/>
              <a:t>Tell the room honestly, right here, that this diagram is the *second* version of this</a:t>
            </a:r>
          </a:p>
          <a:p>
            <a:r>
              <a:rPr lang="en-GB" dirty="0"/>
              <a:t>architecture, not the first: the first shipped design (v1.3.1–v1.3.2) split Phase 2/3 out</a:t>
            </a:r>
          </a:p>
          <a:p>
            <a:r>
              <a:rPr lang="en-GB" dirty="0"/>
              <a:t>into a separate asynchronous bridge component that polled Slack for a reply. It worked. It's</a:t>
            </a:r>
          </a:p>
          <a:p>
            <a:r>
              <a:rPr lang="en-GB" dirty="0"/>
              <a:t>still worth seeing — slides 8–9 walk through it, because building it and retiring it is where</a:t>
            </a:r>
          </a:p>
          <a:p>
            <a:r>
              <a:rPr lang="en-GB" dirty="0"/>
              <a:t>Takeaway 3 actually comes from. What's on screen now is what replaced it, once the cost of</a:t>
            </a:r>
          </a:p>
          <a:p>
            <a:r>
              <a:rPr lang="en-GB" dirty="0"/>
              <a:t>running a second component became obvious and the fix turned out to be simpler than the</a:t>
            </a:r>
          </a:p>
          <a:p>
            <a:r>
              <a:rPr lang="en-GB" dirty="0"/>
              <a:t>original design: trust the Perplexity API's own structured-output feature and trust that the</a:t>
            </a:r>
          </a:p>
          <a:p>
            <a:r>
              <a:rPr lang="en-GB" dirty="0"/>
              <a:t>alert action already had everything it needed synchronously, with no hand-off required.</a:t>
            </a:r>
          </a:p>
          <a:p>
            <a:endParaRPr lang="en-GB" dirty="0"/>
          </a:p>
          <a:p>
            <a:r>
              <a:rPr lang="en-GB" dirty="0"/>
              <a:t>Emphasise the closing line — this is the "retaining the principles of being agentic" test</a:t>
            </a:r>
          </a:p>
          <a:p>
            <a:r>
              <a:rPr lang="en-GB" dirty="0"/>
              <a:t>this whole pipeline has to pass: detect (correlation search) → decide (agentic AI against</a:t>
            </a:r>
          </a:p>
          <a:p>
            <a:r>
              <a:rPr lang="en-GB" dirty="0"/>
              <a:t>the standing `</a:t>
            </a:r>
            <a:r>
              <a:rPr lang="en-GB" dirty="0" err="1"/>
              <a:t>perplexity_ask</a:t>
            </a:r>
            <a:r>
              <a:rPr lang="en-GB" dirty="0"/>
              <a:t>` checks) → act (Slack + notable comment + KV store write-back)</a:t>
            </a:r>
          </a:p>
          <a:p>
            <a:r>
              <a:rPr lang="en-GB" dirty="0"/>
              <a:t>→ record (native Adaptive Response panel, Incident Review) — one continuous loop, closed</a:t>
            </a:r>
          </a:p>
          <a:p>
            <a:r>
              <a:rPr lang="en-GB" dirty="0"/>
              <a:t>without a human in the middle of it, and now closed synchronously in one request/response</a:t>
            </a:r>
          </a:p>
          <a:p>
            <a:r>
              <a:rPr lang="en-GB" dirty="0"/>
              <a:t>rather than an async poll. </a:t>
            </a:r>
          </a:p>
          <a:p>
            <a:endParaRPr lang="en-GB" dirty="0"/>
          </a:p>
          <a:p>
            <a:r>
              <a:rPr lang="en-GB" dirty="0"/>
              <a:t>Everything here is already shipped — this is not a roadmap slide. </a:t>
            </a:r>
          </a:p>
        </p:txBody>
      </p:sp>
      <p:sp>
        <p:nvSpPr>
          <p:cNvPr id="4" name="Slide Number Placeholder 3"/>
          <p:cNvSpPr>
            <a:spLocks noGrp="1"/>
          </p:cNvSpPr>
          <p:nvPr>
            <p:ph type="sldNum" sz="quarter" idx="5"/>
          </p:nvPr>
        </p:nvSpPr>
        <p:spPr/>
        <p:txBody>
          <a:bodyPr/>
          <a:lstStyle/>
          <a:p>
            <a:fld id="{4DBB4990-0A23-4A10-BE7D-7E64CAB85BE3}" type="slidenum">
              <a:rPr lang="en-US" smtClean="0"/>
              <a:pPr/>
              <a:t>9</a:t>
            </a:fld>
            <a:endParaRPr lang="en-US" dirty="0"/>
          </a:p>
        </p:txBody>
      </p:sp>
    </p:spTree>
    <p:extLst>
      <p:ext uri="{BB962C8B-B14F-4D97-AF65-F5344CB8AC3E}">
        <p14:creationId xmlns:p14="http://schemas.microsoft.com/office/powerpoint/2010/main" val="3695209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DF3B2-3E77-715F-61E6-8FA9F12A7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F941A-34C5-9224-6B15-78044A7B4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00FC2E-4457-8F5D-C7DA-C4C0DF1F25C0}"/>
              </a:ext>
            </a:extLst>
          </p:cNvPr>
          <p:cNvSpPr>
            <a:spLocks noGrp="1"/>
          </p:cNvSpPr>
          <p:nvPr>
            <p:ph type="body" idx="1"/>
          </p:nvPr>
        </p:nvSpPr>
        <p:spPr/>
        <p:txBody>
          <a:bodyPr/>
          <a:lstStyle/>
          <a:p>
            <a:r>
              <a:rPr lang="en-GB" dirty="0"/>
              <a:t>This is Phase 1 of the loop, detailed. </a:t>
            </a:r>
          </a:p>
          <a:p>
            <a:endParaRPr lang="en-GB" dirty="0"/>
          </a:p>
          <a:p>
            <a:r>
              <a:rPr lang="en-GB" dirty="0"/>
              <a:t>Key point to land: this isn't a lossy summary sent to the LLM — it's the *entire* CIM/risk</a:t>
            </a:r>
          </a:p>
          <a:p>
            <a:r>
              <a:rPr lang="en-GB" dirty="0"/>
              <a:t>event, denylist-scrubbed only for noise</a:t>
            </a:r>
          </a:p>
          <a:p>
            <a:endParaRPr lang="en-GB" dirty="0"/>
          </a:p>
          <a:p>
            <a:r>
              <a:rPr lang="en-GB" dirty="0"/>
              <a:t>The `</a:t>
            </a:r>
            <a:r>
              <a:rPr lang="en-GB" dirty="0" err="1"/>
              <a:t>perplexity_ask</a:t>
            </a:r>
            <a:r>
              <a:rPr lang="en-GB" dirty="0"/>
              <a:t>` block is the "standing question" pattern worth calling out: every</a:t>
            </a:r>
          </a:p>
          <a:p>
            <a:r>
              <a:rPr lang="en-GB" dirty="0"/>
              <a:t>notable gets the *same* structured question, so the agentic AI's job is narrow and</a:t>
            </a:r>
          </a:p>
          <a:p>
            <a:r>
              <a:rPr lang="en-GB" dirty="0"/>
              <a:t>repeatable (three checks, one structured answer) rather than open-ended free-form analysis</a:t>
            </a:r>
          </a:p>
          <a:p>
            <a:r>
              <a:rPr lang="en-GB" dirty="0"/>
              <a:t>— this is what keeps a smaller/cheaper model (Takeaway 1, slide 4) viable. This block hasn't</a:t>
            </a:r>
          </a:p>
          <a:p>
            <a:r>
              <a:rPr lang="en-GB" dirty="0"/>
              <a:t>changed shape since v1.3.0; what changed underneath it (slide 8 onward) is *how* it gets</a:t>
            </a:r>
          </a:p>
          <a:p>
            <a:r>
              <a:rPr lang="en-GB" dirty="0"/>
              <a:t>answered and *how quickly* that answer gets back into Splunk.</a:t>
            </a:r>
          </a:p>
        </p:txBody>
      </p:sp>
      <p:sp>
        <p:nvSpPr>
          <p:cNvPr id="4" name="Slide Number Placeholder 3">
            <a:extLst>
              <a:ext uri="{FF2B5EF4-FFF2-40B4-BE49-F238E27FC236}">
                <a16:creationId xmlns:a16="http://schemas.microsoft.com/office/drawing/2014/main" id="{1B3AF560-C5A1-8D28-D6DD-ABF32DB285CB}"/>
              </a:ext>
            </a:extLst>
          </p:cNvPr>
          <p:cNvSpPr>
            <a:spLocks noGrp="1"/>
          </p:cNvSpPr>
          <p:nvPr>
            <p:ph type="sldNum" sz="quarter" idx="5"/>
          </p:nvPr>
        </p:nvSpPr>
        <p:spPr/>
        <p:txBody>
          <a:bodyPr/>
          <a:lstStyle/>
          <a:p>
            <a:fld id="{4DBB4990-0A23-4A10-BE7D-7E64CAB85BE3}" type="slidenum">
              <a:rPr lang="en-US" smtClean="0"/>
              <a:pPr/>
              <a:t>10</a:t>
            </a:fld>
            <a:endParaRPr lang="en-US" dirty="0"/>
          </a:p>
        </p:txBody>
      </p:sp>
    </p:spTree>
    <p:extLst>
      <p:ext uri="{BB962C8B-B14F-4D97-AF65-F5344CB8AC3E}">
        <p14:creationId xmlns:p14="http://schemas.microsoft.com/office/powerpoint/2010/main" val="1704954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854D4-DF0A-5CFD-7A59-2C6B43869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E44B4-21C1-FD66-296F-4B0E09838F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87EDF-FB2B-BDF4-79DB-E485B435B2E8}"/>
              </a:ext>
            </a:extLst>
          </p:cNvPr>
          <p:cNvSpPr>
            <a:spLocks noGrp="1"/>
          </p:cNvSpPr>
          <p:nvPr>
            <p:ph type="body" idx="1"/>
          </p:nvPr>
        </p:nvSpPr>
        <p:spPr/>
        <p:txBody>
          <a:bodyPr/>
          <a:lstStyle/>
          <a:p>
            <a:r>
              <a:rPr lang="en-GB" dirty="0"/>
              <a:t>This is Takeaway 2 stated as a direct comparison table — the "repeatable pattern" the</a:t>
            </a:r>
          </a:p>
          <a:p>
            <a:r>
              <a:rPr lang="en-GB" dirty="0"/>
              <a:t>abstract promises. </a:t>
            </a:r>
          </a:p>
          <a:p>
            <a:endParaRPr lang="en-GB" dirty="0"/>
          </a:p>
          <a:p>
            <a:r>
              <a:rPr lang="en-GB" dirty="0"/>
              <a:t>"Takeaway 2 (repeatable pattern, build-vs-free)... Adaptive Response + CIM + the Notable</a:t>
            </a:r>
          </a:p>
          <a:p>
            <a:r>
              <a:rPr lang="en-GB" dirty="0"/>
              <a:t>Event API + KV store are Splunk's own primitives; the JSON shaping, the standing checks, and</a:t>
            </a:r>
          </a:p>
          <a:p>
            <a:r>
              <a:rPr lang="en-GB" dirty="0"/>
              <a:t>the synchronous Perplexity call are the glue you write once and reuse per correlation</a:t>
            </a:r>
          </a:p>
          <a:p>
            <a:r>
              <a:rPr lang="en-GB" dirty="0"/>
              <a:t>search." Worth a callback here: the "you build" column used to have a fourth thing in it —</a:t>
            </a:r>
          </a:p>
          <a:p>
            <a:r>
              <a:rPr lang="en-GB" dirty="0"/>
              <a:t>an async bridge process. It's not a column entry anymore, and that's the point: the</a:t>
            </a:r>
          </a:p>
          <a:p>
            <a:r>
              <a:rPr lang="en-GB" dirty="0"/>
              <a:t>reusable pattern got *simpler* between v1.3.2 and v1.3.3, not more capable-looking. Slides</a:t>
            </a:r>
          </a:p>
          <a:p>
            <a:r>
              <a:rPr lang="en-GB" dirty="0"/>
              <a:t>8–9 show what that bridge used to do and why removing it was the right trade.</a:t>
            </a:r>
          </a:p>
          <a:p>
            <a:endParaRPr lang="en-GB" dirty="0"/>
          </a:p>
          <a:p>
            <a:r>
              <a:rPr lang="en-GB" dirty="0"/>
              <a:t>Use this slide as the pivot point in the talk: slides 6–10 (Phases 1–3) are the detailed</a:t>
            </a:r>
          </a:p>
          <a:p>
            <a:r>
              <a:rPr lang="en-GB" dirty="0"/>
              <a:t>walkthrough of exactly what sits in each column of this table. Tell the room: "keep this</a:t>
            </a:r>
          </a:p>
          <a:p>
            <a:r>
              <a:rPr lang="en-GB" dirty="0"/>
              <a:t>table in mind — every component we show next is either something Splunk ships, or</a:t>
            </a:r>
          </a:p>
          <a:p>
            <a:r>
              <a:rPr lang="en-GB" dirty="0"/>
              <a:t>something in this specific app that fills a gap."</a:t>
            </a:r>
          </a:p>
          <a:p>
            <a:endParaRPr lang="en-GB" dirty="0"/>
          </a:p>
          <a:p>
            <a:r>
              <a:rPr lang="en-GB" dirty="0"/>
              <a:t>Good ad-lib: `cim_actions.</a:t>
            </a:r>
            <a:r>
              <a:rPr lang="en-GB" dirty="0" err="1"/>
              <a:t>py</a:t>
            </a:r>
            <a:r>
              <a:rPr lang="en-GB" dirty="0"/>
              <a:t>`'s `</a:t>
            </a:r>
            <a:r>
              <a:rPr lang="en-GB" dirty="0" err="1"/>
              <a:t>ModularAction</a:t>
            </a:r>
            <a:r>
              <a:rPr lang="en-GB" dirty="0"/>
              <a:t>` class is what makes the notable's native</a:t>
            </a:r>
          </a:p>
          <a:p>
            <a:r>
              <a:rPr lang="en-GB" dirty="0"/>
              <a:t>"Adaptive Responses" panel / "View Adaptive Response Invocations" audit trail work</a:t>
            </a:r>
          </a:p>
          <a:p>
            <a:r>
              <a:rPr lang="en-GB" dirty="0"/>
              <a:t>automatically the moment you call `</a:t>
            </a:r>
            <a:r>
              <a:rPr lang="en-GB" dirty="0" err="1"/>
              <a:t>self.message</a:t>
            </a:r>
            <a:r>
              <a:rPr lang="en-GB" dirty="0"/>
              <a:t>(..., status=...)` — most people writing a</a:t>
            </a:r>
          </a:p>
          <a:p>
            <a:r>
              <a:rPr lang="en-GB" dirty="0"/>
              <a:t>custom alert action skip this and lose that free integration point.</a:t>
            </a:r>
          </a:p>
        </p:txBody>
      </p:sp>
      <p:sp>
        <p:nvSpPr>
          <p:cNvPr id="4" name="Slide Number Placeholder 3">
            <a:extLst>
              <a:ext uri="{FF2B5EF4-FFF2-40B4-BE49-F238E27FC236}">
                <a16:creationId xmlns:a16="http://schemas.microsoft.com/office/drawing/2014/main" id="{681D3871-AD9C-47B7-3187-37C81D480486}"/>
              </a:ext>
            </a:extLst>
          </p:cNvPr>
          <p:cNvSpPr>
            <a:spLocks noGrp="1"/>
          </p:cNvSpPr>
          <p:nvPr>
            <p:ph type="sldNum" sz="quarter" idx="5"/>
          </p:nvPr>
        </p:nvSpPr>
        <p:spPr/>
        <p:txBody>
          <a:bodyPr/>
          <a:lstStyle/>
          <a:p>
            <a:fld id="{4DBB4990-0A23-4A10-BE7D-7E64CAB85BE3}" type="slidenum">
              <a:rPr lang="en-US" smtClean="0"/>
              <a:pPr/>
              <a:t>11</a:t>
            </a:fld>
            <a:endParaRPr lang="en-US" dirty="0"/>
          </a:p>
        </p:txBody>
      </p:sp>
    </p:spTree>
    <p:extLst>
      <p:ext uri="{BB962C8B-B14F-4D97-AF65-F5344CB8AC3E}">
        <p14:creationId xmlns:p14="http://schemas.microsoft.com/office/powerpoint/2010/main" val="4041769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7D4EE-4C0B-380D-0C66-A6184A3AD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08B777-7704-6D32-1772-F2EE9F687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F75DB-13AD-425F-98C4-9F6A982E4E65}"/>
              </a:ext>
            </a:extLst>
          </p:cNvPr>
          <p:cNvSpPr>
            <a:spLocks noGrp="1"/>
          </p:cNvSpPr>
          <p:nvPr>
            <p:ph type="body" idx="1"/>
          </p:nvPr>
        </p:nvSpPr>
        <p:spPr/>
        <p:txBody>
          <a:bodyPr/>
          <a:lstStyle/>
          <a:p>
            <a:r>
              <a:rPr lang="en-GB" dirty="0"/>
              <a:t>This is the flashback slide: the *first* version of Phase 2, shipped as v1.3.1, and the</a:t>
            </a:r>
          </a:p>
          <a:p>
            <a:r>
              <a:rPr lang="en-GB" dirty="0"/>
              <a:t>moment "the AI said something" was supposed to become "Splunk can correlate, score, and</a:t>
            </a:r>
          </a:p>
          <a:p>
            <a:r>
              <a:rPr lang="en-GB" dirty="0"/>
              <a:t>dashboard what the AI said" by treating the verdict as a new CIM Risk modifier. It's a real,</a:t>
            </a:r>
          </a:p>
          <a:p>
            <a:r>
              <a:rPr lang="en-GB" dirty="0"/>
              <a:t>worked design — not a straw man — which is exactly why it's worth walking through before</a:t>
            </a:r>
          </a:p>
          <a:p>
            <a:r>
              <a:rPr lang="en-GB" dirty="0"/>
              <a:t>showing what replaced it. </a:t>
            </a:r>
          </a:p>
          <a:p>
            <a:endParaRPr lang="en-GB" dirty="0"/>
          </a:p>
          <a:p>
            <a:r>
              <a:rPr lang="en-GB" dirty="0"/>
              <a:t>Repeat the field-minimum claim from slide 3, now with the "why" fully spelled out: a risk</a:t>
            </a:r>
          </a:p>
          <a:p>
            <a:r>
              <a:rPr lang="en-GB" dirty="0"/>
              <a:t>modifier in the risk index is only usable by Risk Analysis and Incident Review once it</a:t>
            </a:r>
          </a:p>
          <a:p>
            <a:r>
              <a:rPr lang="en-GB" dirty="0"/>
              <a:t>carries, at minimum, `</a:t>
            </a:r>
            <a:r>
              <a:rPr lang="en-GB" dirty="0" err="1"/>
              <a:t>risk_object</a:t>
            </a:r>
            <a:r>
              <a:rPr lang="en-GB" dirty="0"/>
              <a:t>`, `</a:t>
            </a:r>
            <a:r>
              <a:rPr lang="en-GB" dirty="0" err="1"/>
              <a:t>risk_object_type</a:t>
            </a:r>
            <a:r>
              <a:rPr lang="en-GB" dirty="0"/>
              <a:t>`, and `</a:t>
            </a:r>
            <a:r>
              <a:rPr lang="en-GB" dirty="0" err="1"/>
              <a:t>risk_score</a:t>
            </a:r>
            <a:r>
              <a:rPr lang="en-GB" dirty="0"/>
              <a:t>`, because the Risk</a:t>
            </a:r>
          </a:p>
          <a:p>
            <a:r>
              <a:rPr lang="en-GB" dirty="0"/>
              <a:t>data model (`</a:t>
            </a:r>
            <a:r>
              <a:rPr lang="en-GB" dirty="0" err="1"/>
              <a:t>All_Risk</a:t>
            </a:r>
            <a:r>
              <a:rPr lang="en-GB" dirty="0"/>
              <a:t>`) accelerates exactly those fields, and an object's overall risk score</a:t>
            </a:r>
          </a:p>
          <a:p>
            <a:r>
              <a:rPr lang="en-GB" dirty="0"/>
              <a:t>is the sum of every risk modifier's `</a:t>
            </a:r>
            <a:r>
              <a:rPr lang="en-GB" dirty="0" err="1"/>
              <a:t>risk_score</a:t>
            </a:r>
            <a:r>
              <a:rPr lang="en-GB" dirty="0"/>
              <a:t>` for it — reference:</a:t>
            </a:r>
          </a:p>
          <a:p>
            <a:endParaRPr lang="en-GB" dirty="0"/>
          </a:p>
          <a:p>
            <a:endParaRPr lang="en-GB" dirty="0"/>
          </a:p>
          <a:p>
            <a:endParaRPr lang="en-GB" dirty="0"/>
          </a:p>
          <a:p>
            <a:r>
              <a:rPr lang="en-GB" dirty="0"/>
              <a:t>Bridge slide into "how does it actually read that reply back"</a:t>
            </a:r>
          </a:p>
        </p:txBody>
      </p:sp>
      <p:sp>
        <p:nvSpPr>
          <p:cNvPr id="4" name="Slide Number Placeholder 3">
            <a:extLst>
              <a:ext uri="{FF2B5EF4-FFF2-40B4-BE49-F238E27FC236}">
                <a16:creationId xmlns:a16="http://schemas.microsoft.com/office/drawing/2014/main" id="{FB560FA4-C0A5-DFBF-3696-D14BDA9E0932}"/>
              </a:ext>
            </a:extLst>
          </p:cNvPr>
          <p:cNvSpPr>
            <a:spLocks noGrp="1"/>
          </p:cNvSpPr>
          <p:nvPr>
            <p:ph type="sldNum" sz="quarter" idx="5"/>
          </p:nvPr>
        </p:nvSpPr>
        <p:spPr/>
        <p:txBody>
          <a:bodyPr/>
          <a:lstStyle/>
          <a:p>
            <a:fld id="{4DBB4990-0A23-4A10-BE7D-7E64CAB85BE3}" type="slidenum">
              <a:rPr lang="en-US" smtClean="0"/>
              <a:pPr/>
              <a:t>12</a:t>
            </a:fld>
            <a:endParaRPr lang="en-US" dirty="0"/>
          </a:p>
        </p:txBody>
      </p:sp>
    </p:spTree>
    <p:extLst>
      <p:ext uri="{BB962C8B-B14F-4D97-AF65-F5344CB8AC3E}">
        <p14:creationId xmlns:p14="http://schemas.microsoft.com/office/powerpoint/2010/main" val="951075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F04B5-D78C-0693-6E66-6C9605D54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492E4-47C7-FC38-69AB-1E3D1F303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7AE80-BCA0-6769-FB12-B838817CFE46}"/>
              </a:ext>
            </a:extLst>
          </p:cNvPr>
          <p:cNvSpPr>
            <a:spLocks noGrp="1"/>
          </p:cNvSpPr>
          <p:nvPr>
            <p:ph type="body" idx="1"/>
          </p:nvPr>
        </p:nvSpPr>
        <p:spPr/>
        <p:txBody>
          <a:bodyPr/>
          <a:lstStyle/>
          <a:p>
            <a:r>
              <a:rPr lang="en-GB" dirty="0"/>
              <a:t>his is Phase 3 — the payoff of Phases 1 and 2, and the clearest evidence that removing the</a:t>
            </a:r>
          </a:p>
          <a:p>
            <a:r>
              <a:rPr lang="en-GB" dirty="0"/>
              <a:t>bridge cost nothing structurally. Source:</a:t>
            </a:r>
          </a:p>
          <a:p>
            <a:endParaRPr lang="en-GB" dirty="0"/>
          </a:p>
          <a:p>
            <a:r>
              <a:rPr lang="en-GB" dirty="0"/>
              <a:t>Emphasise "not a bespoke store, and no second process" — this is the point where the</a:t>
            </a:r>
          </a:p>
          <a:p>
            <a:r>
              <a:rPr lang="en-GB" dirty="0"/>
              <a:t>"build vs. free" framing (slide 7) pays off most visibly: the same three write-back paths</a:t>
            </a:r>
          </a:p>
          <a:p>
            <a:r>
              <a:rPr lang="en-GB" dirty="0"/>
              <a:t>v1.2.0 already had now just also carry `</a:t>
            </a:r>
            <a:r>
              <a:rPr lang="en-GB" dirty="0" err="1"/>
              <a:t>perplexity_response</a:t>
            </a:r>
            <a:r>
              <a:rPr lang="en-GB" dirty="0"/>
              <a:t>`. Nothing new was invented to</a:t>
            </a:r>
          </a:p>
          <a:p>
            <a:r>
              <a:rPr lang="en-GB" dirty="0"/>
              <a:t>replace the bridge's writes — they were already there, waiting to be fed synchronously</a:t>
            </a:r>
          </a:p>
          <a:p>
            <a:r>
              <a:rPr lang="en-GB" dirty="0"/>
              <a:t>instead of asynchronously. Contrast explicitly with slide 8's take: the bridge *did* also</a:t>
            </a:r>
          </a:p>
          <a:p>
            <a:r>
              <a:rPr lang="en-GB" dirty="0"/>
              <a:t>feed the risk index via HEC, which this design deliberately doesn't do — that's the one</a:t>
            </a:r>
          </a:p>
          <a:p>
            <a:r>
              <a:rPr lang="en-GB" dirty="0"/>
              <a:t>real capability gap, named honestly rather than glossed over (see slide 3's caveat and</a:t>
            </a:r>
          </a:p>
          <a:p>
            <a:endParaRPr lang="en-GB" dirty="0"/>
          </a:p>
          <a:p>
            <a:r>
              <a:rPr lang="en-GB" dirty="0"/>
              <a:t>Close this slide with the full "retaining the principles of being agentic" loop, repeated</a:t>
            </a:r>
          </a:p>
          <a:p>
            <a:r>
              <a:rPr lang="en-GB" dirty="0"/>
              <a:t>from slide 5 but now every step has been shown concretely: **detect** (correlation search)</a:t>
            </a:r>
          </a:p>
          <a:p>
            <a:r>
              <a:rPr lang="en-GB" dirty="0"/>
              <a:t>→ **decide** (agentic AI against the standing `</a:t>
            </a:r>
            <a:r>
              <a:rPr lang="en-GB" dirty="0" err="1"/>
              <a:t>perplexity_ask</a:t>
            </a:r>
            <a:r>
              <a:rPr lang="en-GB" dirty="0"/>
              <a:t>` checks, in-line) → **act**</a:t>
            </a:r>
          </a:p>
          <a:p>
            <a:r>
              <a:rPr lang="en-GB" dirty="0"/>
              <a:t>(Slack + notable comment + KV store write-back, same call) → **record** (native Adaptive</a:t>
            </a:r>
          </a:p>
          <a:p>
            <a:r>
              <a:rPr lang="en-GB" dirty="0"/>
              <a:t>Response panel, Incident Review) — one continuous loop, closed without a human in the</a:t>
            </a:r>
          </a:p>
          <a:p>
            <a:r>
              <a:rPr lang="en-GB" dirty="0"/>
              <a:t>middle of it, closed synchronously.</a:t>
            </a:r>
          </a:p>
          <a:p>
            <a:endParaRPr lang="en-GB" dirty="0"/>
          </a:p>
          <a:p>
            <a:r>
              <a:rPr lang="en-GB" dirty="0"/>
              <a:t>Transition line into the demo: "so let's actually see this fire, end to end — and notice how</a:t>
            </a:r>
          </a:p>
          <a:p>
            <a:r>
              <a:rPr lang="en-GB" dirty="0"/>
              <a:t>few steps that actually is now."</a:t>
            </a:r>
          </a:p>
          <a:p>
            <a:endParaRPr lang="en-GB" dirty="0"/>
          </a:p>
        </p:txBody>
      </p:sp>
      <p:sp>
        <p:nvSpPr>
          <p:cNvPr id="4" name="Slide Number Placeholder 3">
            <a:extLst>
              <a:ext uri="{FF2B5EF4-FFF2-40B4-BE49-F238E27FC236}">
                <a16:creationId xmlns:a16="http://schemas.microsoft.com/office/drawing/2014/main" id="{B4A96F92-24E0-42C5-2653-8C001E77881A}"/>
              </a:ext>
            </a:extLst>
          </p:cNvPr>
          <p:cNvSpPr>
            <a:spLocks noGrp="1"/>
          </p:cNvSpPr>
          <p:nvPr>
            <p:ph type="sldNum" sz="quarter" idx="5"/>
          </p:nvPr>
        </p:nvSpPr>
        <p:spPr/>
        <p:txBody>
          <a:bodyPr/>
          <a:lstStyle/>
          <a:p>
            <a:fld id="{4DBB4990-0A23-4A10-BE7D-7E64CAB85BE3}" type="slidenum">
              <a:rPr lang="en-US" smtClean="0"/>
              <a:pPr/>
              <a:t>13</a:t>
            </a:fld>
            <a:endParaRPr lang="en-US" dirty="0"/>
          </a:p>
        </p:txBody>
      </p:sp>
    </p:spTree>
    <p:extLst>
      <p:ext uri="{BB962C8B-B14F-4D97-AF65-F5344CB8AC3E}">
        <p14:creationId xmlns:p14="http://schemas.microsoft.com/office/powerpoint/2010/main" val="3656289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14</a:t>
            </a:fld>
            <a:endParaRPr lang="en-US" dirty="0"/>
          </a:p>
        </p:txBody>
      </p:sp>
    </p:spTree>
    <p:extLst>
      <p:ext uri="{BB962C8B-B14F-4D97-AF65-F5344CB8AC3E}">
        <p14:creationId xmlns:p14="http://schemas.microsoft.com/office/powerpoint/2010/main" val="3773726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live demo slide — talk through the five numbered steps as you drive the actual</a:t>
            </a:r>
          </a:p>
          <a:p>
            <a:r>
              <a:rPr lang="en-GB" dirty="0"/>
              <a:t>Splunk instance, Slack workspace, and dashboards. Supporting demo scripts/config live in</a:t>
            </a:r>
          </a:p>
          <a:p>
            <a:endParaRPr lang="en-GB" dirty="0"/>
          </a:p>
          <a:p>
            <a:r>
              <a:rPr lang="en-GB" dirty="0"/>
              <a:t>Suggested pacing for a 20-minute session: this demo now runs noticeably faster than the</a:t>
            </a:r>
          </a:p>
          <a:p>
            <a:r>
              <a:rPr lang="en-GB" dirty="0"/>
              <a:t>version of this talk that would have run against v1.3.1–v1.3.2 — there's no 60-second poll</a:t>
            </a:r>
          </a:p>
          <a:p>
            <a:r>
              <a:rPr lang="en-GB" dirty="0"/>
              <a:t>interval to wait out anymore, because there's no poll at all. Say that out loud: "the old</a:t>
            </a:r>
          </a:p>
          <a:p>
            <a:r>
              <a:rPr lang="en-GB" dirty="0"/>
              <a:t>version of this demo had a built-in coffee-break while we waited for a bridge to notice a</a:t>
            </a:r>
          </a:p>
          <a:p>
            <a:r>
              <a:rPr lang="en-GB" dirty="0"/>
              <a:t>Slack reply — watch how long this takes now." Have a fallback screenshot ready regardless,</a:t>
            </a:r>
          </a:p>
          <a:p>
            <a:r>
              <a:rPr lang="en-GB" dirty="0"/>
              <a:t>in case the live Perplexity API call is slow or the network is uncooperative on the day, but</a:t>
            </a:r>
          </a:p>
          <a:p>
            <a:r>
              <a:rPr lang="en-GB" dirty="0"/>
              <a:t>you should no longer need it purely to skip a polling delay.</a:t>
            </a:r>
          </a:p>
          <a:p>
            <a:endParaRPr lang="en-GB" dirty="0"/>
          </a:p>
          <a:p>
            <a:r>
              <a:rPr lang="en-GB" dirty="0"/>
              <a:t>Things to physically point at on screen for maximum impact:</a:t>
            </a:r>
          </a:p>
          <a:p>
            <a:endParaRPr lang="en-GB" dirty="0"/>
          </a:p>
          <a:p>
            <a:r>
              <a:rPr lang="en-GB" dirty="0"/>
              <a:t>- The Adaptive Responses panel entry (backed by `cim_actions.</a:t>
            </a:r>
            <a:r>
              <a:rPr lang="en-GB" dirty="0" err="1"/>
              <a:t>py</a:t>
            </a:r>
            <a:r>
              <a:rPr lang="en-GB" dirty="0"/>
              <a:t>`'s `</a:t>
            </a:r>
            <a:r>
              <a:rPr lang="en-GB" dirty="0" err="1"/>
              <a:t>ModularAction</a:t>
            </a:r>
            <a:r>
              <a:rPr lang="en-GB" dirty="0"/>
              <a:t>` — see</a:t>
            </a:r>
          </a:p>
          <a:p>
            <a:r>
              <a:rPr lang="en-GB" dirty="0"/>
              <a:t>  slide 7) — proves the native panel integration works without any custom UI code.</a:t>
            </a:r>
          </a:p>
          <a:p>
            <a:r>
              <a:rPr lang="en-GB" dirty="0"/>
              <a:t>- The KV-store drilldown dashboard</a:t>
            </a:r>
          </a:p>
          <a:p>
            <a:r>
              <a:rPr lang="en-GB" dirty="0"/>
              <a:t>  (`default/data/</a:t>
            </a:r>
            <a:r>
              <a:rPr lang="en-GB" dirty="0" err="1"/>
              <a:t>ui</a:t>
            </a:r>
            <a:r>
              <a:rPr lang="en-GB" dirty="0"/>
              <a:t>/views/</a:t>
            </a:r>
            <a:r>
              <a:rPr lang="en-GB" dirty="0" err="1"/>
              <a:t>notable_slack_enrichment_drilldown.xml</a:t>
            </a:r>
            <a:r>
              <a:rPr lang="en-GB" dirty="0"/>
              <a:t>`) — shows the full</a:t>
            </a:r>
          </a:p>
          <a:p>
            <a:r>
              <a:rPr lang="en-GB" dirty="0"/>
              <a:t>  `</a:t>
            </a:r>
            <a:r>
              <a:rPr lang="en-GB" dirty="0" err="1"/>
              <a:t>perplexity_ask</a:t>
            </a:r>
            <a:r>
              <a:rPr lang="en-GB" dirty="0"/>
              <a:t>`/`</a:t>
            </a:r>
            <a:r>
              <a:rPr lang="en-GB" dirty="0" err="1"/>
              <a:t>perplexity_response</a:t>
            </a:r>
            <a:r>
              <a:rPr lang="en-GB" dirty="0"/>
              <a:t>` pair, ask and answer side by side, next to the</a:t>
            </a:r>
          </a:p>
          <a:p>
            <a:r>
              <a:rPr lang="en-GB" dirty="0"/>
              <a:t>  rest of the enrichment record.</a:t>
            </a:r>
          </a:p>
          <a:p>
            <a:r>
              <a:rPr lang="en-GB" dirty="0"/>
              <a:t>- The notable comment itself in Incident Review's Activity timeline — this is the moment to</a:t>
            </a:r>
          </a:p>
          <a:p>
            <a:r>
              <a:rPr lang="en-GB" dirty="0"/>
              <a:t>  say "this landed the moment the alert action ran, not sixty seconds and a Slack reply</a:t>
            </a:r>
          </a:p>
          <a:p>
            <a:r>
              <a:rPr lang="en-GB" dirty="0"/>
              <a:t>  later." (Skip the `</a:t>
            </a:r>
            <a:r>
              <a:rPr lang="en-GB" dirty="0" err="1"/>
              <a:t>All_Risk</a:t>
            </a:r>
            <a:r>
              <a:rPr lang="en-GB" dirty="0"/>
              <a:t>`/risk-index </a:t>
            </a:r>
            <a:r>
              <a:rPr lang="en-GB" dirty="0" err="1"/>
              <a:t>datamodel</a:t>
            </a:r>
            <a:r>
              <a:rPr lang="en-GB" dirty="0"/>
              <a:t> search that would have been here in an</a:t>
            </a:r>
          </a:p>
          <a:p>
            <a:r>
              <a:rPr lang="en-GB" dirty="0"/>
              <a:t>  earlier version of this demo — v1.3.3 deliberately doesn't write to the risk index; see</a:t>
            </a:r>
          </a:p>
          <a:p>
            <a:r>
              <a:rPr lang="en-GB" dirty="0"/>
              <a:t>  slide 8's honest scope note if anyone asks why.)</a:t>
            </a:r>
          </a:p>
        </p:txBody>
      </p:sp>
      <p:sp>
        <p:nvSpPr>
          <p:cNvPr id="4" name="Slide Number Placeholder 3"/>
          <p:cNvSpPr>
            <a:spLocks noGrp="1"/>
          </p:cNvSpPr>
          <p:nvPr>
            <p:ph type="sldNum" sz="quarter" idx="5"/>
          </p:nvPr>
        </p:nvSpPr>
        <p:spPr/>
        <p:txBody>
          <a:bodyPr/>
          <a:lstStyle/>
          <a:p>
            <a:fld id="{4DBB4990-0A23-4A10-BE7D-7E64CAB85BE3}" type="slidenum">
              <a:rPr lang="en-US" smtClean="0"/>
              <a:pPr/>
              <a:t>15</a:t>
            </a:fld>
            <a:endParaRPr lang="en-US" dirty="0"/>
          </a:p>
        </p:txBody>
      </p:sp>
    </p:spTree>
    <p:extLst>
      <p:ext uri="{BB962C8B-B14F-4D97-AF65-F5344CB8AC3E}">
        <p14:creationId xmlns:p14="http://schemas.microsoft.com/office/powerpoint/2010/main" val="7608375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16</a:t>
            </a:fld>
            <a:endParaRPr lang="en-US" dirty="0"/>
          </a:p>
        </p:txBody>
      </p:sp>
    </p:spTree>
    <p:extLst>
      <p:ext uri="{BB962C8B-B14F-4D97-AF65-F5344CB8AC3E}">
        <p14:creationId xmlns:p14="http://schemas.microsoft.com/office/powerpoint/2010/main" val="1042201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**Pitfall 1 detail:** cite the actual API reference so the audience can verify this</a:t>
            </a:r>
          </a:p>
          <a:p>
            <a:r>
              <a:rPr lang="en-GB" dirty="0"/>
              <a:t>themselves —</a:t>
            </a:r>
          </a:p>
          <a:p>
            <a:r>
              <a:rPr lang="en-GB" dirty="0"/>
              <a:t>[Notable Event API reference](https://</a:t>
            </a:r>
            <a:r>
              <a:rPr lang="en-GB" dirty="0" err="1"/>
              <a:t>help.splunk.com</a:t>
            </a:r>
            <a:r>
              <a:rPr lang="en-GB" dirty="0"/>
              <a:t>/</a:t>
            </a:r>
            <a:r>
              <a:rPr lang="en-GB" dirty="0" err="1"/>
              <a:t>en</a:t>
            </a:r>
            <a:r>
              <a:rPr lang="en-GB" dirty="0"/>
              <a:t>/splunk-enterprise-security-7/</a:t>
            </a:r>
            <a:r>
              <a:rPr lang="en-GB" dirty="0" err="1"/>
              <a:t>api</a:t>
            </a:r>
            <a:r>
              <a:rPr lang="en-GB" dirty="0"/>
              <a:t>-reference/7.3/notable-event-endpoints/notable-event-</a:t>
            </a:r>
            <a:r>
              <a:rPr lang="en-GB" dirty="0" err="1"/>
              <a:t>api</a:t>
            </a:r>
            <a:r>
              <a:rPr lang="en-GB" dirty="0"/>
              <a:t>-reference).</a:t>
            </a:r>
          </a:p>
          <a:p>
            <a:r>
              <a:rPr lang="en-GB" dirty="0"/>
              <a:t>The lesson: don't assume "notable enrichment" means a new indexed field appears on the</a:t>
            </a:r>
          </a:p>
          <a:p>
            <a:r>
              <a:rPr lang="en-GB" dirty="0"/>
              <a:t>notable itself — in practice it means "a comment, plus a structured record surfaced via a</a:t>
            </a:r>
          </a:p>
          <a:p>
            <a:r>
              <a:rPr lang="en-GB" dirty="0"/>
              <a:t>custom drilldown," which is exactly what `</a:t>
            </a:r>
            <a:r>
              <a:rPr lang="en-GB" dirty="0" err="1"/>
              <a:t>TA_ResponseActions</a:t>
            </a:r>
            <a:r>
              <a:rPr lang="en-GB" dirty="0"/>
              <a:t>` v1.2.0 already built before</a:t>
            </a:r>
          </a:p>
          <a:p>
            <a:r>
              <a:rPr lang="en-GB" dirty="0"/>
              <a:t>Phase 2/3 existed. This is worth saying plainly to the room: the talk's narrative can make</a:t>
            </a:r>
          </a:p>
          <a:p>
            <a:r>
              <a:rPr lang="en-GB" dirty="0"/>
              <a:t>this sound like a new REST write capability; it isn't one.</a:t>
            </a:r>
          </a:p>
          <a:p>
            <a:endParaRPr lang="en-GB" dirty="0"/>
          </a:p>
          <a:p>
            <a:r>
              <a:rPr lang="en-GB" dirty="0"/>
              <a:t>**Pitfall 2 detail:** frame this one differently from Pitfall 1 — it's not "here's a</a:t>
            </a:r>
          </a:p>
          <a:p>
            <a:r>
              <a:rPr lang="en-GB" dirty="0"/>
              <a:t>constraint you still have to live with," it's "here's a whole category of bug the team</a:t>
            </a:r>
          </a:p>
          <a:p>
            <a:r>
              <a:rPr lang="en-GB" dirty="0"/>
              <a:t>doesn't have anymore, and here's exactly why." This was the "silent failure" pitfall — the</a:t>
            </a:r>
          </a:p>
          <a:p>
            <a:r>
              <a:rPr lang="en-GB" dirty="0"/>
              <a:t>most dangerous kind, because there was no exception, no log error, nothing; the only</a:t>
            </a:r>
          </a:p>
          <a:p>
            <a:r>
              <a:rPr lang="en-GB" dirty="0"/>
              <a:t>symptom was that `</a:t>
            </a:r>
            <a:r>
              <a:rPr lang="en-GB" dirty="0" err="1"/>
              <a:t>awaiting_ai_response</a:t>
            </a:r>
            <a:r>
              <a:rPr lang="en-GB" dirty="0"/>
              <a:t>` never flipped to `1` on that KV-store record, so</a:t>
            </a:r>
          </a:p>
          <a:p>
            <a:r>
              <a:rPr lang="en-GB" dirty="0"/>
              <a:t>the bridge never picked it up. The reaction, once this was understood: don't add a check</a:t>
            </a:r>
          </a:p>
          <a:p>
            <a:r>
              <a:rPr lang="en-GB" dirty="0"/>
              <a:t>for it, don't add a warning log for it, remove the thing that made it possible — the</a:t>
            </a:r>
          </a:p>
          <a:p>
            <a:r>
              <a:rPr lang="en-GB" dirty="0"/>
              <a:t>synchronous call in v1.3.3 has no delivery-method dependency because it never reads</a:t>
            </a:r>
          </a:p>
          <a:p>
            <a:r>
              <a:rPr lang="en-GB" dirty="0"/>
              <a:t>anything back out of Slack at all. That's the "trusted the platform" move in concrete</a:t>
            </a:r>
          </a:p>
          <a:p>
            <a:r>
              <a:rPr lang="en-GB" dirty="0"/>
              <a:t>form: trusting that the alert action already had every byte it needed, in-process, meant</a:t>
            </a:r>
          </a:p>
          <a:p>
            <a:r>
              <a:rPr lang="en-GB" dirty="0"/>
              <a:t>not needing a second read path in the first place. </a:t>
            </a:r>
          </a:p>
        </p:txBody>
      </p:sp>
      <p:sp>
        <p:nvSpPr>
          <p:cNvPr id="4" name="Slide Number Placeholder 3"/>
          <p:cNvSpPr>
            <a:spLocks noGrp="1"/>
          </p:cNvSpPr>
          <p:nvPr>
            <p:ph type="sldNum" sz="quarter" idx="5"/>
          </p:nvPr>
        </p:nvSpPr>
        <p:spPr/>
        <p:txBody>
          <a:bodyPr/>
          <a:lstStyle/>
          <a:p>
            <a:fld id="{4DBB4990-0A23-4A10-BE7D-7E64CAB85BE3}" type="slidenum">
              <a:rPr lang="en-US" smtClean="0"/>
              <a:pPr/>
              <a:t>17</a:t>
            </a:fld>
            <a:endParaRPr lang="en-US" dirty="0"/>
          </a:p>
        </p:txBody>
      </p:sp>
    </p:spTree>
    <p:extLst>
      <p:ext uri="{BB962C8B-B14F-4D97-AF65-F5344CB8AC3E}">
        <p14:creationId xmlns:p14="http://schemas.microsoft.com/office/powerpoint/2010/main" val="1095263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7743-18A8-526C-D478-FA0D83FBAE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5B9B5-B5FA-22E2-CB62-E25E8C003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F3D59-0575-488F-52B0-A10D078FC2A5}"/>
              </a:ext>
            </a:extLst>
          </p:cNvPr>
          <p:cNvSpPr>
            <a:spLocks noGrp="1"/>
          </p:cNvSpPr>
          <p:nvPr>
            <p:ph type="body" idx="1"/>
          </p:nvPr>
        </p:nvSpPr>
        <p:spPr/>
        <p:txBody>
          <a:bodyPr/>
          <a:lstStyle/>
          <a:p>
            <a:r>
              <a:rPr lang="en-GB" dirty="0"/>
              <a:t>**Pitfall 3 detail:** this is the direct payback for slide 8's design — tell the story as</a:t>
            </a:r>
          </a:p>
          <a:p>
            <a:r>
              <a:rPr lang="en-GB" dirty="0"/>
              <a:t>"we tried it the naive way first" (just ask the AI to answer the checks, parse whatever</a:t>
            </a:r>
          </a:p>
          <a:p>
            <a:r>
              <a:rPr lang="en-GB" dirty="0"/>
              <a:t>comes back) "and it didn't work reliably enough to trust." The interim fix that shipped in</a:t>
            </a:r>
          </a:p>
          <a:p>
            <a:r>
              <a:rPr lang="en-GB" dirty="0"/>
              <a:t>v1.3.1: `</a:t>
            </a:r>
            <a:r>
              <a:rPr lang="en-GB" dirty="0" err="1"/>
              <a:t>reply_format</a:t>
            </a:r>
            <a:r>
              <a:rPr lang="en-GB" dirty="0"/>
              <a:t>` pinned into `</a:t>
            </a:r>
            <a:r>
              <a:rPr lang="en-GB" dirty="0" err="1"/>
              <a:t>alert_actions.conf`'s</a:t>
            </a:r>
            <a:r>
              <a:rPr lang="en-GB" dirty="0"/>
              <a:t> `</a:t>
            </a:r>
            <a:r>
              <a:rPr lang="en-GB" dirty="0" err="1"/>
              <a:t>perplexity_ask.additional_fields</a:t>
            </a:r>
            <a:r>
              <a:rPr lang="en-GB" dirty="0"/>
              <a:t>`</a:t>
            </a:r>
          </a:p>
          <a:p>
            <a:r>
              <a:rPr lang="en-GB" dirty="0"/>
              <a:t>block, instructing the AI to "Reply in this thread with ONLY a single JSON object, no prose</a:t>
            </a:r>
          </a:p>
          <a:p>
            <a:r>
              <a:rPr lang="en-GB" dirty="0"/>
              <a:t>before or after it." Reinforce the resilience point from slide 9 as a real, credited</a:t>
            </a:r>
          </a:p>
          <a:p>
            <a:r>
              <a:rPr lang="en-GB" dirty="0"/>
              <a:t>engineering decision at the time: a parse failure never crashed the </a:t>
            </a:r>
            <a:r>
              <a:rPr lang="en-GB" dirty="0" err="1"/>
              <a:t>poller</a:t>
            </a:r>
            <a:r>
              <a:rPr lang="en-GB" dirty="0"/>
              <a:t>, it just left</a:t>
            </a:r>
          </a:p>
          <a:p>
            <a:r>
              <a:rPr lang="en-GB" dirty="0"/>
              <a:t>`</a:t>
            </a:r>
            <a:r>
              <a:rPr lang="en-GB" dirty="0" err="1"/>
              <a:t>awaiting_ai_response</a:t>
            </a:r>
            <a:r>
              <a:rPr lang="en-GB" dirty="0"/>
              <a:t>=1` so nothing silently vanished. Then land the actual pivot: once the</a:t>
            </a:r>
          </a:p>
          <a:p>
            <a:r>
              <a:rPr lang="en-GB" dirty="0"/>
              <a:t>team was already deep in "how do we make an LLM reliably emit JSON," someone noticed</a:t>
            </a:r>
          </a:p>
          <a:p>
            <a:r>
              <a:rPr lang="en-GB" dirty="0"/>
              <a:t>Perplexity's own API already solves exactly that problem as a first-class feature —</a:t>
            </a:r>
          </a:p>
          <a:p>
            <a:r>
              <a:rPr lang="en-GB" dirty="0"/>
              <a:t>`</a:t>
            </a:r>
            <a:r>
              <a:rPr lang="en-GB" dirty="0" err="1"/>
              <a:t>response_format</a:t>
            </a:r>
            <a:r>
              <a:rPr lang="en-GB" dirty="0"/>
              <a:t>` — and trusting that feature made the prompt-pinning workaround</a:t>
            </a:r>
          </a:p>
          <a:p>
            <a:r>
              <a:rPr lang="en-GB" dirty="0"/>
              <a:t>unnecessary entirely. That's the react-fast beat: don't keep polishing the workaround once</a:t>
            </a:r>
          </a:p>
          <a:p>
            <a:r>
              <a:rPr lang="en-GB" dirty="0"/>
              <a:t>you've spotted the platform already had the answer.</a:t>
            </a:r>
          </a:p>
        </p:txBody>
      </p:sp>
      <p:sp>
        <p:nvSpPr>
          <p:cNvPr id="4" name="Slide Number Placeholder 3">
            <a:extLst>
              <a:ext uri="{FF2B5EF4-FFF2-40B4-BE49-F238E27FC236}">
                <a16:creationId xmlns:a16="http://schemas.microsoft.com/office/drawing/2014/main" id="{4C687030-F432-AE05-FA05-C921387E7144}"/>
              </a:ext>
            </a:extLst>
          </p:cNvPr>
          <p:cNvSpPr>
            <a:spLocks noGrp="1"/>
          </p:cNvSpPr>
          <p:nvPr>
            <p:ph type="sldNum" sz="quarter" idx="5"/>
          </p:nvPr>
        </p:nvSpPr>
        <p:spPr/>
        <p:txBody>
          <a:bodyPr/>
          <a:lstStyle/>
          <a:p>
            <a:fld id="{4DBB4990-0A23-4A10-BE7D-7E64CAB85BE3}" type="slidenum">
              <a:rPr lang="en-US" smtClean="0"/>
              <a:pPr/>
              <a:t>18</a:t>
            </a:fld>
            <a:endParaRPr lang="en-US" dirty="0"/>
          </a:p>
        </p:txBody>
      </p:sp>
    </p:spTree>
    <p:extLst>
      <p:ext uri="{BB962C8B-B14F-4D97-AF65-F5344CB8AC3E}">
        <p14:creationId xmlns:p14="http://schemas.microsoft.com/office/powerpoint/2010/main" val="40332700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ED2D-1388-5461-9BA0-B1DDB269D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E1DBD-92BF-9B3E-CD40-DB81BE5E4D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83E65-1D02-0837-CD22-691DF9ADD5AD}"/>
              </a:ext>
            </a:extLst>
          </p:cNvPr>
          <p:cNvSpPr>
            <a:spLocks noGrp="1"/>
          </p:cNvSpPr>
          <p:nvPr>
            <p:ph type="body" idx="1"/>
          </p:nvPr>
        </p:nvSpPr>
        <p:spPr/>
        <p:txBody>
          <a:bodyPr/>
          <a:lstStyle/>
          <a:p>
            <a:r>
              <a:rPr lang="en-GB" dirty="0"/>
              <a:t>**Pitfall 4 detail:** </a:t>
            </a:r>
          </a:p>
          <a:p>
            <a:endParaRPr lang="en-GB" dirty="0"/>
          </a:p>
          <a:p>
            <a:r>
              <a:rPr lang="en-GB" dirty="0"/>
              <a:t>be honest that the original scripted-input choice was a deliberate,</a:t>
            </a:r>
          </a:p>
          <a:p>
            <a:r>
              <a:rPr lang="en-GB" dirty="0"/>
              <a:t>considered trade-off, not a shortcut taken by accident — flag it as a decision point every</a:t>
            </a:r>
          </a:p>
          <a:p>
            <a:r>
              <a:rPr lang="en-GB" dirty="0"/>
              <a:t>team building something similar will face. Classic scripted inputs are faster to ship for a</a:t>
            </a:r>
          </a:p>
          <a:p>
            <a:r>
              <a:rPr lang="en-GB" dirty="0"/>
              <a:t>single internal component with one maintainer; full modular inputs pay off once you need</a:t>
            </a:r>
          </a:p>
          <a:p>
            <a:r>
              <a:rPr lang="en-GB" dirty="0"/>
              <a:t>Splunk Web's config UI, validation, and multi-instance/clustering-aware input management for</a:t>
            </a:r>
          </a:p>
          <a:p>
            <a:r>
              <a:rPr lang="en-GB" dirty="0"/>
              <a:t>something other people will configure. What actually happened here, though, is a step</a:t>
            </a:r>
          </a:p>
          <a:p>
            <a:r>
              <a:rPr lang="en-GB" dirty="0"/>
              <a:t>further than "we'd pick modular input next time": once Phase 2/3 collapsed into a</a:t>
            </a:r>
          </a:p>
          <a:p>
            <a:r>
              <a:rPr lang="en-GB" dirty="0"/>
              <a:t>synchronous in-process call, there was no </a:t>
            </a:r>
            <a:r>
              <a:rPr lang="en-GB" dirty="0" err="1"/>
              <a:t>poller</a:t>
            </a:r>
            <a:r>
              <a:rPr lang="en-GB" dirty="0"/>
              <a:t> left to configure at all — the entire</a:t>
            </a:r>
          </a:p>
          <a:p>
            <a:r>
              <a:rPr lang="en-GB" dirty="0"/>
              <a:t>class of problem ("how do we expose this scripted input's settings nicely") disappeared</a:t>
            </a:r>
          </a:p>
          <a:p>
            <a:r>
              <a:rPr lang="en-GB" dirty="0"/>
              <a:t>along with the component. Emphasise this as the clearest example in the whole talk of</a:t>
            </a:r>
          </a:p>
          <a:p>
            <a:r>
              <a:rPr lang="en-GB" dirty="0"/>
              <a:t>reacting to a pitfall by removing its cause rather than mitigating it.</a:t>
            </a:r>
          </a:p>
          <a:p>
            <a:endParaRPr lang="en-GB" dirty="0"/>
          </a:p>
        </p:txBody>
      </p:sp>
      <p:sp>
        <p:nvSpPr>
          <p:cNvPr id="4" name="Slide Number Placeholder 3">
            <a:extLst>
              <a:ext uri="{FF2B5EF4-FFF2-40B4-BE49-F238E27FC236}">
                <a16:creationId xmlns:a16="http://schemas.microsoft.com/office/drawing/2014/main" id="{88177AB3-8247-3A45-231F-27F3519A0A46}"/>
              </a:ext>
            </a:extLst>
          </p:cNvPr>
          <p:cNvSpPr>
            <a:spLocks noGrp="1"/>
          </p:cNvSpPr>
          <p:nvPr>
            <p:ph type="sldNum" sz="quarter" idx="5"/>
          </p:nvPr>
        </p:nvSpPr>
        <p:spPr/>
        <p:txBody>
          <a:bodyPr/>
          <a:lstStyle/>
          <a:p>
            <a:fld id="{4DBB4990-0A23-4A10-BE7D-7E64CAB85BE3}" type="slidenum">
              <a:rPr lang="en-US" smtClean="0"/>
              <a:pPr/>
              <a:t>19</a:t>
            </a:fld>
            <a:endParaRPr lang="en-US" dirty="0"/>
          </a:p>
        </p:txBody>
      </p:sp>
    </p:spTree>
    <p:extLst>
      <p:ext uri="{BB962C8B-B14F-4D97-AF65-F5344CB8AC3E}">
        <p14:creationId xmlns:p14="http://schemas.microsoft.com/office/powerpoint/2010/main" val="22560039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66B3-AEC8-2BF3-1E3A-2C967D5E4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8CC20-A7ED-BA27-EA44-3D73C5275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6F5721-B89D-6D36-C963-00B27735647A}"/>
              </a:ext>
            </a:extLst>
          </p:cNvPr>
          <p:cNvSpPr>
            <a:spLocks noGrp="1"/>
          </p:cNvSpPr>
          <p:nvPr>
            <p:ph type="body" idx="1"/>
          </p:nvPr>
        </p:nvSpPr>
        <p:spPr/>
        <p:txBody>
          <a:bodyPr/>
          <a:lstStyle/>
          <a:p>
            <a:r>
              <a:rPr lang="en-GB" dirty="0"/>
              <a:t>Structure: one real architecture, built twice — what we shipped first, what it taught us, and</a:t>
            </a:r>
          </a:p>
          <a:p>
            <a:r>
              <a:rPr lang="en-GB" dirty="0"/>
              <a:t>the simpler version running today → a live look at each phase → the pitfalls that drove the</a:t>
            </a:r>
          </a:p>
          <a:p>
            <a:r>
              <a:rPr lang="en-GB" dirty="0"/>
              <a:t>rebuild, so you don't have to hit them yourself.</a:t>
            </a:r>
          </a:p>
          <a:p>
            <a:endParaRPr lang="en-GB" dirty="0"/>
          </a:p>
          <a:p>
            <a:r>
              <a:rPr lang="en-GB" dirty="0"/>
              <a:t>## Speakers Notes</a:t>
            </a:r>
          </a:p>
          <a:p>
            <a:endParaRPr lang="en-GB" dirty="0"/>
          </a:p>
          <a:p>
            <a:r>
              <a:rPr lang="en-GB" dirty="0"/>
              <a:t>These three takeaways come directly from the session abstract and are the spine of the</a:t>
            </a:r>
          </a:p>
          <a:p>
            <a:r>
              <a:rPr lang="en-GB" dirty="0"/>
              <a:t>whole talk — every section maps back to one of them, and slide 14 closes by revisiting all</a:t>
            </a:r>
          </a:p>
          <a:p>
            <a:r>
              <a:rPr lang="en-GB" dirty="0"/>
              <a:t>three explicitly. </a:t>
            </a:r>
          </a:p>
          <a:p>
            <a:endParaRPr lang="en-GB" dirty="0"/>
          </a:p>
          <a:p>
            <a:endParaRPr lang="en-GB" dirty="0"/>
          </a:p>
          <a:p>
            <a:r>
              <a:rPr lang="en-GB" dirty="0"/>
              <a:t>Set expectations here: this isn't a roadmap or a vision talk. </a:t>
            </a:r>
          </a:p>
        </p:txBody>
      </p:sp>
      <p:sp>
        <p:nvSpPr>
          <p:cNvPr id="4" name="Slide Number Placeholder 3">
            <a:extLst>
              <a:ext uri="{FF2B5EF4-FFF2-40B4-BE49-F238E27FC236}">
                <a16:creationId xmlns:a16="http://schemas.microsoft.com/office/drawing/2014/main" id="{52F1EDF1-D2BC-6B25-3797-F55E22F56260}"/>
              </a:ext>
            </a:extLst>
          </p:cNvPr>
          <p:cNvSpPr>
            <a:spLocks noGrp="1"/>
          </p:cNvSpPr>
          <p:nvPr>
            <p:ph type="sldNum" sz="quarter" idx="5"/>
          </p:nvPr>
        </p:nvSpPr>
        <p:spPr/>
        <p:txBody>
          <a:bodyPr/>
          <a:lstStyle/>
          <a:p>
            <a:fld id="{4DBB4990-0A23-4A10-BE7D-7E64CAB85BE3}" type="slidenum">
              <a:rPr lang="en-US" smtClean="0"/>
              <a:pPr/>
              <a:t>20</a:t>
            </a:fld>
            <a:endParaRPr lang="en-US" dirty="0"/>
          </a:p>
        </p:txBody>
      </p:sp>
    </p:spTree>
    <p:extLst>
      <p:ext uri="{BB962C8B-B14F-4D97-AF65-F5344CB8AC3E}">
        <p14:creationId xmlns:p14="http://schemas.microsoft.com/office/powerpoint/2010/main" val="12403747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0B427-056F-E081-FD3D-83B21994BD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9DB5B-4F0A-17FA-8943-4407BC7AD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C41DD-51F3-0A59-342A-6FB69E39DA5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C6F8054-5E5D-2FF2-B4E8-A58E6B1E0C39}"/>
              </a:ext>
            </a:extLst>
          </p:cNvPr>
          <p:cNvSpPr>
            <a:spLocks noGrp="1"/>
          </p:cNvSpPr>
          <p:nvPr>
            <p:ph type="sldNum" sz="quarter" idx="5"/>
          </p:nvPr>
        </p:nvSpPr>
        <p:spPr/>
        <p:txBody>
          <a:bodyPr/>
          <a:lstStyle/>
          <a:p>
            <a:fld id="{4DBB4990-0A23-4A10-BE7D-7E64CAB85BE3}" type="slidenum">
              <a:rPr lang="en-US" smtClean="0"/>
              <a:pPr/>
              <a:t>21</a:t>
            </a:fld>
            <a:endParaRPr lang="en-US" dirty="0"/>
          </a:p>
        </p:txBody>
      </p:sp>
    </p:spTree>
    <p:extLst>
      <p:ext uri="{BB962C8B-B14F-4D97-AF65-F5344CB8AC3E}">
        <p14:creationId xmlns:p14="http://schemas.microsoft.com/office/powerpoint/2010/main" val="3675558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DBB4990-0A23-4A10-BE7D-7E64CAB85BE3}" type="slidenum">
              <a:rPr lang="en-US" smtClean="0"/>
              <a:pPr/>
              <a:t>22</a:t>
            </a:fld>
            <a:endParaRPr lang="en-US" dirty="0"/>
          </a:p>
        </p:txBody>
      </p:sp>
    </p:spTree>
    <p:extLst>
      <p:ext uri="{BB962C8B-B14F-4D97-AF65-F5344CB8AC3E}">
        <p14:creationId xmlns:p14="http://schemas.microsoft.com/office/powerpoint/2010/main" val="2876287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plunk - Title Slide 2,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EFAB65E-774E-7C2F-9733-CE6410F8652F}"/>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181224"/>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827463"/>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360866"/>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360866"/>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14" name="Graphic 13">
            <a:extLst>
              <a:ext uri="{FF2B5EF4-FFF2-40B4-BE49-F238E27FC236}">
                <a16:creationId xmlns:a16="http://schemas.microsoft.com/office/drawing/2014/main" id="{36791DBD-BFC3-41C2-4DB3-EB3EF559FA1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46585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plunk - Title Slide 2, Four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DE1C428-FB01-B3E9-D347-5F55C93684C9}"/>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2097997"/>
            <a:ext cx="6656388" cy="1324092"/>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514159"/>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4047562"/>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4047562"/>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975F4503-6E14-DE87-30D2-13904F94B354}"/>
              </a:ext>
            </a:extLst>
          </p:cNvPr>
          <p:cNvSpPr>
            <a:spLocks noGrp="1"/>
          </p:cNvSpPr>
          <p:nvPr>
            <p:ph type="body" sz="quarter" idx="15" hasCustomPrompt="1"/>
          </p:nvPr>
        </p:nvSpPr>
        <p:spPr>
          <a:xfrm>
            <a:off x="323850" y="467416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09DECD55-6AA1-8B80-F758-69B1E9337A04}"/>
              </a:ext>
            </a:extLst>
          </p:cNvPr>
          <p:cNvSpPr>
            <a:spLocks noGrp="1"/>
          </p:cNvSpPr>
          <p:nvPr>
            <p:ph type="body" sz="quarter" idx="16" hasCustomPrompt="1"/>
          </p:nvPr>
        </p:nvSpPr>
        <p:spPr>
          <a:xfrm>
            <a:off x="4230687" y="4674169"/>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9" name="Text Placeholder 8">
            <a:extLst>
              <a:ext uri="{FF2B5EF4-FFF2-40B4-BE49-F238E27FC236}">
                <a16:creationId xmlns:a16="http://schemas.microsoft.com/office/drawing/2014/main" id="{943234AB-A4AA-B257-D87A-A9AEED608B7B}"/>
              </a:ext>
            </a:extLst>
          </p:cNvPr>
          <p:cNvSpPr>
            <a:spLocks noGrp="1"/>
          </p:cNvSpPr>
          <p:nvPr>
            <p:ph type="body" sz="quarter" idx="12" hasCustomPrompt="1"/>
          </p:nvPr>
        </p:nvSpPr>
        <p:spPr>
          <a:xfrm>
            <a:off x="323850" y="6364224"/>
            <a:ext cx="3906838" cy="493776"/>
          </a:xfrm>
          <a:noFill/>
        </p:spPr>
        <p:txBody>
          <a:bodyPr/>
          <a:lstStyle>
            <a:lvl1pPr marL="0" indent="0">
              <a:buNone/>
              <a:defRPr sz="1400">
                <a:solidFill>
                  <a:schemeClr val="tx1"/>
                </a:solidFill>
              </a:defRPr>
            </a:lvl1pPr>
          </a:lstStyle>
          <a:p>
            <a:pPr lvl="0"/>
            <a:r>
              <a:rPr lang="en-US" dirty="0"/>
              <a:t>Date</a:t>
            </a:r>
          </a:p>
        </p:txBody>
      </p:sp>
      <p:pic>
        <p:nvPicPr>
          <p:cNvPr id="8" name="Graphic 7">
            <a:extLst>
              <a:ext uri="{FF2B5EF4-FFF2-40B4-BE49-F238E27FC236}">
                <a16:creationId xmlns:a16="http://schemas.microsoft.com/office/drawing/2014/main" id="{CD8807AC-0F19-1296-4BA5-E7FCC65B50A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15108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605527"/>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605527"/>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7" name="Graphic 6">
            <a:extLst>
              <a:ext uri="{FF2B5EF4-FFF2-40B4-BE49-F238E27FC236}">
                <a16:creationId xmlns:a16="http://schemas.microsoft.com/office/drawing/2014/main" id="{A300E2A1-4C63-3529-6916-C98B0C1EBF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3917062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Event Only Title Slide 1, Two Speakers">
    <p:bg>
      <p:bgPr>
        <a:blipFill dpi="0" rotWithShape="1">
          <a:blip r:embed="rId2">
            <a:lum/>
          </a:blip>
          <a:srcRect/>
          <a:stretch>
            <a:fillRect t="-2000" b="-2000"/>
          </a:stretch>
        </a:blip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323850" y="3562040"/>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10" name="Text Placeholder 9">
            <a:extLst>
              <a:ext uri="{FF2B5EF4-FFF2-40B4-BE49-F238E27FC236}">
                <a16:creationId xmlns:a16="http://schemas.microsoft.com/office/drawing/2014/main" id="{5AEFF02C-63AA-C8DF-DF7B-EDA5A3CE61A6}"/>
              </a:ext>
            </a:extLst>
          </p:cNvPr>
          <p:cNvSpPr>
            <a:spLocks noGrp="1"/>
          </p:cNvSpPr>
          <p:nvPr>
            <p:ph type="body" sz="quarter" idx="14" hasCustomPrompt="1"/>
          </p:nvPr>
        </p:nvSpPr>
        <p:spPr>
          <a:xfrm>
            <a:off x="4230687" y="3562040"/>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sp>
        <p:nvSpPr>
          <p:cNvPr id="2" name="Text Placeholder 5">
            <a:extLst>
              <a:ext uri="{FF2B5EF4-FFF2-40B4-BE49-F238E27FC236}">
                <a16:creationId xmlns:a16="http://schemas.microsoft.com/office/drawing/2014/main" id="{EE004421-30A3-EF43-F56A-284A9116990D}"/>
              </a:ext>
            </a:extLst>
          </p:cNvPr>
          <p:cNvSpPr>
            <a:spLocks noGrp="1"/>
          </p:cNvSpPr>
          <p:nvPr>
            <p:ph type="body" sz="quarter" idx="15" hasCustomPrompt="1"/>
          </p:nvPr>
        </p:nvSpPr>
        <p:spPr>
          <a:xfrm>
            <a:off x="323850" y="4187513"/>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4" name="Text Placeholder 9">
            <a:extLst>
              <a:ext uri="{FF2B5EF4-FFF2-40B4-BE49-F238E27FC236}">
                <a16:creationId xmlns:a16="http://schemas.microsoft.com/office/drawing/2014/main" id="{F7739363-8971-A945-5479-6A7D52A23CC1}"/>
              </a:ext>
            </a:extLst>
          </p:cNvPr>
          <p:cNvSpPr>
            <a:spLocks noGrp="1"/>
          </p:cNvSpPr>
          <p:nvPr>
            <p:ph type="body" sz="quarter" idx="16" hasCustomPrompt="1"/>
          </p:nvPr>
        </p:nvSpPr>
        <p:spPr>
          <a:xfrm>
            <a:off x="4230687" y="4187513"/>
            <a:ext cx="3727451" cy="457200"/>
          </a:xfrm>
        </p:spPr>
        <p:txBody>
          <a:bodyPr/>
          <a:lstStyle>
            <a:lvl1pPr marL="0" indent="0">
              <a:spcAft>
                <a:spcPts val="0"/>
              </a:spcAft>
              <a:buNone/>
              <a:defRPr lang="en-US" sz="1400" b="0" i="0" kern="1200" dirty="0">
                <a:solidFill>
                  <a:schemeClr val="tx1"/>
                </a:solidFill>
                <a:latin typeface="Inter" panose="02000503000000020004" pitchFamily="2" charset="0"/>
                <a:ea typeface="ＭＳ Ｐゴシック" charset="0"/>
                <a:cs typeface="CiscoSans"/>
              </a:defRPr>
            </a:lvl1pPr>
            <a:lvl2pPr>
              <a:defRPr/>
            </a:lvl2pPr>
            <a:lvl3pPr>
              <a:defRPr/>
            </a:lvl3pPr>
            <a:lvl4pPr>
              <a:defRPr/>
            </a:lvl4pPr>
            <a:lvl5pPr>
              <a:defRPr/>
            </a:lvl5pPr>
          </a:lstStyle>
          <a:p>
            <a:pPr lvl="0"/>
            <a:r>
              <a:rPr lang="en-US" dirty="0"/>
              <a:t>Speaker Name</a:t>
            </a:r>
          </a:p>
          <a:p>
            <a:pPr lvl="0"/>
            <a:r>
              <a:rPr lang="en-US" dirty="0"/>
              <a:t>Speaker Title placeholder, @social</a:t>
            </a:r>
          </a:p>
        </p:txBody>
      </p:sp>
      <p:pic>
        <p:nvPicPr>
          <p:cNvPr id="5" name="Graphic 4">
            <a:extLst>
              <a:ext uri="{FF2B5EF4-FFF2-40B4-BE49-F238E27FC236}">
                <a16:creationId xmlns:a16="http://schemas.microsoft.com/office/drawing/2014/main" id="{A502ABFF-E971-B3AB-65D8-4ED252E2F6D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
        <p:nvSpPr>
          <p:cNvPr id="8" name="Title 2">
            <a:extLst>
              <a:ext uri="{FF2B5EF4-FFF2-40B4-BE49-F238E27FC236}">
                <a16:creationId xmlns:a16="http://schemas.microsoft.com/office/drawing/2014/main" id="{F953B218-B267-8ACF-928F-D548E25E2EF4}"/>
              </a:ext>
            </a:extLst>
          </p:cNvPr>
          <p:cNvSpPr>
            <a:spLocks noGrp="1"/>
          </p:cNvSpPr>
          <p:nvPr>
            <p:ph type="title" hasCustomPrompt="1"/>
          </p:nvPr>
        </p:nvSpPr>
        <p:spPr>
          <a:xfrm>
            <a:off x="323850" y="1425885"/>
            <a:ext cx="6656388" cy="1554169"/>
          </a:xfrm>
        </p:spPr>
        <p:txBody>
          <a:bodyPr anchor="b" anchorCtr="0"/>
          <a:lstStyle>
            <a:lvl1pPr>
              <a:defRPr sz="3600">
                <a:solidFill>
                  <a:schemeClr val="tx1"/>
                </a:solidFill>
              </a:defRPr>
            </a:lvl1pPr>
          </a:lstStyle>
          <a:p>
            <a:r>
              <a:rPr lang="en-US" dirty="0"/>
              <a:t>Presentation Title</a:t>
            </a:r>
          </a:p>
        </p:txBody>
      </p:sp>
      <p:sp>
        <p:nvSpPr>
          <p:cNvPr id="9" name="Text Placeholder 10">
            <a:extLst>
              <a:ext uri="{FF2B5EF4-FFF2-40B4-BE49-F238E27FC236}">
                <a16:creationId xmlns:a16="http://schemas.microsoft.com/office/drawing/2014/main" id="{57E30597-0560-4CF8-0081-17A9912783EF}"/>
              </a:ext>
            </a:extLst>
          </p:cNvPr>
          <p:cNvSpPr>
            <a:spLocks noGrp="1"/>
          </p:cNvSpPr>
          <p:nvPr>
            <p:ph type="body" sz="quarter" idx="13" hasCustomPrompt="1"/>
          </p:nvPr>
        </p:nvSpPr>
        <p:spPr>
          <a:xfrm>
            <a:off x="323850" y="3072124"/>
            <a:ext cx="6656388"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Tree>
    <p:extLst>
      <p:ext uri="{BB962C8B-B14F-4D97-AF65-F5344CB8AC3E}">
        <p14:creationId xmlns:p14="http://schemas.microsoft.com/office/powerpoint/2010/main" val="793513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3_Event Only Title Slide 1, Two Speak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1BA1A5-BDA4-7FEA-3EC4-1DBB3AD00F15}"/>
              </a:ext>
            </a:extLst>
          </p:cNvPr>
          <p:cNvSpPr>
            <a:spLocks noGrp="1"/>
          </p:cNvSpPr>
          <p:nvPr>
            <p:ph type="title" hasCustomPrompt="1"/>
          </p:nvPr>
        </p:nvSpPr>
        <p:spPr>
          <a:xfrm>
            <a:off x="5746302" y="1739457"/>
            <a:ext cx="5879640" cy="1554169"/>
          </a:xfrm>
        </p:spPr>
        <p:txBody>
          <a:bodyPr anchor="b" anchorCtr="0"/>
          <a:lstStyle>
            <a:lvl1pPr>
              <a:defRPr sz="3600">
                <a:solidFill>
                  <a:schemeClr val="tx1"/>
                </a:solidFill>
              </a:defRPr>
            </a:lvl1pPr>
          </a:lstStyle>
          <a:p>
            <a:r>
              <a:rPr lang="en-US" dirty="0"/>
              <a:t>Presentation Title</a:t>
            </a:r>
          </a:p>
        </p:txBody>
      </p:sp>
      <p:sp>
        <p:nvSpPr>
          <p:cNvPr id="11" name="Text Placeholder 10">
            <a:extLst>
              <a:ext uri="{FF2B5EF4-FFF2-40B4-BE49-F238E27FC236}">
                <a16:creationId xmlns:a16="http://schemas.microsoft.com/office/drawing/2014/main" id="{4DBA1600-2171-A996-0ADC-8B8C7BC4DEAA}"/>
              </a:ext>
            </a:extLst>
          </p:cNvPr>
          <p:cNvSpPr>
            <a:spLocks noGrp="1"/>
          </p:cNvSpPr>
          <p:nvPr>
            <p:ph type="body" sz="quarter" idx="13" hasCustomPrompt="1"/>
          </p:nvPr>
        </p:nvSpPr>
        <p:spPr>
          <a:xfrm>
            <a:off x="5746302" y="3385696"/>
            <a:ext cx="5879640" cy="223837"/>
          </a:xfrm>
          <a:noFill/>
        </p:spPr>
        <p:txBody>
          <a:bodyPr/>
          <a:lstStyle>
            <a:lvl1pPr marL="0" indent="0">
              <a:buNone/>
              <a:defRPr lang="en-US" sz="1600" b="0" i="0" kern="1200" dirty="0">
                <a:solidFill>
                  <a:schemeClr val="tx1"/>
                </a:solidFill>
                <a:latin typeface="Inter" panose="02000503000000020004" pitchFamily="2" charset="0"/>
                <a:ea typeface="ＭＳ Ｐゴシック" charset="0"/>
                <a:cs typeface="CiscoSans"/>
              </a:defRPr>
            </a:lvl1pPr>
          </a:lstStyle>
          <a:p>
            <a:pPr marL="0" lv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pPr>
            <a:r>
              <a:rPr lang="en-US" dirty="0"/>
              <a:t>Subtitle</a:t>
            </a:r>
          </a:p>
        </p:txBody>
      </p:sp>
      <p:sp>
        <p:nvSpPr>
          <p:cNvPr id="6" name="Text Placeholder 5">
            <a:extLst>
              <a:ext uri="{FF2B5EF4-FFF2-40B4-BE49-F238E27FC236}">
                <a16:creationId xmlns:a16="http://schemas.microsoft.com/office/drawing/2014/main" id="{3C6237E3-CDA3-4826-B416-A9C4ECE19D8D}"/>
              </a:ext>
            </a:extLst>
          </p:cNvPr>
          <p:cNvSpPr>
            <a:spLocks noGrp="1"/>
          </p:cNvSpPr>
          <p:nvPr>
            <p:ph type="body" sz="quarter" idx="11" hasCustomPrompt="1"/>
          </p:nvPr>
        </p:nvSpPr>
        <p:spPr>
          <a:xfrm>
            <a:off x="5746302" y="3919099"/>
            <a:ext cx="3725863" cy="457200"/>
          </a:xfrm>
          <a:noFill/>
        </p:spPr>
        <p:txBody>
          <a:bodyPr/>
          <a:lstStyle>
            <a:lvl1pPr marL="0" indent="0">
              <a:spcAft>
                <a:spcPts val="0"/>
              </a:spcAft>
              <a:buNone/>
              <a:defRPr sz="1400">
                <a:solidFill>
                  <a:schemeClr val="tx1"/>
                </a:solidFill>
              </a:defRPr>
            </a:lvl1pPr>
          </a:lstStyle>
          <a:p>
            <a:pPr lvl="0"/>
            <a:r>
              <a:rPr lang="en-US" dirty="0"/>
              <a:t>Speaker Name</a:t>
            </a:r>
          </a:p>
          <a:p>
            <a:pPr lvl="0"/>
            <a:r>
              <a:rPr lang="en-US" dirty="0"/>
              <a:t>Speaker Title placeholder, @social</a:t>
            </a:r>
          </a:p>
        </p:txBody>
      </p:sp>
      <p:sp>
        <p:nvSpPr>
          <p:cNvPr id="5" name="Picture Placeholder 16">
            <a:extLst>
              <a:ext uri="{FF2B5EF4-FFF2-40B4-BE49-F238E27FC236}">
                <a16:creationId xmlns:a16="http://schemas.microsoft.com/office/drawing/2014/main" id="{6CE2252C-F998-68C6-8B51-5EEF8087580B}"/>
              </a:ext>
            </a:extLst>
          </p:cNvPr>
          <p:cNvSpPr>
            <a:spLocks noGrp="1"/>
          </p:cNvSpPr>
          <p:nvPr>
            <p:ph type="pic" sz="quarter" idx="19"/>
          </p:nvPr>
        </p:nvSpPr>
        <p:spPr>
          <a:xfrm>
            <a:off x="856903" y="1514518"/>
            <a:ext cx="3725864" cy="3628710"/>
          </a:xfrm>
          <a:prstGeom prst="roundRect">
            <a:avLst>
              <a:gd name="adj" fmla="val 5474"/>
            </a:avLst>
          </a:prstGeom>
        </p:spPr>
        <p:txBody>
          <a:bodyPr/>
          <a:lstStyle/>
          <a:p>
            <a:endParaRPr lang="en-US"/>
          </a:p>
        </p:txBody>
      </p:sp>
      <p:pic>
        <p:nvPicPr>
          <p:cNvPr id="2" name="Graphic 1">
            <a:extLst>
              <a:ext uri="{FF2B5EF4-FFF2-40B4-BE49-F238E27FC236}">
                <a16:creationId xmlns:a16="http://schemas.microsoft.com/office/drawing/2014/main" id="{D9B55C1B-BA0C-BB1A-B3B1-488EFB23554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008266" y="520861"/>
            <a:ext cx="1617676" cy="1098058"/>
          </a:xfrm>
          <a:prstGeom prst="rect">
            <a:avLst/>
          </a:prstGeom>
        </p:spPr>
      </p:pic>
    </p:spTree>
    <p:extLst>
      <p:ext uri="{BB962C8B-B14F-4D97-AF65-F5344CB8AC3E}">
        <p14:creationId xmlns:p14="http://schemas.microsoft.com/office/powerpoint/2010/main" val="128229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A470DCA-01D3-75CC-4B81-AF6AC1F46C85}"/>
              </a:ext>
            </a:extLst>
          </p:cNvPr>
          <p:cNvSpPr>
            <a:spLocks noGrp="1"/>
          </p:cNvSpPr>
          <p:nvPr>
            <p:ph type="title" hasCustomPrompt="1"/>
          </p:nvPr>
        </p:nvSpPr>
        <p:spPr>
          <a:xfrm>
            <a:off x="323850" y="298146"/>
            <a:ext cx="2749550" cy="492443"/>
          </a:xfrm>
        </p:spPr>
        <p:txBody>
          <a:bodyPr/>
          <a:lstStyle>
            <a:lvl1pPr>
              <a:defRPr>
                <a:solidFill>
                  <a:schemeClr val="tx1"/>
                </a:solidFill>
              </a:defRPr>
            </a:lvl1pPr>
          </a:lstStyle>
          <a:p>
            <a:r>
              <a:rPr lang="en-US" dirty="0"/>
              <a:t>Agenda</a:t>
            </a:r>
          </a:p>
        </p:txBody>
      </p:sp>
      <p:sp>
        <p:nvSpPr>
          <p:cNvPr id="4" name="Text Placeholder 3">
            <a:extLst>
              <a:ext uri="{FF2B5EF4-FFF2-40B4-BE49-F238E27FC236}">
                <a16:creationId xmlns:a16="http://schemas.microsoft.com/office/drawing/2014/main" id="{BD66DE8E-18DA-4564-080D-AD4F9F492D6B}"/>
              </a:ext>
            </a:extLst>
          </p:cNvPr>
          <p:cNvSpPr>
            <a:spLocks noGrp="1"/>
          </p:cNvSpPr>
          <p:nvPr>
            <p:ph type="body" sz="quarter" idx="20" hasCustomPrompt="1"/>
          </p:nvPr>
        </p:nvSpPr>
        <p:spPr>
          <a:xfrm>
            <a:off x="5208588" y="296863"/>
            <a:ext cx="550862" cy="365125"/>
          </a:xfrm>
        </p:spPr>
        <p:txBody>
          <a:bodyPr vert="horz" lIns="0" tIns="0" rIns="0" bIns="0" rtlCol="0" anchor="t" anchorCtr="0"/>
          <a:lstStyle>
            <a:lvl1pPr marL="0" indent="0">
              <a:lnSpc>
                <a:spcPct val="90000"/>
              </a:lnSpc>
              <a:buNone/>
              <a:defRPr kumimoji="0" lang="en-US" sz="3200" b="0" i="0" u="none" strike="noStrike" cap="none" spc="27" normalizeH="0" baseline="0" dirty="0" smtClean="0">
                <a:ln>
                  <a:noFill/>
                </a:ln>
                <a:solidFill>
                  <a:schemeClr val="tx2">
                    <a:lumMod val="60000"/>
                    <a:lumOff val="40000"/>
                  </a:schemeClr>
                </a:solidFill>
                <a:effectLst/>
                <a:uLnTx/>
                <a:uFillTx/>
                <a:latin typeface="+mj-lt"/>
                <a:cs typeface="CiscoSansTT Light" panose="020B0503020201020303" pitchFamily="34" charset="0"/>
              </a:defRPr>
            </a:lvl1pPr>
          </a:lstStyle>
          <a:p>
            <a:pPr marL="0" lvl="0" algn="r" defTabSz="914400" latinLnBrk="0"/>
            <a:r>
              <a:rPr lang="en-US" dirty="0"/>
              <a:t>##</a:t>
            </a:r>
          </a:p>
        </p:txBody>
      </p:sp>
      <p:sp>
        <p:nvSpPr>
          <p:cNvPr id="5" name="Text Placeholder 4">
            <a:extLst>
              <a:ext uri="{FF2B5EF4-FFF2-40B4-BE49-F238E27FC236}">
                <a16:creationId xmlns:a16="http://schemas.microsoft.com/office/drawing/2014/main" id="{5421C779-BAEC-654A-5E9A-684AEBA7E395}"/>
              </a:ext>
            </a:extLst>
          </p:cNvPr>
          <p:cNvSpPr>
            <a:spLocks noGrp="1"/>
          </p:cNvSpPr>
          <p:nvPr>
            <p:ph type="body" sz="quarter" idx="18" hasCustomPrompt="1"/>
          </p:nvPr>
        </p:nvSpPr>
        <p:spPr>
          <a:xfrm>
            <a:off x="6184900" y="296863"/>
            <a:ext cx="5683250" cy="365125"/>
          </a:xfrm>
          <a:noFill/>
        </p:spPr>
        <p:txBody>
          <a:bodyPr anchor="t" anchorCtr="0"/>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tx1"/>
                </a:solidFill>
                <a:latin typeface="Inter" panose="02000503000000020004" pitchFamily="2" charset="0"/>
                <a:ea typeface="Inter" panose="02000503000000020004" pitchFamily="2" charset="0"/>
                <a:cs typeface="CiscoSansTT Thin" charset="0"/>
              </a:defRPr>
            </a:lvl1pPr>
          </a:lstStyle>
          <a:p>
            <a:pPr lvl="0"/>
            <a:r>
              <a:rPr lang="en-US" dirty="0"/>
              <a:t>Agenda list placeholder</a:t>
            </a:r>
          </a:p>
        </p:txBody>
      </p:sp>
      <p:sp>
        <p:nvSpPr>
          <p:cNvPr id="3" name="Footer Placeholder 2">
            <a:extLst>
              <a:ext uri="{FF2B5EF4-FFF2-40B4-BE49-F238E27FC236}">
                <a16:creationId xmlns:a16="http://schemas.microsoft.com/office/drawing/2014/main" id="{E637F1A5-67B6-4A78-7FA7-0860E1B6F9B0}"/>
              </a:ext>
            </a:extLst>
          </p:cNvPr>
          <p:cNvSpPr>
            <a:spLocks noGrp="1"/>
          </p:cNvSpPr>
          <p:nvPr>
            <p:ph type="ftr" sz="quarter" idx="2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FB200302-2202-F22C-D162-871BF904F46C}"/>
              </a:ext>
            </a:extLst>
          </p:cNvPr>
          <p:cNvSpPr>
            <a:spLocks noGrp="1"/>
          </p:cNvSpPr>
          <p:nvPr>
            <p:ph type="sldNum" sz="quarter" idx="19"/>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95903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Onl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58653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ubtitle Only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76278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2 Slide Title, Top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4703763"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6184900" y="320675"/>
            <a:ext cx="5683250" cy="923925"/>
          </a:xfrm>
        </p:spPr>
        <p:txBody>
          <a:bodyPr/>
          <a:lstStyle>
            <a:lvl1pPr marL="0" indent="0">
              <a:buNone/>
              <a:defRPr sz="18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Subheading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35794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Title Only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tx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167140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Subtitle">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8" name="Text Placeholder 7">
            <a:extLst>
              <a:ext uri="{FF2B5EF4-FFF2-40B4-BE49-F238E27FC236}">
                <a16:creationId xmlns:a16="http://schemas.microsoft.com/office/drawing/2014/main" id="{6A259C3D-581C-B8BC-32B4-EE2B22A753A2}"/>
              </a:ext>
            </a:extLst>
          </p:cNvPr>
          <p:cNvSpPr>
            <a:spLocks noGrp="1"/>
          </p:cNvSpPr>
          <p:nvPr>
            <p:ph type="body" sz="quarter" idx="13" hasCustomPrompt="1"/>
          </p:nvPr>
        </p:nvSpPr>
        <p:spPr>
          <a:xfrm>
            <a:off x="323850" y="1114425"/>
            <a:ext cx="5772150" cy="441325"/>
          </a:xfrm>
        </p:spPr>
        <p:txBody>
          <a:bodyPr/>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71828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 Slide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59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Slide, Section, Title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65889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2 Slide, Section, Title 2">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F5376922-1A18-EB35-1718-708DF44FBF1B}"/>
              </a:ext>
            </a:extLst>
          </p:cNvPr>
          <p:cNvSpPr>
            <a:spLocks noGrp="1"/>
          </p:cNvSpPr>
          <p:nvPr>
            <p:ph type="body" sz="quarter" idx="13"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3399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2 Slide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9657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2 Slide Section, Title, Body Copy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D6125826-3231-68F4-7FEE-8A01F6F42B51}"/>
              </a:ext>
            </a:extLst>
          </p:cNvPr>
          <p:cNvSpPr>
            <a:spLocks noGrp="1"/>
          </p:cNvSpPr>
          <p:nvPr>
            <p:ph type="body" sz="quarter" idx="12"/>
          </p:nvPr>
        </p:nvSpPr>
        <p:spPr>
          <a:xfrm>
            <a:off x="6581774" y="1244600"/>
            <a:ext cx="5286375" cy="4367213"/>
          </a:xfrm>
        </p:spPr>
        <p:txBody>
          <a:bodyPr anchor="ctr" anchorCtr="0"/>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7">
            <a:extLst>
              <a:ext uri="{FF2B5EF4-FFF2-40B4-BE49-F238E27FC236}">
                <a16:creationId xmlns:a16="http://schemas.microsoft.com/office/drawing/2014/main" id="{73B0377C-E9B5-910F-ED3D-37BEFE794881}"/>
              </a:ext>
            </a:extLst>
          </p:cNvPr>
          <p:cNvSpPr>
            <a:spLocks noGrp="1"/>
          </p:cNvSpPr>
          <p:nvPr>
            <p:ph type="body" sz="quarter" idx="14" hasCustomPrompt="1"/>
          </p:nvPr>
        </p:nvSpPr>
        <p:spPr>
          <a:xfrm>
            <a:off x="323850" y="0"/>
            <a:ext cx="5772150" cy="466344"/>
          </a:xfrm>
        </p:spPr>
        <p:txBody>
          <a:bodyPr anchor="b" anchorCtr="0"/>
          <a:lstStyle>
            <a:lvl1pPr marL="0" indent="0">
              <a:buNone/>
              <a:defRPr sz="1200"/>
            </a:lvl1pPr>
            <a:lvl2pPr marL="182880" indent="0">
              <a:buNone/>
              <a:defRPr sz="1200"/>
            </a:lvl2pPr>
            <a:lvl3pPr marL="365760" indent="0">
              <a:buNone/>
              <a:defRPr sz="1200"/>
            </a:lvl3pPr>
            <a:lvl4pPr marL="548640" indent="0">
              <a:buNone/>
              <a:defRPr sz="1200"/>
            </a:lvl4pPr>
            <a:lvl5pPr marL="731520" indent="0">
              <a:buNone/>
              <a:defRPr sz="1200"/>
            </a:lvl5pPr>
          </a:lstStyle>
          <a:p>
            <a:pPr lvl="0"/>
            <a:r>
              <a:rPr lang="en-US" dirty="0"/>
              <a:t>Section title</a:t>
            </a:r>
          </a:p>
        </p:txBody>
      </p:sp>
    </p:spTree>
    <p:extLst>
      <p:ext uri="{BB962C8B-B14F-4D97-AF65-F5344CB8AC3E}">
        <p14:creationId xmlns:p14="http://schemas.microsoft.com/office/powerpoint/2010/main" val="249405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1 Column with Bullet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Clr>
                <a:schemeClr val="tx1"/>
              </a:buClr>
              <a:defRPr sz="2000"/>
            </a:lvl1pPr>
            <a:lvl2pPr>
              <a:buClr>
                <a:schemeClr val="tx1"/>
              </a:buClr>
              <a:defRPr sz="2000"/>
            </a:lvl2pPr>
            <a:lvl3pPr>
              <a:buClr>
                <a:schemeClr val="tx1"/>
              </a:buClr>
              <a:defRPr sz="2000"/>
            </a:lvl3pPr>
            <a:lvl4pPr>
              <a:buClr>
                <a:schemeClr val="tx1"/>
              </a:buClr>
              <a:defRPr sz="2000"/>
            </a:lvl4pPr>
            <a:lvl5pPr>
              <a:buClr>
                <a:schemeClr val="tx1"/>
              </a:buCl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723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1 Column with co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6" name="Text Placeholder 5">
            <a:extLst>
              <a:ext uri="{FF2B5EF4-FFF2-40B4-BE49-F238E27FC236}">
                <a16:creationId xmlns:a16="http://schemas.microsoft.com/office/drawing/2014/main" id="{F7953DF5-78A1-7006-522C-1EF18B91ADAA}"/>
              </a:ext>
            </a:extLst>
          </p:cNvPr>
          <p:cNvSpPr>
            <a:spLocks noGrp="1"/>
          </p:cNvSpPr>
          <p:nvPr>
            <p:ph type="body" sz="quarter" idx="12"/>
          </p:nvPr>
        </p:nvSpPr>
        <p:spPr>
          <a:xfrm>
            <a:off x="323850" y="952500"/>
            <a:ext cx="11544300" cy="5122863"/>
          </a:xfrm>
        </p:spPr>
        <p:txBody>
          <a:bodyPr/>
          <a:lstStyle>
            <a:lvl1pPr>
              <a:buNone/>
              <a:defRPr sz="1600">
                <a:latin typeface="Source Code Pro" panose="020B0509030403020204" pitchFamily="49" charset="0"/>
                <a:ea typeface="Source Code Pro" panose="020B0509030403020204" pitchFamily="49" charset="0"/>
              </a:defRPr>
            </a:lvl1pPr>
            <a:lvl2pPr>
              <a:buNone/>
              <a:defRPr sz="1600">
                <a:latin typeface="Source Code Pro" panose="020B0509030403020204" pitchFamily="49" charset="0"/>
                <a:ea typeface="Source Code Pro" panose="020B0509030403020204" pitchFamily="49" charset="0"/>
              </a:defRPr>
            </a:lvl2pPr>
            <a:lvl3pPr>
              <a:buNone/>
              <a:defRPr sz="1600">
                <a:latin typeface="Source Code Pro" panose="020B0509030403020204" pitchFamily="49" charset="0"/>
                <a:ea typeface="Source Code Pro" panose="020B0509030403020204" pitchFamily="49" charset="0"/>
              </a:defRPr>
            </a:lvl3pPr>
            <a:lvl4pPr>
              <a:buNone/>
              <a:defRPr sz="1600">
                <a:latin typeface="Source Code Pro" panose="020B0509030403020204" pitchFamily="49" charset="0"/>
                <a:ea typeface="Source Code Pro" panose="020B0509030403020204" pitchFamily="49" charset="0"/>
              </a:defRPr>
            </a:lvl4pPr>
            <a:lvl5pPr>
              <a:buNone/>
              <a:defRPr sz="1600">
                <a:latin typeface="Source Code Pro" panose="020B0509030403020204" pitchFamily="49" charset="0"/>
                <a:ea typeface="Source Code Pro" panose="020B050903040302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439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Columns with Bullet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15685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23851" y="249237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81751" y="2494756"/>
            <a:ext cx="5486400" cy="1868488"/>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424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23848"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4358639" y="2179638"/>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8393430" y="2181225"/>
            <a:ext cx="347472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7106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3351107"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6372014"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9392920" y="2179638"/>
            <a:ext cx="2468880" cy="2495550"/>
          </a:xfrm>
        </p:spPr>
        <p:txBody>
          <a:bodyPr/>
          <a:lstStyle>
            <a:lvl1pPr>
              <a:buClr>
                <a:schemeClr val="tx1"/>
              </a:buClr>
              <a:defRPr sz="1600"/>
            </a:lvl1pPr>
            <a:lvl2pPr>
              <a:buClr>
                <a:schemeClr val="tx1"/>
              </a:buClr>
              <a:defRPr sz="1600"/>
            </a:lvl2pPr>
            <a:lvl3pPr>
              <a:buClr>
                <a:schemeClr val="tx1"/>
              </a:buClr>
              <a:defRPr sz="1600"/>
            </a:lvl3pPr>
            <a:lvl4pPr>
              <a:buClr>
                <a:schemeClr val="tx1"/>
              </a:buClr>
              <a:defRPr sz="1600"/>
            </a:lvl4pPr>
            <a:lvl5pPr>
              <a:buClr>
                <a:schemeClr val="tx1"/>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29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5 Columns">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7" name="Text Placeholder 6">
            <a:extLst>
              <a:ext uri="{FF2B5EF4-FFF2-40B4-BE49-F238E27FC236}">
                <a16:creationId xmlns:a16="http://schemas.microsoft.com/office/drawing/2014/main" id="{CAFF7876-DE6D-49C2-DD58-608A9798B315}"/>
              </a:ext>
            </a:extLst>
          </p:cNvPr>
          <p:cNvSpPr>
            <a:spLocks noGrp="1"/>
          </p:cNvSpPr>
          <p:nvPr>
            <p:ph type="body" sz="quarter" idx="13"/>
          </p:nvPr>
        </p:nvSpPr>
        <p:spPr>
          <a:xfrm>
            <a:off x="33020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2">
            <a:extLst>
              <a:ext uri="{FF2B5EF4-FFF2-40B4-BE49-F238E27FC236}">
                <a16:creationId xmlns:a16="http://schemas.microsoft.com/office/drawing/2014/main" id="{322DBF3C-0929-006D-E549-2D8EABB3CA4B}"/>
              </a:ext>
            </a:extLst>
          </p:cNvPr>
          <p:cNvSpPr>
            <a:spLocks noGrp="1"/>
          </p:cNvSpPr>
          <p:nvPr>
            <p:ph type="body" sz="quarter" idx="14"/>
          </p:nvPr>
        </p:nvSpPr>
        <p:spPr>
          <a:xfrm>
            <a:off x="271018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a:extLst>
              <a:ext uri="{FF2B5EF4-FFF2-40B4-BE49-F238E27FC236}">
                <a16:creationId xmlns:a16="http://schemas.microsoft.com/office/drawing/2014/main" id="{B163D847-B2CC-D10C-474F-9374B33501E0}"/>
              </a:ext>
            </a:extLst>
          </p:cNvPr>
          <p:cNvSpPr>
            <a:spLocks noGrp="1"/>
          </p:cNvSpPr>
          <p:nvPr>
            <p:ph type="body" sz="quarter" idx="15"/>
          </p:nvPr>
        </p:nvSpPr>
        <p:spPr>
          <a:xfrm>
            <a:off x="509016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6">
            <a:extLst>
              <a:ext uri="{FF2B5EF4-FFF2-40B4-BE49-F238E27FC236}">
                <a16:creationId xmlns:a16="http://schemas.microsoft.com/office/drawing/2014/main" id="{DDFF45C9-081C-CA2E-F4A7-8383A93B6B05}"/>
              </a:ext>
            </a:extLst>
          </p:cNvPr>
          <p:cNvSpPr>
            <a:spLocks noGrp="1"/>
          </p:cNvSpPr>
          <p:nvPr>
            <p:ph type="body" sz="quarter" idx="16"/>
          </p:nvPr>
        </p:nvSpPr>
        <p:spPr>
          <a:xfrm>
            <a:off x="7470140" y="2179638"/>
            <a:ext cx="2011680" cy="2495550"/>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13">
            <a:extLst>
              <a:ext uri="{FF2B5EF4-FFF2-40B4-BE49-F238E27FC236}">
                <a16:creationId xmlns:a16="http://schemas.microsoft.com/office/drawing/2014/main" id="{3B7038BF-5DE9-94EF-1E39-92627DD8ACA8}"/>
              </a:ext>
            </a:extLst>
          </p:cNvPr>
          <p:cNvSpPr>
            <a:spLocks noGrp="1"/>
          </p:cNvSpPr>
          <p:nvPr>
            <p:ph type="body" sz="quarter" idx="17"/>
          </p:nvPr>
        </p:nvSpPr>
        <p:spPr>
          <a:xfrm>
            <a:off x="9850120" y="2181225"/>
            <a:ext cx="2011680" cy="2493963"/>
          </a:xfrm>
        </p:spPr>
        <p:txBody>
          <a:bodyPr/>
          <a:lstStyle>
            <a:lvl1pPr>
              <a:buClr>
                <a:schemeClr val="tx1"/>
              </a:buClr>
              <a:defRPr sz="1400"/>
            </a:lvl1pPr>
            <a:lvl2pPr>
              <a:buClr>
                <a:schemeClr val="tx1"/>
              </a:buClr>
              <a:defRPr sz="1400"/>
            </a:lvl2pPr>
            <a:lvl3pPr>
              <a:buClr>
                <a:schemeClr val="tx1"/>
              </a:buClr>
              <a:defRPr sz="1400"/>
            </a:lvl3pPr>
            <a:lvl4pPr>
              <a:buClr>
                <a:schemeClr val="tx1"/>
              </a:buClr>
              <a:defRPr sz="1400"/>
            </a:lvl4pPr>
            <a:lvl5pPr>
              <a:buClr>
                <a:schemeClr val="tx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36896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2 Slide, Title,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5281613"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6107430" y="320675"/>
            <a:ext cx="5760720" cy="5759451"/>
          </a:xfrm>
          <a:prstGeom prst="roundRect">
            <a:avLst>
              <a:gd name="adj" fmla="val 1618"/>
            </a:avLst>
          </a:prstGeom>
          <a:solidFill>
            <a:schemeClr val="bg1">
              <a:alpha val="10000"/>
            </a:schemeClr>
          </a:solidFill>
        </p:spPr>
        <p:txBody>
          <a:bodyPr tIns="155448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78784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7235825" cy="94773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8140700" y="320675"/>
            <a:ext cx="3727450" cy="5759451"/>
          </a:xfrm>
          <a:prstGeom prst="roundRect">
            <a:avLst>
              <a:gd name="adj" fmla="val 1618"/>
            </a:avLst>
          </a:prstGeom>
          <a:solidFill>
            <a:schemeClr val="bg1">
              <a:alpha val="10000"/>
            </a:schemeClr>
          </a:solidFill>
        </p:spPr>
        <p:txBody>
          <a:bodyPr tIns="137160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4174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3 Photo, Title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96862"/>
            <a:ext cx="3328987" cy="1258888"/>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FBFEB48-5190-C5F8-C046-27E12C0DAE62}"/>
              </a:ext>
            </a:extLst>
          </p:cNvPr>
          <p:cNvSpPr>
            <a:spLocks noGrp="1"/>
          </p:cNvSpPr>
          <p:nvPr>
            <p:ph type="pic" sz="quarter" idx="13" hasCustomPrompt="1"/>
          </p:nvPr>
        </p:nvSpPr>
        <p:spPr>
          <a:xfrm>
            <a:off x="4049713" y="320676"/>
            <a:ext cx="7818436" cy="57546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48907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2 Slide Title, Photo 3">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3116793"/>
            <a:ext cx="5284788" cy="1246188"/>
          </a:xfrm>
        </p:spPr>
        <p:txBody>
          <a:bodyPr wrap="square" anchor="t" anchorCtr="0">
            <a:noAutofit/>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903A889C-4BCD-59AA-132B-C3FD4F8E65F1}"/>
              </a:ext>
            </a:extLst>
          </p:cNvPr>
          <p:cNvSpPr>
            <a:spLocks noGrp="1"/>
          </p:cNvSpPr>
          <p:nvPr>
            <p:ph type="pic" sz="quarter" idx="12" hasCustomPrompt="1"/>
          </p:nvPr>
        </p:nvSpPr>
        <p:spPr>
          <a:xfrm>
            <a:off x="6184901" y="795338"/>
            <a:ext cx="5284788" cy="5284788"/>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209929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3 Slide Title, Section, Body, 2/3 Photo">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solidFill>
                  <a:schemeClr val="bg1"/>
                </a:solidFill>
              </a:defRPr>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49" y="622300"/>
            <a:ext cx="3328989" cy="1558925"/>
          </a:xfrm>
        </p:spPr>
        <p:txBody>
          <a:bodyPr/>
          <a:lstStyle>
            <a:lvl1pPr>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6653D0B-638B-EB5D-F379-EF10C80DCCA3}"/>
              </a:ext>
            </a:extLst>
          </p:cNvPr>
          <p:cNvSpPr>
            <a:spLocks noGrp="1"/>
          </p:cNvSpPr>
          <p:nvPr>
            <p:ph type="body" sz="quarter" idx="13"/>
          </p:nvPr>
        </p:nvSpPr>
        <p:spPr>
          <a:xfrm>
            <a:off x="323851" y="3429000"/>
            <a:ext cx="3328988" cy="2646363"/>
          </a:xfrm>
        </p:spPr>
        <p:txBody>
          <a:bodyPr anchor="b" anchorCtr="0"/>
          <a:lstStyle>
            <a:lvl1pPr marL="0" indent="0">
              <a:buNone/>
              <a:defRPr sz="160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5">
            <a:extLst>
              <a:ext uri="{FF2B5EF4-FFF2-40B4-BE49-F238E27FC236}">
                <a16:creationId xmlns:a16="http://schemas.microsoft.com/office/drawing/2014/main" id="{798C8AA3-6350-A299-E288-D693A8EC8932}"/>
              </a:ext>
            </a:extLst>
          </p:cNvPr>
          <p:cNvSpPr>
            <a:spLocks noGrp="1"/>
          </p:cNvSpPr>
          <p:nvPr>
            <p:ph type="pic" sz="quarter" idx="14" hasCustomPrompt="1"/>
          </p:nvPr>
        </p:nvSpPr>
        <p:spPr>
          <a:xfrm>
            <a:off x="4049713" y="622300"/>
            <a:ext cx="7818436" cy="5453063"/>
          </a:xfrm>
          <a:prstGeom prst="roundRect">
            <a:avLst>
              <a:gd name="adj" fmla="val 1618"/>
            </a:avLst>
          </a:prstGeom>
          <a:solidFill>
            <a:schemeClr val="bg1">
              <a:alpha val="10000"/>
            </a:schemeClr>
          </a:solidFill>
        </p:spPr>
        <p:txBody>
          <a:bodyPr tIns="1463040"/>
          <a:lstStyle>
            <a:lvl1pPr marL="0" indent="0" algn="ctr">
              <a:buNone/>
              <a:defRPr/>
            </a:lvl1pPr>
          </a:lstStyle>
          <a:p>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671478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2 Slide Section, Title 1,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9785467-C0DB-C17E-5173-C6C6A323A1C3}"/>
              </a:ext>
            </a:extLst>
          </p:cNvPr>
          <p:cNvSpPr>
            <a:spLocks noGrp="1"/>
          </p:cNvSpPr>
          <p:nvPr>
            <p:ph type="body" sz="quarter" idx="12" hasCustomPrompt="1"/>
          </p:nvPr>
        </p:nvSpPr>
        <p:spPr>
          <a:xfrm>
            <a:off x="323850" y="0"/>
            <a:ext cx="5772150" cy="466342"/>
          </a:xfrm>
        </p:spPr>
        <p:txBody>
          <a:bodyPr anchor="b" anchorCtr="0"/>
          <a:lstStyle>
            <a:lvl1pPr marL="0" indent="0">
              <a:buNone/>
              <a:defRPr sz="1200"/>
            </a:lvl1pPr>
            <a:lvl2pPr marL="182880" indent="0">
              <a:buNone/>
              <a:defRPr sz="1100"/>
            </a:lvl2pPr>
            <a:lvl3pPr marL="365760" indent="0">
              <a:buNone/>
              <a:defRPr sz="1050"/>
            </a:lvl3pPr>
            <a:lvl4pPr marL="548640" indent="0">
              <a:buNone/>
              <a:defRPr sz="1000"/>
            </a:lvl4pPr>
            <a:lvl5pPr marL="731520" indent="0">
              <a:buNone/>
              <a:defRPr sz="900"/>
            </a:lvl5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5281613" cy="1247775"/>
          </a:xfrm>
        </p:spPr>
        <p:txBody>
          <a:bodyPr wrap="square" anchor="t" anchorCtr="0">
            <a:noAutofit/>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2739B37-658D-FBF5-94C3-66EECB73F7D0}"/>
              </a:ext>
            </a:extLst>
          </p:cNvPr>
          <p:cNvSpPr>
            <a:spLocks noGrp="1"/>
          </p:cNvSpPr>
          <p:nvPr>
            <p:ph type="pic" sz="quarter" idx="13" hasCustomPrompt="1"/>
          </p:nvPr>
        </p:nvSpPr>
        <p:spPr>
          <a:xfrm>
            <a:off x="6096001" y="320675"/>
            <a:ext cx="5766436" cy="5754687"/>
          </a:xfrm>
          <a:prstGeom prst="roundRect">
            <a:avLst>
              <a:gd name="adj" fmla="val 1714"/>
            </a:avLst>
          </a:prstGeom>
          <a:solidFill>
            <a:schemeClr val="bg1">
              <a:alpha val="10000"/>
            </a:schemeClr>
          </a:solidFill>
        </p:spPr>
        <p:txBody>
          <a:bodyPr vert="horz" lIns="0" tIns="1463040" rIns="0" bIns="0" rtlCol="0">
            <a:noAutofit/>
          </a:bodyPr>
          <a:lstStyle>
            <a:lvl1pPr>
              <a:defRPr lang="en-US" dirty="0"/>
            </a:lvl1pPr>
          </a:lstStyle>
          <a:p>
            <a:pPr marL="0" lvl="0" indent="0" algn="ctr">
              <a:buNone/>
            </a:pPr>
            <a:r>
              <a:rPr lang="en-US" dirty="0"/>
              <a:t>To add your image, </a:t>
            </a:r>
            <a:br>
              <a:rPr lang="en-US" dirty="0"/>
            </a:br>
            <a:r>
              <a:rPr lang="en-US" dirty="0"/>
              <a:t>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2013670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Full Margin Photo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p:txBody>
          <a:bodyPr/>
          <a:lstStyle>
            <a:lvl1pPr>
              <a:defRPr/>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323850" y="952500"/>
            <a:ext cx="11544300" cy="5122863"/>
          </a:xfrm>
          <a:prstGeom prst="roundRect">
            <a:avLst>
              <a:gd name="adj" fmla="val 1503"/>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635668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Subtitle, Full Margin Photo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1154430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2" name="Picture Placeholder 5">
            <a:extLst>
              <a:ext uri="{FF2B5EF4-FFF2-40B4-BE49-F238E27FC236}">
                <a16:creationId xmlns:a16="http://schemas.microsoft.com/office/drawing/2014/main" id="{99D23610-D323-6271-753B-C40A3678BD66}"/>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18872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484658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ection, Title, Full Margin Photo 1">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F8AB58A4-E099-9FBA-C32F-D0D994BC760F}"/>
              </a:ext>
            </a:extLst>
          </p:cNvPr>
          <p:cNvSpPr>
            <a:spLocks noGrp="1"/>
          </p:cNvSpPr>
          <p:nvPr>
            <p:ph type="body" sz="quarter" idx="12" hasCustomPrompt="1"/>
          </p:nvPr>
        </p:nvSpPr>
        <p:spPr>
          <a:xfrm>
            <a:off x="323850" y="-2"/>
            <a:ext cx="5772150" cy="466344"/>
          </a:xfrm>
        </p:spPr>
        <p:txBody>
          <a:bodyPr anchor="b" anchorCtr="0"/>
          <a:lstStyle>
            <a:lvl1pPr marL="0" indent="0">
              <a:buNone/>
              <a:defRPr sz="1200"/>
            </a:lvl1pPr>
          </a:lstStyle>
          <a:p>
            <a:pPr lvl="0"/>
            <a:r>
              <a:rPr lang="en-US" dirty="0"/>
              <a:t>Section title</a:t>
            </a:r>
          </a:p>
        </p:txBody>
      </p:sp>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622300"/>
            <a:ext cx="11544300" cy="492443"/>
          </a:xfrm>
        </p:spPr>
        <p:txBody>
          <a:bodyPr/>
          <a:lstStyle>
            <a:lvl1pPr>
              <a:defRPr/>
            </a:lvl1pPr>
          </a:lstStyle>
          <a:p>
            <a:r>
              <a:rPr lang="en-US"/>
              <a:t>Click to edit Master title style</a:t>
            </a:r>
            <a:endParaRPr lang="en-US" dirty="0"/>
          </a:p>
        </p:txBody>
      </p:sp>
      <p:sp>
        <p:nvSpPr>
          <p:cNvPr id="7" name="Picture Placeholder 5">
            <a:extLst>
              <a:ext uri="{FF2B5EF4-FFF2-40B4-BE49-F238E27FC236}">
                <a16:creationId xmlns:a16="http://schemas.microsoft.com/office/drawing/2014/main" id="{E170B322-9DD5-07FB-D258-3DA95EF8E7B1}"/>
              </a:ext>
            </a:extLst>
          </p:cNvPr>
          <p:cNvSpPr>
            <a:spLocks noGrp="1"/>
          </p:cNvSpPr>
          <p:nvPr>
            <p:ph type="pic" sz="quarter" idx="13" hasCustomPrompt="1"/>
          </p:nvPr>
        </p:nvSpPr>
        <p:spPr>
          <a:xfrm>
            <a:off x="323850" y="1244600"/>
            <a:ext cx="11544300" cy="4830763"/>
          </a:xfrm>
          <a:prstGeom prst="roundRect">
            <a:avLst>
              <a:gd name="adj" fmla="val 1897"/>
            </a:avLst>
          </a:prstGeom>
          <a:solidFill>
            <a:schemeClr val="bg1">
              <a:alpha val="10000"/>
            </a:schemeClr>
          </a:solidFill>
        </p:spPr>
        <p:txBody>
          <a:bodyPr vert="horz" lIns="0" tIns="128016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12608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bleed Photo,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B168980-BFE5-40AF-63BF-9DB031B379C4}"/>
              </a:ext>
            </a:extLst>
          </p:cNvPr>
          <p:cNvSpPr>
            <a:spLocks noGrp="1"/>
          </p:cNvSpPr>
          <p:nvPr>
            <p:ph type="ftr" sz="quarter" idx="13"/>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5" name="Slide Number Placeholder 4">
            <a:extLst>
              <a:ext uri="{FF2B5EF4-FFF2-40B4-BE49-F238E27FC236}">
                <a16:creationId xmlns:a16="http://schemas.microsoft.com/office/drawing/2014/main" id="{7E7B9760-CDAA-BC58-F236-F1837F40C2DB}"/>
              </a:ext>
            </a:extLst>
          </p:cNvPr>
          <p:cNvSpPr>
            <a:spLocks noGrp="1"/>
          </p:cNvSpPr>
          <p:nvPr>
            <p:ph type="sldNum" sz="quarter" idx="14"/>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4927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Full Bleed Photo, Titl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722312" y="4540250"/>
            <a:ext cx="10747375" cy="1071563"/>
          </a:xfrm>
        </p:spPr>
        <p:txBody>
          <a:bodyPr anchor="b" anchorCtr="0"/>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7201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bleed Photo, Section, Titl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0"/>
            <a:ext cx="12192000" cy="6858000"/>
          </a:xfrm>
          <a:prstGeom prst="roundRect">
            <a:avLst>
              <a:gd name="adj" fmla="val 0"/>
            </a:avLst>
          </a:prstGeom>
        </p:spPr>
        <p:txBody>
          <a:bodyPr tIns="2103120"/>
          <a:lstStyle>
            <a:lvl1pPr marL="0" indent="0" algn="ctr">
              <a:buNone/>
              <a:defRPr/>
            </a:lvl1pPr>
          </a:lstStyle>
          <a:p>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14840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plunk - Full-bleed Photo, Section, 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1697038" y="-7937"/>
            <a:ext cx="8794750" cy="466344"/>
          </a:xfrm>
        </p:spPr>
        <p:txBody>
          <a:bodyPr anchor="b" anchorCtr="0"/>
          <a:lstStyle>
            <a:lvl1pPr marL="0" indent="0" algn="ctr">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1697038" y="952500"/>
            <a:ext cx="8794750" cy="917575"/>
          </a:xfrm>
        </p:spPr>
        <p:txBody>
          <a:bodyPr/>
          <a:lstStyle>
            <a:lvl1pPr algn="ct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08775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Upper 2/3 Photo, Section, 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DCFD4AF9-7F36-FA7F-469A-A71DBA5AF531}"/>
              </a:ext>
            </a:extLst>
          </p:cNvPr>
          <p:cNvSpPr>
            <a:spLocks noGrp="1"/>
          </p:cNvSpPr>
          <p:nvPr>
            <p:ph type="pic" sz="quarter" idx="12" hasCustomPrompt="1"/>
          </p:nvPr>
        </p:nvSpPr>
        <p:spPr>
          <a:xfrm>
            <a:off x="0" y="-7937"/>
            <a:ext cx="12192000" cy="4675188"/>
          </a:xfrm>
          <a:prstGeom prst="roundRect">
            <a:avLst>
              <a:gd name="adj" fmla="val 0"/>
            </a:avLst>
          </a:prstGeom>
          <a:solidFill>
            <a:schemeClr val="bg1">
              <a:alpha val="10000"/>
            </a:schemeClr>
          </a:solidFill>
        </p:spPr>
        <p:txBody>
          <a:bodyPr vert="horz" lIns="0" tIns="1371600" rIns="0" bIns="0" rtlCol="0">
            <a:noAutofit/>
          </a:bodyPr>
          <a:lstStyle>
            <a:lvl1pPr>
              <a:defRPr lang="en-US" dirty="0"/>
            </a:lvl1pPr>
          </a:lstStyle>
          <a:p>
            <a:pPr marL="0" lvl="0" indent="0" algn="ctr">
              <a:buNone/>
            </a:pPr>
            <a:r>
              <a:rPr lang="en-US" dirty="0"/>
              <a:t>To add your image, drag and drop it here </a:t>
            </a:r>
            <a:br>
              <a:rPr lang="en-US" dirty="0"/>
            </a:br>
            <a:r>
              <a:rPr lang="en-US" dirty="0"/>
              <a:t>or click the icon below</a:t>
            </a:r>
          </a:p>
        </p:txBody>
      </p:sp>
      <p:sp>
        <p:nvSpPr>
          <p:cNvPr id="4" name="Text Placeholder 3">
            <a:extLst>
              <a:ext uri="{FF2B5EF4-FFF2-40B4-BE49-F238E27FC236}">
                <a16:creationId xmlns:a16="http://schemas.microsoft.com/office/drawing/2014/main" id="{F8FE21AB-8C85-5F58-60F8-E68917124A6D}"/>
              </a:ext>
            </a:extLst>
          </p:cNvPr>
          <p:cNvSpPr>
            <a:spLocks noGrp="1"/>
          </p:cNvSpPr>
          <p:nvPr>
            <p:ph type="body" sz="quarter" idx="13" hasCustomPrompt="1"/>
          </p:nvPr>
        </p:nvSpPr>
        <p:spPr>
          <a:xfrm>
            <a:off x="323850" y="-7937"/>
            <a:ext cx="8612188" cy="466344"/>
          </a:xfrm>
        </p:spPr>
        <p:txBody>
          <a:bodyPr anchor="b" anchorCtr="0"/>
          <a:lstStyle>
            <a:lvl1pPr marL="0" indent="0" algn="l">
              <a:buNone/>
              <a:defRPr sz="1200"/>
            </a:lvl1pPr>
            <a:lvl2pPr algn="ctr">
              <a:defRPr sz="1400"/>
            </a:lvl2pPr>
            <a:lvl3pPr algn="ctr">
              <a:defRPr sz="1200"/>
            </a:lvl3pPr>
            <a:lvl4pPr algn="ctr">
              <a:defRPr sz="1100"/>
            </a:lvl4pPr>
            <a:lvl5pPr algn="ctr">
              <a:defRPr sz="1050"/>
            </a:lvl5pPr>
          </a:lstStyle>
          <a:p>
            <a:pPr lvl="0"/>
            <a:r>
              <a:rPr lang="en-US" dirty="0"/>
              <a:t>Section title placeholder</a:t>
            </a:r>
          </a:p>
        </p:txBody>
      </p:sp>
      <p:sp>
        <p:nvSpPr>
          <p:cNvPr id="3" name="Title 2">
            <a:extLst>
              <a:ext uri="{FF2B5EF4-FFF2-40B4-BE49-F238E27FC236}">
                <a16:creationId xmlns:a16="http://schemas.microsoft.com/office/drawing/2014/main" id="{04349D14-3B3C-D0C6-6DFD-8321479B2C58}"/>
              </a:ext>
            </a:extLst>
          </p:cNvPr>
          <p:cNvSpPr>
            <a:spLocks noGrp="1"/>
          </p:cNvSpPr>
          <p:nvPr>
            <p:ph type="title"/>
          </p:nvPr>
        </p:nvSpPr>
        <p:spPr>
          <a:xfrm>
            <a:off x="323850" y="5003800"/>
            <a:ext cx="8612188" cy="1071563"/>
          </a:xfrm>
        </p:spPr>
        <p:txBody>
          <a:bodyPr/>
          <a:lstStyle>
            <a:lvl1pPr algn="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0C5C7D8B-10D2-2133-F08F-266FA09AD87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7" name="Slide Number Placeholder 6">
            <a:extLst>
              <a:ext uri="{FF2B5EF4-FFF2-40B4-BE49-F238E27FC236}">
                <a16:creationId xmlns:a16="http://schemas.microsoft.com/office/drawing/2014/main" id="{705F3EDC-58FE-7AC5-F13A-6FDE8EDA836E}"/>
              </a:ext>
            </a:extLst>
          </p:cNvPr>
          <p:cNvSpPr>
            <a:spLocks noGrp="1"/>
          </p:cNvSpPr>
          <p:nvPr>
            <p:ph type="sldNum" sz="quarter" idx="15"/>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31009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plunk - Quote 1">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1132840"/>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gradFill flip="none" rotWithShape="1">
              <a:gsLst>
                <a:gs pos="0">
                  <a:schemeClr val="accent3"/>
                </a:gs>
                <a:gs pos="100000">
                  <a:schemeClr val="accent4"/>
                </a:gs>
              </a:gsLst>
              <a:lin ang="2700000" scaled="1"/>
              <a:tileRect/>
            </a:gra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876424"/>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360863"/>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73615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plunk -  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Graphic 4" descr="Quotation Mark">
            <a:extLst>
              <a:ext uri="{FF2B5EF4-FFF2-40B4-BE49-F238E27FC236}">
                <a16:creationId xmlns:a16="http://schemas.microsoft.com/office/drawing/2014/main" id="{4B52BC46-48EA-B916-39B5-C5FF3FB612BC}"/>
              </a:ext>
            </a:extLst>
          </p:cNvPr>
          <p:cNvSpPr/>
          <p:nvPr/>
        </p:nvSpPr>
        <p:spPr>
          <a:xfrm>
            <a:off x="5731161" y="963295"/>
            <a:ext cx="516694" cy="416701"/>
          </a:xfrm>
          <a:custGeom>
            <a:avLst/>
            <a:gdLst>
              <a:gd name="connsiteX0" fmla="*/ 418890 w 728197"/>
              <a:gd name="connsiteY0" fmla="*/ 587273 h 587273"/>
              <a:gd name="connsiteX1" fmla="*/ 383998 w 728197"/>
              <a:gd name="connsiteY1" fmla="*/ 552884 h 587273"/>
              <a:gd name="connsiteX2" fmla="*/ 383998 w 728197"/>
              <a:gd name="connsiteY2" fmla="*/ 552793 h 587273"/>
              <a:gd name="connsiteX3" fmla="*/ 383998 w 728197"/>
              <a:gd name="connsiteY3" fmla="*/ 367917 h 587273"/>
              <a:gd name="connsiteX4" fmla="*/ 513570 w 728197"/>
              <a:gd name="connsiteY4" fmla="*/ 79508 h 587273"/>
              <a:gd name="connsiteX5" fmla="*/ 728198 w 728197"/>
              <a:gd name="connsiteY5" fmla="*/ 0 h 587273"/>
              <a:gd name="connsiteX6" fmla="*/ 728198 w 728197"/>
              <a:gd name="connsiteY6" fmla="*/ 134713 h 587273"/>
              <a:gd name="connsiteX7" fmla="*/ 583354 w 728197"/>
              <a:gd name="connsiteY7" fmla="*/ 316104 h 587273"/>
              <a:gd name="connsiteX8" fmla="*/ 658414 w 728197"/>
              <a:gd name="connsiteY8" fmla="*/ 316104 h 587273"/>
              <a:gd name="connsiteX9" fmla="*/ 693398 w 728197"/>
              <a:gd name="connsiteY9" fmla="*/ 350585 h 587273"/>
              <a:gd name="connsiteX10" fmla="*/ 693398 w 728197"/>
              <a:gd name="connsiteY10" fmla="*/ 350677 h 587273"/>
              <a:gd name="connsiteX11" fmla="*/ 693398 w 728197"/>
              <a:gd name="connsiteY11" fmla="*/ 552426 h 587273"/>
              <a:gd name="connsiteX12" fmla="*/ 658599 w 728197"/>
              <a:gd name="connsiteY12" fmla="*/ 586907 h 587273"/>
              <a:gd name="connsiteX13" fmla="*/ 658506 w 728197"/>
              <a:gd name="connsiteY13" fmla="*/ 586907 h 587273"/>
              <a:gd name="connsiteX14" fmla="*/ 34892 w 728197"/>
              <a:gd name="connsiteY14" fmla="*/ 587273 h 587273"/>
              <a:gd name="connsiteX15" fmla="*/ 0 w 728197"/>
              <a:gd name="connsiteY15" fmla="*/ 552884 h 587273"/>
              <a:gd name="connsiteX16" fmla="*/ 0 w 728197"/>
              <a:gd name="connsiteY16" fmla="*/ 552793 h 587273"/>
              <a:gd name="connsiteX17" fmla="*/ 0 w 728197"/>
              <a:gd name="connsiteY17" fmla="*/ 367917 h 587273"/>
              <a:gd name="connsiteX18" fmla="*/ 129573 w 728197"/>
              <a:gd name="connsiteY18" fmla="*/ 79508 h 587273"/>
              <a:gd name="connsiteX19" fmla="*/ 344200 w 728197"/>
              <a:gd name="connsiteY19" fmla="*/ 0 h 587273"/>
              <a:gd name="connsiteX20" fmla="*/ 344200 w 728197"/>
              <a:gd name="connsiteY20" fmla="*/ 134713 h 587273"/>
              <a:gd name="connsiteX21" fmla="*/ 198986 w 728197"/>
              <a:gd name="connsiteY21" fmla="*/ 316104 h 587273"/>
              <a:gd name="connsiteX22" fmla="*/ 274046 w 728197"/>
              <a:gd name="connsiteY22" fmla="*/ 316104 h 587273"/>
              <a:gd name="connsiteX23" fmla="*/ 308938 w 728197"/>
              <a:gd name="connsiteY23" fmla="*/ 350677 h 587273"/>
              <a:gd name="connsiteX24" fmla="*/ 308938 w 728197"/>
              <a:gd name="connsiteY24" fmla="*/ 552426 h 587273"/>
              <a:gd name="connsiteX25" fmla="*/ 274138 w 728197"/>
              <a:gd name="connsiteY25" fmla="*/ 586907 h 587273"/>
              <a:gd name="connsiteX26" fmla="*/ 274046 w 728197"/>
              <a:gd name="connsiteY26" fmla="*/ 586907 h 587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8197" h="587273">
                <a:moveTo>
                  <a:pt x="418890" y="587273"/>
                </a:moveTo>
                <a:cubicBezTo>
                  <a:pt x="399670" y="587324"/>
                  <a:pt x="384048" y="571928"/>
                  <a:pt x="383998" y="552884"/>
                </a:cubicBezTo>
                <a:cubicBezTo>
                  <a:pt x="383998" y="552854"/>
                  <a:pt x="383998" y="552823"/>
                  <a:pt x="383998" y="552793"/>
                </a:cubicBezTo>
                <a:lnTo>
                  <a:pt x="383998" y="367917"/>
                </a:lnTo>
                <a:cubicBezTo>
                  <a:pt x="383998" y="240082"/>
                  <a:pt x="427189" y="143945"/>
                  <a:pt x="513570" y="79508"/>
                </a:cubicBezTo>
                <a:cubicBezTo>
                  <a:pt x="571693" y="35795"/>
                  <a:pt x="643235" y="9292"/>
                  <a:pt x="728198" y="0"/>
                </a:cubicBezTo>
                <a:lnTo>
                  <a:pt x="728198" y="134713"/>
                </a:lnTo>
                <a:cubicBezTo>
                  <a:pt x="631694" y="155439"/>
                  <a:pt x="583419" y="215902"/>
                  <a:pt x="583354" y="316104"/>
                </a:cubicBezTo>
                <a:lnTo>
                  <a:pt x="658414" y="316104"/>
                </a:lnTo>
                <a:cubicBezTo>
                  <a:pt x="677683" y="316054"/>
                  <a:pt x="693343" y="331491"/>
                  <a:pt x="693398" y="350585"/>
                </a:cubicBezTo>
                <a:cubicBezTo>
                  <a:pt x="693398" y="350615"/>
                  <a:pt x="693398" y="350646"/>
                  <a:pt x="693398" y="350677"/>
                </a:cubicBezTo>
                <a:lnTo>
                  <a:pt x="693398" y="552426"/>
                </a:lnTo>
                <a:cubicBezTo>
                  <a:pt x="693398" y="571469"/>
                  <a:pt x="677822" y="586907"/>
                  <a:pt x="658599" y="586907"/>
                </a:cubicBezTo>
                <a:cubicBezTo>
                  <a:pt x="658571" y="586907"/>
                  <a:pt x="658534" y="586907"/>
                  <a:pt x="658506" y="586907"/>
                </a:cubicBezTo>
                <a:close/>
                <a:moveTo>
                  <a:pt x="34892" y="587273"/>
                </a:moveTo>
                <a:cubicBezTo>
                  <a:pt x="15673" y="587324"/>
                  <a:pt x="51" y="571928"/>
                  <a:pt x="0" y="552884"/>
                </a:cubicBezTo>
                <a:cubicBezTo>
                  <a:pt x="0" y="552854"/>
                  <a:pt x="0" y="552823"/>
                  <a:pt x="0" y="552793"/>
                </a:cubicBezTo>
                <a:lnTo>
                  <a:pt x="0" y="367917"/>
                </a:lnTo>
                <a:cubicBezTo>
                  <a:pt x="0" y="240082"/>
                  <a:pt x="43191" y="143945"/>
                  <a:pt x="129573" y="79508"/>
                </a:cubicBezTo>
                <a:cubicBezTo>
                  <a:pt x="187695" y="35795"/>
                  <a:pt x="259238" y="9292"/>
                  <a:pt x="344200" y="0"/>
                </a:cubicBezTo>
                <a:lnTo>
                  <a:pt x="344200" y="134713"/>
                </a:lnTo>
                <a:cubicBezTo>
                  <a:pt x="247391" y="155439"/>
                  <a:pt x="198986" y="215902"/>
                  <a:pt x="198986" y="316104"/>
                </a:cubicBezTo>
                <a:lnTo>
                  <a:pt x="274046" y="316104"/>
                </a:lnTo>
                <a:cubicBezTo>
                  <a:pt x="293316" y="316104"/>
                  <a:pt x="308938" y="331583"/>
                  <a:pt x="308938" y="350677"/>
                </a:cubicBezTo>
                <a:lnTo>
                  <a:pt x="308938" y="552426"/>
                </a:lnTo>
                <a:cubicBezTo>
                  <a:pt x="308938" y="571469"/>
                  <a:pt x="293358" y="586907"/>
                  <a:pt x="274138" y="586907"/>
                </a:cubicBezTo>
                <a:cubicBezTo>
                  <a:pt x="274108" y="586907"/>
                  <a:pt x="274076" y="586907"/>
                  <a:pt x="274046" y="586907"/>
                </a:cubicBezTo>
                <a:close/>
              </a:path>
            </a:pathLst>
          </a:custGeom>
          <a:noFill/>
          <a:ln w="19050" cap="flat">
            <a:solidFill>
              <a:schemeClr val="tx1"/>
            </a:solidFill>
            <a:prstDash val="solid"/>
            <a:miter/>
          </a:ln>
        </p:spPr>
        <p:txBody>
          <a:bodyPr rtlCol="0" anchor="ctr"/>
          <a:lstStyle/>
          <a:p>
            <a:endParaRPr lang="en-US" b="0" i="0" dirty="0">
              <a:latin typeface="Inter" panose="02000503000000020004" pitchFamily="2" charset="0"/>
            </a:endParaRPr>
          </a:p>
        </p:txBody>
      </p:sp>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1697038" y="1706879"/>
            <a:ext cx="8794750" cy="2174875"/>
          </a:xfrm>
        </p:spPr>
        <p:txBody>
          <a:bodyPr/>
          <a:lstStyle>
            <a:lvl1pPr algn="ctr">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1697038" y="4191318"/>
            <a:ext cx="8794750" cy="625475"/>
          </a:xfrm>
        </p:spPr>
        <p:txBody>
          <a:bodyPr/>
          <a:lstStyle>
            <a:lvl1pPr marL="0" indent="0" algn="ctr">
              <a:lnSpc>
                <a:spcPct val="110000"/>
              </a:lnSpc>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82789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lunk - 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8BC5-9F97-A637-CA24-35B03B63AA5A}"/>
              </a:ext>
            </a:extLst>
          </p:cNvPr>
          <p:cNvSpPr>
            <a:spLocks noGrp="1"/>
          </p:cNvSpPr>
          <p:nvPr>
            <p:ph type="title" hasCustomPrompt="1"/>
          </p:nvPr>
        </p:nvSpPr>
        <p:spPr>
          <a:xfrm>
            <a:off x="6096000" y="1244600"/>
            <a:ext cx="5373688" cy="3167380"/>
          </a:xfrm>
        </p:spPr>
        <p:txBody>
          <a:bodyPr/>
          <a:lstStyle>
            <a:lvl1pPr algn="l">
              <a:defRPr sz="4000"/>
            </a:lvl1pPr>
          </a:lstStyle>
          <a:p>
            <a:r>
              <a:rPr lang="en-US" dirty="0"/>
              <a:t>“Quote slide 1, </a:t>
            </a:r>
            <a:r>
              <a:rPr lang="en-GB" dirty="0"/>
              <a:t>Lorem ipsum </a:t>
            </a:r>
            <a:r>
              <a:rPr lang="en-GB" dirty="0" err="1"/>
              <a:t>dolor</a:t>
            </a:r>
            <a:r>
              <a:rPr lang="en-GB" dirty="0"/>
              <a:t> sit </a:t>
            </a:r>
            <a:r>
              <a:rPr lang="en-GB" dirty="0" err="1"/>
              <a:t>amet</a:t>
            </a:r>
            <a:r>
              <a:rPr lang="en-GB" dirty="0"/>
              <a:t>, </a:t>
            </a:r>
            <a:r>
              <a:rPr lang="en-GB" dirty="0" err="1"/>
              <a:t>consect</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no </a:t>
            </a:r>
            <a:r>
              <a:rPr lang="en-GB" dirty="0" err="1"/>
              <a:t>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a:t>
            </a:r>
            <a:endParaRPr lang="en-US" dirty="0"/>
          </a:p>
        </p:txBody>
      </p:sp>
      <p:sp>
        <p:nvSpPr>
          <p:cNvPr id="7" name="Text Placeholder 6">
            <a:extLst>
              <a:ext uri="{FF2B5EF4-FFF2-40B4-BE49-F238E27FC236}">
                <a16:creationId xmlns:a16="http://schemas.microsoft.com/office/drawing/2014/main" id="{FE765B2C-5060-1909-C557-ADA0DD5D99D3}"/>
              </a:ext>
            </a:extLst>
          </p:cNvPr>
          <p:cNvSpPr>
            <a:spLocks noGrp="1"/>
          </p:cNvSpPr>
          <p:nvPr>
            <p:ph type="body" sz="quarter" idx="12" hasCustomPrompt="1"/>
          </p:nvPr>
        </p:nvSpPr>
        <p:spPr>
          <a:xfrm>
            <a:off x="6096000" y="4726305"/>
            <a:ext cx="5373688" cy="673417"/>
          </a:xfrm>
        </p:spPr>
        <p:txBody>
          <a:bodyPr/>
          <a:lstStyle>
            <a:lvl1pPr marL="0" indent="0" algn="l">
              <a:spcAft>
                <a:spcPts val="0"/>
              </a:spcAft>
              <a:buNone/>
              <a:defRPr sz="2000"/>
            </a:lvl1pPr>
          </a:lstStyle>
          <a:p>
            <a:pPr lvl="0"/>
            <a:r>
              <a:rPr lang="en-US" dirty="0"/>
              <a:t>Speaker Name</a:t>
            </a:r>
          </a:p>
          <a:p>
            <a:pPr lvl="0"/>
            <a:r>
              <a:rPr lang="en-US" dirty="0"/>
              <a:t>Speaker Role</a:t>
            </a:r>
          </a:p>
        </p:txBody>
      </p:sp>
      <p:sp>
        <p:nvSpPr>
          <p:cNvPr id="3" name="Footer Placeholder 2">
            <a:extLst>
              <a:ext uri="{FF2B5EF4-FFF2-40B4-BE49-F238E27FC236}">
                <a16:creationId xmlns:a16="http://schemas.microsoft.com/office/drawing/2014/main" id="{54CFFC5C-7657-95D9-3E3C-A05AC680CBA5}"/>
              </a:ext>
            </a:extLst>
          </p:cNvPr>
          <p:cNvSpPr>
            <a:spLocks noGrp="1"/>
          </p:cNvSpPr>
          <p:nvPr>
            <p:ph type="ftr" sz="quarter" idx="10"/>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AA999777-CA26-AFF0-62B3-9D957F6FDE0C}"/>
              </a:ext>
            </a:extLst>
          </p:cNvPr>
          <p:cNvSpPr>
            <a:spLocks noGrp="1"/>
          </p:cNvSpPr>
          <p:nvPr>
            <p:ph type="sldNum" sz="quarter" idx="11"/>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87609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EFB629D-1461-3E6E-194F-1E2781C58CDE}"/>
              </a:ext>
            </a:extLst>
          </p:cNvPr>
          <p:cNvSpPr>
            <a:spLocks noGrp="1"/>
          </p:cNvSpPr>
          <p:nvPr>
            <p:ph type="title"/>
          </p:nvPr>
        </p:nvSpPr>
        <p:spPr>
          <a:xfrm>
            <a:off x="323850" y="298146"/>
            <a:ext cx="5683250" cy="946454"/>
          </a:xfrm>
        </p:spPr>
        <p:txBody>
          <a:body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3402D1E1-C16C-597A-29F4-4F0B59039571}"/>
              </a:ext>
            </a:extLst>
          </p:cNvPr>
          <p:cNvSpPr>
            <a:spLocks noGrp="1"/>
          </p:cNvSpPr>
          <p:nvPr>
            <p:ph type="body" sz="quarter" idx="11" hasCustomPrompt="1"/>
          </p:nvPr>
        </p:nvSpPr>
        <p:spPr>
          <a:xfrm>
            <a:off x="323850" y="1555750"/>
            <a:ext cx="5683250" cy="923925"/>
          </a:xfrm>
        </p:spPr>
        <p:txBody>
          <a:bodyPr/>
          <a:lstStyle>
            <a:lvl1pPr marL="0" indent="0">
              <a:buNone/>
              <a:defRPr sz="1600" b="0"/>
            </a:lvl1pPr>
            <a:lvl2pPr marL="182880" indent="0">
              <a:buNone/>
              <a:defRPr sz="1600" b="0"/>
            </a:lvl2pPr>
            <a:lvl3pPr marL="365760" indent="0">
              <a:buNone/>
              <a:defRPr sz="1400" b="0"/>
            </a:lvl3pPr>
            <a:lvl4pPr marL="548640" indent="0">
              <a:buNone/>
              <a:defRPr sz="1200" b="0"/>
            </a:lvl4pPr>
            <a:lvl5pPr marL="731520" indent="0">
              <a:buNone/>
              <a:defRPr sz="1100" b="0"/>
            </a:lvl5pPr>
          </a:lstStyle>
          <a:p>
            <a:pPr lvl="0"/>
            <a:r>
              <a:rPr lang="en-US" dirty="0"/>
              <a:t>Body copy placeholder</a:t>
            </a:r>
          </a:p>
        </p:txBody>
      </p:sp>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12111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034862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218039"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570136" y="4591673"/>
            <a:ext cx="3485896" cy="389467"/>
          </a:xfrm>
        </p:spPr>
        <p:txBody>
          <a:bodyPr/>
          <a:lstStyle>
            <a:lvl1pPr algn="ctr">
              <a:buNone/>
              <a:defRPr sz="18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570136" y="5063536"/>
            <a:ext cx="3485896" cy="713024"/>
          </a:xfrm>
        </p:spPr>
        <p:txBody>
          <a:bodyPr/>
          <a:lstStyle>
            <a:lvl1pPr algn="ctr">
              <a:spcAft>
                <a:spcPts val="600"/>
              </a:spcAft>
              <a:buNone/>
              <a:defRPr sz="1100"/>
            </a:lvl1pPr>
          </a:lstStyle>
          <a:p>
            <a:r>
              <a:rPr lang="en-US" dirty="0"/>
              <a:t>Job Title </a:t>
            </a:r>
          </a:p>
          <a:p>
            <a:r>
              <a:rPr lang="en-US" dirty="0"/>
              <a:t>Company</a:t>
            </a:r>
          </a:p>
        </p:txBody>
      </p:sp>
      <p:sp>
        <p:nvSpPr>
          <p:cNvPr id="12" name="Text Placeholder 3">
            <a:extLst>
              <a:ext uri="{FF2B5EF4-FFF2-40B4-BE49-F238E27FC236}">
                <a16:creationId xmlns:a16="http://schemas.microsoft.com/office/drawing/2014/main" id="{D6425DC0-DD30-D9D9-384A-23B0D57863AF}"/>
              </a:ext>
            </a:extLst>
          </p:cNvPr>
          <p:cNvSpPr>
            <a:spLocks noGrp="1"/>
          </p:cNvSpPr>
          <p:nvPr>
            <p:ph type="body" sz="quarter" idx="17" hasCustomPrompt="1"/>
          </p:nvPr>
        </p:nvSpPr>
        <p:spPr>
          <a:xfrm>
            <a:off x="4364038" y="4591050"/>
            <a:ext cx="3486150" cy="390525"/>
          </a:xfrm>
        </p:spPr>
        <p:txBody>
          <a:bodyPr/>
          <a:lstStyle>
            <a:lvl1pPr algn="ctr">
              <a:buNone/>
              <a:defRPr sz="1800"/>
            </a:lvl1pPr>
          </a:lstStyle>
          <a:p>
            <a:r>
              <a:rPr lang="en-US" dirty="0"/>
              <a:t>First, Last Name</a:t>
            </a:r>
          </a:p>
        </p:txBody>
      </p:sp>
      <p:sp>
        <p:nvSpPr>
          <p:cNvPr id="13" name="Text Placeholder 4">
            <a:extLst>
              <a:ext uri="{FF2B5EF4-FFF2-40B4-BE49-F238E27FC236}">
                <a16:creationId xmlns:a16="http://schemas.microsoft.com/office/drawing/2014/main" id="{FA7B7933-5E51-35F9-6125-0A33D0D99B25}"/>
              </a:ext>
            </a:extLst>
          </p:cNvPr>
          <p:cNvSpPr>
            <a:spLocks noGrp="1"/>
          </p:cNvSpPr>
          <p:nvPr>
            <p:ph type="body" sz="quarter" idx="18" hasCustomPrompt="1"/>
          </p:nvPr>
        </p:nvSpPr>
        <p:spPr>
          <a:xfrm>
            <a:off x="4351338"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p:cNvSpPr>
          <p:nvPr>
            <p:ph type="pic" sz="quarter" idx="19"/>
          </p:nvPr>
        </p:nvSpPr>
        <p:spPr>
          <a:xfrm>
            <a:off x="1095471" y="1997075"/>
            <a:ext cx="2435225" cy="2371725"/>
          </a:xfrm>
          <a:prstGeom prst="roundRect">
            <a:avLst>
              <a:gd name="adj" fmla="val 5474"/>
            </a:avLst>
          </a:prstGeom>
        </p:spPr>
        <p:txBody>
          <a:bodyPr/>
          <a:lstStyle/>
          <a:p>
            <a:endParaRPr lang="en-US"/>
          </a:p>
        </p:txBody>
      </p:sp>
      <p:sp>
        <p:nvSpPr>
          <p:cNvPr id="18" name="Picture Placeholder 16">
            <a:extLst>
              <a:ext uri="{FF2B5EF4-FFF2-40B4-BE49-F238E27FC236}">
                <a16:creationId xmlns:a16="http://schemas.microsoft.com/office/drawing/2014/main" id="{E346ADEB-4538-91A9-B4A0-56A5FEAD5351}"/>
              </a:ext>
            </a:extLst>
          </p:cNvPr>
          <p:cNvSpPr>
            <a:spLocks noGrp="1"/>
          </p:cNvSpPr>
          <p:nvPr>
            <p:ph type="pic" sz="quarter" idx="20"/>
          </p:nvPr>
        </p:nvSpPr>
        <p:spPr>
          <a:xfrm>
            <a:off x="4880890" y="1997075"/>
            <a:ext cx="2435225" cy="2371725"/>
          </a:xfrm>
          <a:prstGeom prst="roundRect">
            <a:avLst>
              <a:gd name="adj" fmla="val 5474"/>
            </a:avLst>
          </a:prstGeom>
        </p:spPr>
        <p:txBody>
          <a:bodyPr/>
          <a:lstStyle/>
          <a:p>
            <a:endParaRPr lang="en-US"/>
          </a:p>
        </p:txBody>
      </p:sp>
      <p:sp>
        <p:nvSpPr>
          <p:cNvPr id="5" name="Text Placeholder 3">
            <a:extLst>
              <a:ext uri="{FF2B5EF4-FFF2-40B4-BE49-F238E27FC236}">
                <a16:creationId xmlns:a16="http://schemas.microsoft.com/office/drawing/2014/main" id="{3E092305-95FD-3A50-0F57-4C246C9910B0}"/>
              </a:ext>
            </a:extLst>
          </p:cNvPr>
          <p:cNvSpPr>
            <a:spLocks noGrp="1"/>
          </p:cNvSpPr>
          <p:nvPr>
            <p:ph type="body" sz="quarter" idx="21" hasCustomPrompt="1"/>
          </p:nvPr>
        </p:nvSpPr>
        <p:spPr>
          <a:xfrm>
            <a:off x="8169122" y="4591050"/>
            <a:ext cx="3486150" cy="390525"/>
          </a:xfrm>
        </p:spPr>
        <p:txBody>
          <a:bodyPr/>
          <a:lstStyle>
            <a:lvl1pPr algn="ctr">
              <a:buNone/>
              <a:defRPr sz="1800"/>
            </a:lvl1pPr>
          </a:lstStyle>
          <a:p>
            <a:r>
              <a:rPr lang="en-US" dirty="0"/>
              <a:t>First, Last Name</a:t>
            </a:r>
          </a:p>
        </p:txBody>
      </p:sp>
      <p:sp>
        <p:nvSpPr>
          <p:cNvPr id="6" name="Text Placeholder 4">
            <a:extLst>
              <a:ext uri="{FF2B5EF4-FFF2-40B4-BE49-F238E27FC236}">
                <a16:creationId xmlns:a16="http://schemas.microsoft.com/office/drawing/2014/main" id="{7DE03894-2281-B12B-4226-07ABA68003C2}"/>
              </a:ext>
            </a:extLst>
          </p:cNvPr>
          <p:cNvSpPr>
            <a:spLocks noGrp="1"/>
          </p:cNvSpPr>
          <p:nvPr>
            <p:ph type="body" sz="quarter" idx="22" hasCustomPrompt="1"/>
          </p:nvPr>
        </p:nvSpPr>
        <p:spPr>
          <a:xfrm>
            <a:off x="8156422" y="5064121"/>
            <a:ext cx="3486150" cy="712787"/>
          </a:xfrm>
        </p:spPr>
        <p:txBody>
          <a:bodyPr/>
          <a:lstStyle>
            <a:lvl1pPr algn="ctr">
              <a:spcAft>
                <a:spcPts val="600"/>
              </a:spcAft>
              <a:buNone/>
              <a:defRPr sz="1100"/>
            </a:lvl1pPr>
          </a:lstStyle>
          <a:p>
            <a:r>
              <a:rPr lang="en-US" dirty="0"/>
              <a:t>Job Title </a:t>
            </a:r>
          </a:p>
          <a:p>
            <a:r>
              <a:rPr lang="en-US" dirty="0"/>
              <a:t>Company</a:t>
            </a:r>
          </a:p>
        </p:txBody>
      </p:sp>
      <p:sp>
        <p:nvSpPr>
          <p:cNvPr id="11" name="Picture Placeholder 16">
            <a:extLst>
              <a:ext uri="{FF2B5EF4-FFF2-40B4-BE49-F238E27FC236}">
                <a16:creationId xmlns:a16="http://schemas.microsoft.com/office/drawing/2014/main" id="{F2B9F0AD-45C3-B30A-5515-071060715B41}"/>
              </a:ext>
            </a:extLst>
          </p:cNvPr>
          <p:cNvSpPr>
            <a:spLocks noGrp="1"/>
          </p:cNvSpPr>
          <p:nvPr>
            <p:ph type="pic" sz="quarter" idx="23"/>
          </p:nvPr>
        </p:nvSpPr>
        <p:spPr>
          <a:xfrm>
            <a:off x="8685974" y="1997075"/>
            <a:ext cx="2435225" cy="2371725"/>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223086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Splunk - 1/2 Slide, Title, Body Copy,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599622-5FA2-FEEE-3C33-0A896ADDB122}"/>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Title 5">
            <a:extLst>
              <a:ext uri="{FF2B5EF4-FFF2-40B4-BE49-F238E27FC236}">
                <a16:creationId xmlns:a16="http://schemas.microsoft.com/office/drawing/2014/main" id="{ED550F9B-7608-E02A-538E-8BA8CA6C733C}"/>
              </a:ext>
            </a:extLst>
          </p:cNvPr>
          <p:cNvSpPr>
            <a:spLocks noGrp="1"/>
          </p:cNvSpPr>
          <p:nvPr>
            <p:ph type="title"/>
          </p:nvPr>
        </p:nvSpPr>
        <p:spPr>
          <a:xfrm>
            <a:off x="323850" y="298146"/>
            <a:ext cx="11544300" cy="492443"/>
          </a:xfrm>
        </p:spPr>
        <p:txBody>
          <a:bodyPr/>
          <a:lstStyle/>
          <a:p>
            <a:r>
              <a:rPr lang="en-US"/>
              <a:t>Click to edit Master title style</a:t>
            </a:r>
          </a:p>
        </p:txBody>
      </p:sp>
      <p:sp>
        <p:nvSpPr>
          <p:cNvPr id="7" name="Text Placeholder 4">
            <a:extLst>
              <a:ext uri="{FF2B5EF4-FFF2-40B4-BE49-F238E27FC236}">
                <a16:creationId xmlns:a16="http://schemas.microsoft.com/office/drawing/2014/main" id="{9295254C-FBCA-2AA8-981E-12D91F5F8973}"/>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8" name="TextBox 7">
            <a:extLst>
              <a:ext uri="{FF2B5EF4-FFF2-40B4-BE49-F238E27FC236}">
                <a16:creationId xmlns:a16="http://schemas.microsoft.com/office/drawing/2014/main" id="{D0A48D09-C5BE-1D78-A95E-11B4AE086B4A}"/>
              </a:ext>
            </a:extLst>
          </p:cNvPr>
          <p:cNvSpPr txBox="1"/>
          <p:nvPr userDrawn="1"/>
        </p:nvSpPr>
        <p:spPr>
          <a:xfrm>
            <a:off x="4080388" y="4414684"/>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US" sz="1600" kern="1200" dirty="0" err="1">
              <a:solidFill>
                <a:schemeClr val="bg1"/>
              </a:solidFill>
              <a:latin typeface="+mn-lt"/>
              <a:ea typeface="ＭＳ Ｐゴシック" charset="0"/>
            </a:endParaRPr>
          </a:p>
        </p:txBody>
      </p:sp>
      <p:sp>
        <p:nvSpPr>
          <p:cNvPr id="9" name="Text Placeholder 1">
            <a:extLst>
              <a:ext uri="{FF2B5EF4-FFF2-40B4-BE49-F238E27FC236}">
                <a16:creationId xmlns:a16="http://schemas.microsoft.com/office/drawing/2014/main" id="{80BAB371-C746-1346-84D4-B04FB1C2AA9F}"/>
              </a:ext>
            </a:extLst>
          </p:cNvPr>
          <p:cNvSpPr>
            <a:spLocks noGrp="1"/>
          </p:cNvSpPr>
          <p:nvPr>
            <p:ph type="body" sz="quarter" idx="13" hasCustomPrompt="1"/>
          </p:nvPr>
        </p:nvSpPr>
        <p:spPr>
          <a:xfrm>
            <a:off x="432485" y="4352389"/>
            <a:ext cx="2576187" cy="389467"/>
          </a:xfrm>
        </p:spPr>
        <p:txBody>
          <a:bodyPr/>
          <a:lstStyle>
            <a:lvl1pPr algn="ctr">
              <a:buNone/>
              <a:defRPr sz="1600"/>
            </a:lvl1pPr>
          </a:lstStyle>
          <a:p>
            <a:r>
              <a:rPr lang="en-US" dirty="0"/>
              <a:t>First, Last Name</a:t>
            </a:r>
          </a:p>
        </p:txBody>
      </p:sp>
      <p:sp>
        <p:nvSpPr>
          <p:cNvPr id="10" name="Text Placeholder 2">
            <a:extLst>
              <a:ext uri="{FF2B5EF4-FFF2-40B4-BE49-F238E27FC236}">
                <a16:creationId xmlns:a16="http://schemas.microsoft.com/office/drawing/2014/main" id="{11ED3745-9702-C144-0864-2711F9D9151B}"/>
              </a:ext>
            </a:extLst>
          </p:cNvPr>
          <p:cNvSpPr>
            <a:spLocks noGrp="1"/>
          </p:cNvSpPr>
          <p:nvPr>
            <p:ph type="body" sz="quarter" idx="14" hasCustomPrompt="1"/>
          </p:nvPr>
        </p:nvSpPr>
        <p:spPr>
          <a:xfrm>
            <a:off x="432485"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7" name="Picture Placeholder 16">
            <a:extLst>
              <a:ext uri="{FF2B5EF4-FFF2-40B4-BE49-F238E27FC236}">
                <a16:creationId xmlns:a16="http://schemas.microsoft.com/office/drawing/2014/main" id="{D64572AC-2D77-A409-8214-877569675DDB}"/>
              </a:ext>
            </a:extLst>
          </p:cNvPr>
          <p:cNvSpPr>
            <a:spLocks noGrp="1" noChangeAspect="1"/>
          </p:cNvSpPr>
          <p:nvPr>
            <p:ph type="pic" sz="quarter" idx="19"/>
          </p:nvPr>
        </p:nvSpPr>
        <p:spPr>
          <a:xfrm>
            <a:off x="687306" y="2031771"/>
            <a:ext cx="2066543" cy="2012657"/>
          </a:xfrm>
          <a:prstGeom prst="roundRect">
            <a:avLst>
              <a:gd name="adj" fmla="val 5474"/>
            </a:avLst>
          </a:prstGeom>
        </p:spPr>
        <p:txBody>
          <a:bodyPr/>
          <a:lstStyle/>
          <a:p>
            <a:endParaRPr lang="en-US"/>
          </a:p>
        </p:txBody>
      </p:sp>
      <p:sp>
        <p:nvSpPr>
          <p:cNvPr id="14" name="Text Placeholder 1">
            <a:extLst>
              <a:ext uri="{FF2B5EF4-FFF2-40B4-BE49-F238E27FC236}">
                <a16:creationId xmlns:a16="http://schemas.microsoft.com/office/drawing/2014/main" id="{FE1F46AD-5BBD-7DC9-DF07-216F7BC3A306}"/>
              </a:ext>
            </a:extLst>
          </p:cNvPr>
          <p:cNvSpPr>
            <a:spLocks noGrp="1"/>
          </p:cNvSpPr>
          <p:nvPr>
            <p:ph type="body" sz="quarter" idx="20" hasCustomPrompt="1"/>
          </p:nvPr>
        </p:nvSpPr>
        <p:spPr>
          <a:xfrm>
            <a:off x="3352666" y="4352389"/>
            <a:ext cx="2576187" cy="389467"/>
          </a:xfrm>
        </p:spPr>
        <p:txBody>
          <a:bodyPr/>
          <a:lstStyle>
            <a:lvl1pPr algn="ctr">
              <a:buNone/>
              <a:defRPr sz="1600"/>
            </a:lvl1pPr>
          </a:lstStyle>
          <a:p>
            <a:r>
              <a:rPr lang="en-US" dirty="0"/>
              <a:t>First, Last Name</a:t>
            </a:r>
          </a:p>
        </p:txBody>
      </p:sp>
      <p:sp>
        <p:nvSpPr>
          <p:cNvPr id="15" name="Text Placeholder 2">
            <a:extLst>
              <a:ext uri="{FF2B5EF4-FFF2-40B4-BE49-F238E27FC236}">
                <a16:creationId xmlns:a16="http://schemas.microsoft.com/office/drawing/2014/main" id="{A1DAAD0E-6AED-CCA8-307C-F94AA8A239A1}"/>
              </a:ext>
            </a:extLst>
          </p:cNvPr>
          <p:cNvSpPr>
            <a:spLocks noGrp="1"/>
          </p:cNvSpPr>
          <p:nvPr>
            <p:ph type="body" sz="quarter" idx="21" hasCustomPrompt="1"/>
          </p:nvPr>
        </p:nvSpPr>
        <p:spPr>
          <a:xfrm>
            <a:off x="3352666"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16" name="Picture Placeholder 16">
            <a:extLst>
              <a:ext uri="{FF2B5EF4-FFF2-40B4-BE49-F238E27FC236}">
                <a16:creationId xmlns:a16="http://schemas.microsoft.com/office/drawing/2014/main" id="{BA3D9D5B-117F-0FFF-1C98-734B2B7D8248}"/>
              </a:ext>
            </a:extLst>
          </p:cNvPr>
          <p:cNvSpPr>
            <a:spLocks noGrp="1" noChangeAspect="1"/>
          </p:cNvSpPr>
          <p:nvPr>
            <p:ph type="pic" sz="quarter" idx="22"/>
          </p:nvPr>
        </p:nvSpPr>
        <p:spPr>
          <a:xfrm>
            <a:off x="3607487" y="2031771"/>
            <a:ext cx="2066543" cy="2012657"/>
          </a:xfrm>
          <a:prstGeom prst="roundRect">
            <a:avLst>
              <a:gd name="adj" fmla="val 5474"/>
            </a:avLst>
          </a:prstGeom>
        </p:spPr>
        <p:txBody>
          <a:bodyPr/>
          <a:lstStyle/>
          <a:p>
            <a:endParaRPr lang="en-US"/>
          </a:p>
        </p:txBody>
      </p:sp>
      <p:sp>
        <p:nvSpPr>
          <p:cNvPr id="19" name="Text Placeholder 1">
            <a:extLst>
              <a:ext uri="{FF2B5EF4-FFF2-40B4-BE49-F238E27FC236}">
                <a16:creationId xmlns:a16="http://schemas.microsoft.com/office/drawing/2014/main" id="{AC2D8529-3E99-19AD-8343-5CFF58213A72}"/>
              </a:ext>
            </a:extLst>
          </p:cNvPr>
          <p:cNvSpPr>
            <a:spLocks noGrp="1"/>
          </p:cNvSpPr>
          <p:nvPr>
            <p:ph type="body" sz="quarter" idx="23" hasCustomPrompt="1"/>
          </p:nvPr>
        </p:nvSpPr>
        <p:spPr>
          <a:xfrm>
            <a:off x="6272847" y="4352389"/>
            <a:ext cx="2576187" cy="389467"/>
          </a:xfrm>
        </p:spPr>
        <p:txBody>
          <a:bodyPr/>
          <a:lstStyle>
            <a:lvl1pPr algn="ctr">
              <a:buNone/>
              <a:defRPr sz="1600"/>
            </a:lvl1pPr>
          </a:lstStyle>
          <a:p>
            <a:r>
              <a:rPr lang="en-US" dirty="0"/>
              <a:t>First, Last Name</a:t>
            </a:r>
          </a:p>
        </p:txBody>
      </p:sp>
      <p:sp>
        <p:nvSpPr>
          <p:cNvPr id="20" name="Text Placeholder 2">
            <a:extLst>
              <a:ext uri="{FF2B5EF4-FFF2-40B4-BE49-F238E27FC236}">
                <a16:creationId xmlns:a16="http://schemas.microsoft.com/office/drawing/2014/main" id="{C6142541-E010-1B38-730E-9BBF4B109999}"/>
              </a:ext>
            </a:extLst>
          </p:cNvPr>
          <p:cNvSpPr>
            <a:spLocks noGrp="1"/>
          </p:cNvSpPr>
          <p:nvPr>
            <p:ph type="body" sz="quarter" idx="24" hasCustomPrompt="1"/>
          </p:nvPr>
        </p:nvSpPr>
        <p:spPr>
          <a:xfrm>
            <a:off x="6272847"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1" name="Picture Placeholder 16">
            <a:extLst>
              <a:ext uri="{FF2B5EF4-FFF2-40B4-BE49-F238E27FC236}">
                <a16:creationId xmlns:a16="http://schemas.microsoft.com/office/drawing/2014/main" id="{6F57ECAD-EE3E-D3A3-FE82-A24BEC29011D}"/>
              </a:ext>
            </a:extLst>
          </p:cNvPr>
          <p:cNvSpPr>
            <a:spLocks noGrp="1" noChangeAspect="1"/>
          </p:cNvSpPr>
          <p:nvPr>
            <p:ph type="pic" sz="quarter" idx="25"/>
          </p:nvPr>
        </p:nvSpPr>
        <p:spPr>
          <a:xfrm>
            <a:off x="6527668" y="2031771"/>
            <a:ext cx="2066543" cy="2012657"/>
          </a:xfrm>
          <a:prstGeom prst="roundRect">
            <a:avLst>
              <a:gd name="adj" fmla="val 5474"/>
            </a:avLst>
          </a:prstGeom>
        </p:spPr>
        <p:txBody>
          <a:bodyPr/>
          <a:lstStyle/>
          <a:p>
            <a:endParaRPr lang="en-US"/>
          </a:p>
        </p:txBody>
      </p:sp>
      <p:sp>
        <p:nvSpPr>
          <p:cNvPr id="22" name="Text Placeholder 1">
            <a:extLst>
              <a:ext uri="{FF2B5EF4-FFF2-40B4-BE49-F238E27FC236}">
                <a16:creationId xmlns:a16="http://schemas.microsoft.com/office/drawing/2014/main" id="{75660CCE-2531-B031-217C-F7DAEF2426AA}"/>
              </a:ext>
            </a:extLst>
          </p:cNvPr>
          <p:cNvSpPr>
            <a:spLocks noGrp="1"/>
          </p:cNvSpPr>
          <p:nvPr>
            <p:ph type="body" sz="quarter" idx="26" hasCustomPrompt="1"/>
          </p:nvPr>
        </p:nvSpPr>
        <p:spPr>
          <a:xfrm>
            <a:off x="9193028" y="4352389"/>
            <a:ext cx="2576187" cy="389467"/>
          </a:xfrm>
        </p:spPr>
        <p:txBody>
          <a:bodyPr/>
          <a:lstStyle>
            <a:lvl1pPr algn="ctr">
              <a:buNone/>
              <a:defRPr sz="1600"/>
            </a:lvl1pPr>
          </a:lstStyle>
          <a:p>
            <a:r>
              <a:rPr lang="en-US" dirty="0"/>
              <a:t>First, Last Name</a:t>
            </a:r>
          </a:p>
        </p:txBody>
      </p:sp>
      <p:sp>
        <p:nvSpPr>
          <p:cNvPr id="23" name="Text Placeholder 2">
            <a:extLst>
              <a:ext uri="{FF2B5EF4-FFF2-40B4-BE49-F238E27FC236}">
                <a16:creationId xmlns:a16="http://schemas.microsoft.com/office/drawing/2014/main" id="{F92136B9-F2B8-503C-7BEA-2DFC31DD1857}"/>
              </a:ext>
            </a:extLst>
          </p:cNvPr>
          <p:cNvSpPr>
            <a:spLocks noGrp="1"/>
          </p:cNvSpPr>
          <p:nvPr>
            <p:ph type="body" sz="quarter" idx="27" hasCustomPrompt="1"/>
          </p:nvPr>
        </p:nvSpPr>
        <p:spPr>
          <a:xfrm>
            <a:off x="9193028" y="4824252"/>
            <a:ext cx="2576187" cy="713024"/>
          </a:xfrm>
        </p:spPr>
        <p:txBody>
          <a:bodyPr/>
          <a:lstStyle>
            <a:lvl1pPr algn="ctr">
              <a:spcAft>
                <a:spcPts val="600"/>
              </a:spcAft>
              <a:buNone/>
              <a:defRPr sz="1100"/>
            </a:lvl1pPr>
          </a:lstStyle>
          <a:p>
            <a:r>
              <a:rPr lang="en-US" dirty="0"/>
              <a:t>Job Title </a:t>
            </a:r>
          </a:p>
          <a:p>
            <a:r>
              <a:rPr lang="en-US" dirty="0"/>
              <a:t>Company</a:t>
            </a:r>
          </a:p>
        </p:txBody>
      </p:sp>
      <p:sp>
        <p:nvSpPr>
          <p:cNvPr id="24" name="Picture Placeholder 16">
            <a:extLst>
              <a:ext uri="{FF2B5EF4-FFF2-40B4-BE49-F238E27FC236}">
                <a16:creationId xmlns:a16="http://schemas.microsoft.com/office/drawing/2014/main" id="{75354921-F51D-52D0-5759-AD8362782FDE}"/>
              </a:ext>
            </a:extLst>
          </p:cNvPr>
          <p:cNvSpPr>
            <a:spLocks noGrp="1" noChangeAspect="1"/>
          </p:cNvSpPr>
          <p:nvPr>
            <p:ph type="pic" sz="quarter" idx="28"/>
          </p:nvPr>
        </p:nvSpPr>
        <p:spPr>
          <a:xfrm>
            <a:off x="9447849" y="2031771"/>
            <a:ext cx="2066543" cy="2012657"/>
          </a:xfrm>
          <a:prstGeom prst="roundRect">
            <a:avLst>
              <a:gd name="adj" fmla="val 5474"/>
            </a:avLst>
          </a:prstGeom>
        </p:spPr>
        <p:txBody>
          <a:bodyPr/>
          <a:lstStyle/>
          <a:p>
            <a:endParaRPr lang="en-US"/>
          </a:p>
        </p:txBody>
      </p:sp>
    </p:spTree>
    <p:extLst>
      <p:ext uri="{BB962C8B-B14F-4D97-AF65-F5344CB8AC3E}">
        <p14:creationId xmlns:p14="http://schemas.microsoft.com/office/powerpoint/2010/main" val="3808955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C50E13-06E5-F6BB-7667-EE8E9893D04E}"/>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
        <p:nvSpPr>
          <p:cNvPr id="2" name="Footer Placeholder 1">
            <a:extLst>
              <a:ext uri="{FF2B5EF4-FFF2-40B4-BE49-F238E27FC236}">
                <a16:creationId xmlns:a16="http://schemas.microsoft.com/office/drawing/2014/main" id="{8005315C-F3C4-4817-6DB5-825E9E8E9690}"/>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Tree>
    <p:extLst>
      <p:ext uri="{BB962C8B-B14F-4D97-AF65-F5344CB8AC3E}">
        <p14:creationId xmlns:p14="http://schemas.microsoft.com/office/powerpoint/2010/main" val="522757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Chart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9" name="Chart Placeholder 8">
            <a:extLst>
              <a:ext uri="{FF2B5EF4-FFF2-40B4-BE49-F238E27FC236}">
                <a16:creationId xmlns:a16="http://schemas.microsoft.com/office/drawing/2014/main" id="{BD67761C-12AC-06B4-1032-66C47B765FE0}"/>
              </a:ext>
            </a:extLst>
          </p:cNvPr>
          <p:cNvSpPr>
            <a:spLocks noGrp="1"/>
          </p:cNvSpPr>
          <p:nvPr>
            <p:ph type="chart" sz="quarter" idx="13" hasCustomPrompt="1"/>
          </p:nvPr>
        </p:nvSpPr>
        <p:spPr>
          <a:xfrm>
            <a:off x="722313" y="1555750"/>
            <a:ext cx="10747375" cy="4519613"/>
          </a:xfrm>
        </p:spPr>
        <p:txBody>
          <a:bodyPr tIns="914400"/>
          <a:lstStyle>
            <a:lvl1pPr marL="0" indent="0" algn="ctr">
              <a:buNone/>
              <a:defRPr/>
            </a:lvl1pPr>
          </a:lstStyle>
          <a:p>
            <a:r>
              <a:rPr lang="en-US" dirty="0"/>
              <a:t>Click on icon below to add a chart</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90743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Subtitle, Table 1">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74D6FA-95EE-1CAF-BEA5-F32D06BA6158}"/>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DCDE918-878C-B6E2-7015-CE4BF7A0B7FA}"/>
              </a:ext>
            </a:extLst>
          </p:cNvPr>
          <p:cNvSpPr>
            <a:spLocks noGrp="1"/>
          </p:cNvSpPr>
          <p:nvPr>
            <p:ph type="body" sz="quarter" idx="11" hasCustomPrompt="1"/>
          </p:nvPr>
        </p:nvSpPr>
        <p:spPr>
          <a:xfrm>
            <a:off x="323850" y="806450"/>
            <a:ext cx="5772150" cy="292100"/>
          </a:xfrm>
        </p:spPr>
        <p:txBody>
          <a:bodyPr/>
          <a:lstStyle>
            <a:lvl1pPr marL="0" indent="0">
              <a:buNone/>
              <a:defRPr sz="1600" b="0"/>
            </a:lvl1pPr>
            <a:lvl2pPr marL="182880" indent="0">
              <a:buNone/>
              <a:defRPr sz="1400"/>
            </a:lvl2pPr>
            <a:lvl3pPr marL="365760" indent="0">
              <a:buNone/>
              <a:defRPr sz="1200"/>
            </a:lvl3pPr>
            <a:lvl4pPr marL="548640" indent="0">
              <a:buNone/>
              <a:defRPr sz="1100"/>
            </a:lvl4pPr>
            <a:lvl5pPr marL="731520" indent="0">
              <a:buNone/>
              <a:defRPr sz="1050"/>
            </a:lvl5pPr>
          </a:lstStyle>
          <a:p>
            <a:pPr lvl="0"/>
            <a:r>
              <a:rPr lang="en-US" dirty="0"/>
              <a:t>Subtitle placeholder</a:t>
            </a:r>
          </a:p>
        </p:txBody>
      </p:sp>
      <p:sp>
        <p:nvSpPr>
          <p:cNvPr id="7" name="Table Placeholder 6">
            <a:extLst>
              <a:ext uri="{FF2B5EF4-FFF2-40B4-BE49-F238E27FC236}">
                <a16:creationId xmlns:a16="http://schemas.microsoft.com/office/drawing/2014/main" id="{B0E688F9-03DF-D354-A8AF-EF5349F39C6B}"/>
              </a:ext>
            </a:extLst>
          </p:cNvPr>
          <p:cNvSpPr>
            <a:spLocks noGrp="1"/>
          </p:cNvSpPr>
          <p:nvPr>
            <p:ph type="tbl" sz="quarter" idx="13" hasCustomPrompt="1"/>
          </p:nvPr>
        </p:nvSpPr>
        <p:spPr>
          <a:xfrm>
            <a:off x="323850" y="1555750"/>
            <a:ext cx="11544300" cy="4519613"/>
          </a:xfrm>
        </p:spPr>
        <p:txBody>
          <a:bodyPr tIns="914400"/>
          <a:lstStyle>
            <a:lvl1pPr marL="0" indent="0" algn="ctr">
              <a:buNone/>
              <a:defRPr/>
            </a:lvl1pPr>
          </a:lstStyle>
          <a:p>
            <a:r>
              <a:rPr lang="en-US" dirty="0"/>
              <a:t>Click on icon below to add a table</a:t>
            </a:r>
          </a:p>
        </p:txBody>
      </p:sp>
      <p:sp>
        <p:nvSpPr>
          <p:cNvPr id="4" name="Footer Placeholder 3">
            <a:extLst>
              <a:ext uri="{FF2B5EF4-FFF2-40B4-BE49-F238E27FC236}">
                <a16:creationId xmlns:a16="http://schemas.microsoft.com/office/drawing/2014/main" id="{0D345BA0-AFF9-CA34-CF89-66A166DB409B}"/>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82821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2 Slide Title, Char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27114D6-E2A0-BB7F-D120-F920E817C802}"/>
              </a:ext>
            </a:extLst>
          </p:cNvPr>
          <p:cNvSpPr>
            <a:spLocks noGrp="1"/>
          </p:cNvSpPr>
          <p:nvPr>
            <p:ph type="title"/>
          </p:nvPr>
        </p:nvSpPr>
        <p:spPr>
          <a:xfrm>
            <a:off x="323850" y="2339181"/>
            <a:ext cx="5281613" cy="2179638"/>
          </a:xfrm>
        </p:spPr>
        <p:txBody>
          <a:bodyPr wrap="square" anchor="ctr" anchorCtr="0">
            <a:noAutofit/>
          </a:bodyPr>
          <a:lstStyle>
            <a:lvl1pPr>
              <a:defRPr/>
            </a:lvl1pPr>
          </a:lstStyle>
          <a:p>
            <a:r>
              <a:rPr lang="en-US"/>
              <a:t>Click to edit Master title style</a:t>
            </a:r>
            <a:endParaRPr lang="en-US" dirty="0"/>
          </a:p>
        </p:txBody>
      </p:sp>
      <p:sp>
        <p:nvSpPr>
          <p:cNvPr id="6" name="Chart Placeholder 5">
            <a:extLst>
              <a:ext uri="{FF2B5EF4-FFF2-40B4-BE49-F238E27FC236}">
                <a16:creationId xmlns:a16="http://schemas.microsoft.com/office/drawing/2014/main" id="{89EC94CF-F758-4A7C-3B39-A1EFC1EA815A}"/>
              </a:ext>
            </a:extLst>
          </p:cNvPr>
          <p:cNvSpPr>
            <a:spLocks noGrp="1"/>
          </p:cNvSpPr>
          <p:nvPr>
            <p:ph type="chart" sz="quarter" idx="12" hasCustomPrompt="1"/>
          </p:nvPr>
        </p:nvSpPr>
        <p:spPr>
          <a:xfrm>
            <a:off x="6581775" y="952500"/>
            <a:ext cx="4887913" cy="4968875"/>
          </a:xfrm>
        </p:spPr>
        <p:txBody>
          <a:bodyPr tIns="914400"/>
          <a:lstStyle>
            <a:lvl1pPr marL="0" indent="0" algn="ctr">
              <a:buNone/>
              <a:defRPr/>
            </a:lvl1pPr>
          </a:lstStyle>
          <a:p>
            <a:r>
              <a:rPr lang="en-US" dirty="0"/>
              <a:t>Click icon below to add chart</a:t>
            </a:r>
          </a:p>
        </p:txBody>
      </p:sp>
      <p:sp>
        <p:nvSpPr>
          <p:cNvPr id="4" name="Footer Placeholder 3">
            <a:extLst>
              <a:ext uri="{FF2B5EF4-FFF2-40B4-BE49-F238E27FC236}">
                <a16:creationId xmlns:a16="http://schemas.microsoft.com/office/drawing/2014/main" id="{6B01575F-C481-6715-1865-C24DCDB56C33}"/>
              </a:ext>
            </a:extLst>
          </p:cNvPr>
          <p:cNvSpPr>
            <a:spLocks noGrp="1"/>
          </p:cNvSpPr>
          <p:nvPr>
            <p:ph type="ftr" sz="quarter" idx="11"/>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F288B697-7FF8-033A-E0D2-4C2717BFD5E6}"/>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363279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Splunk - Statement 1, Title, Sub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E0C9451-8976-3C96-3C4E-F9624BB318AB}"/>
              </a:ext>
            </a:extLst>
          </p:cNvPr>
          <p:cNvSpPr>
            <a:spLocks noGrp="1"/>
          </p:cNvSpPr>
          <p:nvPr>
            <p:ph type="title"/>
          </p:nvPr>
        </p:nvSpPr>
        <p:spPr>
          <a:xfrm>
            <a:off x="2278063" y="952500"/>
            <a:ext cx="7634288" cy="2476500"/>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Lst>
          </p:cNvPr>
          <p:cNvSpPr>
            <a:spLocks noGrp="1"/>
          </p:cNvSpPr>
          <p:nvPr>
            <p:ph type="body" sz="quarter" idx="11"/>
          </p:nvPr>
        </p:nvSpPr>
        <p:spPr>
          <a:xfrm>
            <a:off x="2278063" y="3738563"/>
            <a:ext cx="7634287" cy="936625"/>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63146B2-9533-23DF-7DA9-0EBFD969778A}"/>
              </a:ext>
            </a:extLst>
          </p:cNvPr>
          <p:cNvSpPr>
            <a:spLocks noGrp="1"/>
          </p:cNvSpPr>
          <p:nvPr>
            <p:ph type="ftr" sz="quarter" idx="12"/>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3" name="Slide Number Placeholder 2">
            <a:extLst>
              <a:ext uri="{FF2B5EF4-FFF2-40B4-BE49-F238E27FC236}">
                <a16:creationId xmlns:a16="http://schemas.microsoft.com/office/drawing/2014/main" id="{8FD4EDA1-89C5-8341-7EDE-FCCAAA0607CB}"/>
              </a:ext>
            </a:extLst>
          </p:cNvPr>
          <p:cNvSpPr>
            <a:spLocks noGrp="1"/>
          </p:cNvSpPr>
          <p:nvPr>
            <p:ph type="sldNum" sz="quarter" idx="10"/>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1635305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hoto Statement 1, Title, Subtitle">
    <p:bg>
      <p:bgPr>
        <a:gradFill>
          <a:gsLst>
            <a:gs pos="16000">
              <a:schemeClr val="bg1"/>
            </a:gs>
            <a:gs pos="43000">
              <a:srgbClr val="F7F9FC"/>
            </a:gs>
            <a:gs pos="74000">
              <a:schemeClr val="bg2"/>
            </a:gs>
            <a:gs pos="100000">
              <a:schemeClr val="accent5"/>
            </a:gs>
          </a:gsLst>
          <a:lin ang="4800000" scaled="0"/>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BE3366F-F43E-6996-B128-0A001300FD22}"/>
              </a:ext>
              <a:ext uri="{C183D7F6-B498-43B3-948B-1728B52AA6E4}">
                <adec:decorative xmlns:adec="http://schemas.microsoft.com/office/drawing/2017/decorative" val="0"/>
              </a:ext>
            </a:extLst>
          </p:cNvPr>
          <p:cNvSpPr>
            <a:spLocks noGrp="1"/>
          </p:cNvSpPr>
          <p:nvPr>
            <p:ph type="pic" sz="quarter" idx="13" hasCustomPrompt="1"/>
          </p:nvPr>
        </p:nvSpPr>
        <p:spPr>
          <a:xfrm>
            <a:off x="0" y="0"/>
            <a:ext cx="12192000" cy="6858000"/>
          </a:xfrm>
          <a:noFill/>
        </p:spPr>
        <p:txBody>
          <a:bodyPr tIns="274320"/>
          <a:lstStyle>
            <a:lvl1pPr marL="0" indent="0" algn="ctr">
              <a:buNone/>
              <a:defRPr/>
            </a:lvl1pPr>
          </a:lstStyle>
          <a:p>
            <a:r>
              <a:rPr lang="en-US" dirty="0"/>
              <a:t>Image placeholder</a:t>
            </a:r>
          </a:p>
        </p:txBody>
      </p:sp>
      <p:sp>
        <p:nvSpPr>
          <p:cNvPr id="6" name="Title 5">
            <a:extLst>
              <a:ext uri="{FF2B5EF4-FFF2-40B4-BE49-F238E27FC236}">
                <a16:creationId xmlns:a16="http://schemas.microsoft.com/office/drawing/2014/main" id="{576B6A35-8740-9D1E-A189-71BC5C742FCC}"/>
              </a:ext>
            </a:extLst>
          </p:cNvPr>
          <p:cNvSpPr>
            <a:spLocks noGrp="1"/>
          </p:cNvSpPr>
          <p:nvPr>
            <p:ph type="title"/>
          </p:nvPr>
        </p:nvSpPr>
        <p:spPr>
          <a:xfrm>
            <a:off x="2278063" y="952500"/>
            <a:ext cx="7634288" cy="1537465"/>
          </a:xfrm>
        </p:spPr>
        <p:txBody>
          <a:bodyPr anchor="b" anchorCtr="0"/>
          <a:lstStyle>
            <a:lvl1pPr algn="ctr">
              <a:defRPr sz="4000"/>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96D4A8F9-F7CA-7BED-9594-D64F51EE92BB}"/>
              </a:ext>
              <a:ext uri="{C183D7F6-B498-43B3-948B-1728B52AA6E4}">
                <adec:decorative xmlns:adec="http://schemas.microsoft.com/office/drawing/2017/decorative" val="0"/>
              </a:ext>
            </a:extLst>
          </p:cNvPr>
          <p:cNvSpPr>
            <a:spLocks noGrp="1"/>
          </p:cNvSpPr>
          <p:nvPr>
            <p:ph type="body" sz="quarter" idx="11"/>
          </p:nvPr>
        </p:nvSpPr>
        <p:spPr>
          <a:xfrm>
            <a:off x="2278063" y="2492374"/>
            <a:ext cx="7634287" cy="311152"/>
          </a:xfrm>
        </p:spPr>
        <p:txBody>
          <a:bodyPr/>
          <a:lstStyle>
            <a:lvl1pPr marL="0" indent="0" algn="ctr">
              <a:buNone/>
              <a:defRPr/>
            </a:lvl1pPr>
            <a:lvl2pPr marL="182880" indent="0" algn="ctr">
              <a:buNone/>
              <a:defRPr/>
            </a:lvl2pPr>
            <a:lvl3pPr marL="365760" indent="0" algn="ctr">
              <a:buNone/>
              <a:defRPr/>
            </a:lvl3pPr>
            <a:lvl4pPr marL="548640" indent="0" algn="ctr">
              <a:buNone/>
              <a:defRPr/>
            </a:lvl4pPr>
            <a:lvl5pPr marL="731520" indent="0" algn="ctr">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5D703969-9100-4398-1394-9B9B34222C66}"/>
              </a:ext>
            </a:extLst>
          </p:cNvPr>
          <p:cNvSpPr>
            <a:spLocks noGrp="1"/>
          </p:cNvSpPr>
          <p:nvPr>
            <p:ph type="ftr" sz="quarter" idx="14"/>
          </p:nvPr>
        </p:nvSpPr>
        <p:spPr>
          <a:xfrm>
            <a:off x="4230688" y="6445885"/>
            <a:ext cx="3727450" cy="411480"/>
          </a:xfrm>
          <a:prstGeom prst="rect">
            <a:avLst/>
          </a:prstGeom>
        </p:spPr>
        <p:txBody>
          <a:bodyPr/>
          <a:lstStyle/>
          <a:p>
            <a:pPr defTabSz="814318">
              <a:defRPr/>
            </a:pPr>
            <a:r>
              <a:rPr lang="en-US"/>
              <a:t>Session ID: BRKSEC-XXXX</a:t>
            </a:r>
            <a:endParaRPr lang="en-US" dirty="0"/>
          </a:p>
        </p:txBody>
      </p:sp>
      <p:sp>
        <p:nvSpPr>
          <p:cNvPr id="4" name="Slide Number Placeholder 3">
            <a:extLst>
              <a:ext uri="{FF2B5EF4-FFF2-40B4-BE49-F238E27FC236}">
                <a16:creationId xmlns:a16="http://schemas.microsoft.com/office/drawing/2014/main" id="{D6CFB270-12CC-4B92-85FD-B7710644F26B}"/>
              </a:ext>
              <a:ext uri="{C183D7F6-B498-43B3-948B-1728B52AA6E4}">
                <adec:decorative xmlns:adec="http://schemas.microsoft.com/office/drawing/2017/decorative" val="0"/>
              </a:ext>
            </a:extLst>
          </p:cNvPr>
          <p:cNvSpPr>
            <a:spLocks noGrp="1"/>
          </p:cNvSpPr>
          <p:nvPr>
            <p:ph type="sldNum" sz="quarter" idx="12"/>
          </p:nvPr>
        </p:nvSpPr>
        <p:spPr>
          <a:xfrm>
            <a:off x="9115425" y="6448929"/>
            <a:ext cx="1773238" cy="411480"/>
          </a:xfrm>
          <a:prstGeom prst="rect">
            <a:avLst/>
          </a:prstGeom>
        </p:spPr>
        <p:txBody>
          <a:bodyPr/>
          <a:lstStyle/>
          <a:p>
            <a:fld id="{C3C42FAE-7A31-41D3-A712-51D9B15D0B10}" type="slidenum">
              <a:rPr lang="en-US" smtClean="0"/>
              <a:pPr/>
              <a:t>‹#›</a:t>
            </a:fld>
            <a:endParaRPr lang="en-US" dirty="0"/>
          </a:p>
        </p:txBody>
      </p:sp>
    </p:spTree>
    <p:extLst>
      <p:ext uri="{BB962C8B-B14F-4D97-AF65-F5344CB8AC3E}">
        <p14:creationId xmlns:p14="http://schemas.microsoft.com/office/powerpoint/2010/main" val="4050403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1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F17AB4-9E08-0A74-D302-44EB1D55BE7A}"/>
              </a:ext>
            </a:extLst>
          </p:cNvPr>
          <p:cNvSpPr>
            <a:spLocks noGrp="1"/>
          </p:cNvSpPr>
          <p:nvPr>
            <p:ph type="title"/>
          </p:nvPr>
        </p:nvSpPr>
        <p:spPr>
          <a:xfrm>
            <a:off x="323850" y="2492375"/>
            <a:ext cx="7634288" cy="1868488"/>
          </a:xfrm>
        </p:spPr>
        <p:txBody>
          <a:bodyPr wrap="square" anchor="ctr" anchorCtr="0">
            <a:no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14939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8" y="1856300"/>
            <a:ext cx="7037285" cy="1572700"/>
          </a:xfrm>
        </p:spPr>
        <p:txBody>
          <a:bodyPr anchor="b"/>
          <a:lstStyle>
            <a:lvl1pPr marL="0" indent="0" algn="l">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11" name="Graphic 10">
            <a:extLst>
              <a:ext uri="{FF2B5EF4-FFF2-40B4-BE49-F238E27FC236}">
                <a16:creationId xmlns:a16="http://schemas.microsoft.com/office/drawing/2014/main" id="{5811B96E-B154-6B96-C39C-D6B95E4B06F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154652" y="5667847"/>
            <a:ext cx="2398251" cy="625821"/>
          </a:xfrm>
          <a:prstGeom prst="rect">
            <a:avLst/>
          </a:prstGeom>
        </p:spPr>
      </p:pic>
    </p:spTree>
    <p:extLst>
      <p:ext uri="{BB962C8B-B14F-4D97-AF65-F5344CB8AC3E}">
        <p14:creationId xmlns:p14="http://schemas.microsoft.com/office/powerpoint/2010/main" val="1657803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Splunk -Segu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FD9834A-45D9-99BF-C75A-0668191F9F21}"/>
              </a:ext>
            </a:extLst>
          </p:cNvPr>
          <p:cNvSpPr>
            <a:spLocks noGrp="1"/>
          </p:cNvSpPr>
          <p:nvPr>
            <p:ph type="body" sz="quarter" idx="10" hasCustomPrompt="1"/>
          </p:nvPr>
        </p:nvSpPr>
        <p:spPr>
          <a:xfrm>
            <a:off x="376237" y="1856300"/>
            <a:ext cx="7037285" cy="1572700"/>
          </a:xfrm>
        </p:spPr>
        <p:txBody>
          <a:bodyPr anchor="b"/>
          <a:lstStyle>
            <a:lvl1pPr marL="0" indent="0">
              <a:buNone/>
              <a:defRPr sz="4400">
                <a:latin typeface="+mj-lt"/>
              </a:defRPr>
            </a:lvl1pPr>
          </a:lstStyle>
          <a:p>
            <a:pPr lvl="0"/>
            <a:r>
              <a:rPr lang="en-US" dirty="0"/>
              <a:t>Click to edit Master title layout</a:t>
            </a:r>
          </a:p>
        </p:txBody>
      </p:sp>
      <p:sp>
        <p:nvSpPr>
          <p:cNvPr id="8" name="Text Placeholder 6">
            <a:extLst>
              <a:ext uri="{FF2B5EF4-FFF2-40B4-BE49-F238E27FC236}">
                <a16:creationId xmlns:a16="http://schemas.microsoft.com/office/drawing/2014/main" id="{8178EDCA-C55C-A5BE-BC3E-7BB45DBD4B2C}"/>
              </a:ext>
            </a:extLst>
          </p:cNvPr>
          <p:cNvSpPr>
            <a:spLocks noGrp="1"/>
          </p:cNvSpPr>
          <p:nvPr>
            <p:ph type="body" sz="quarter" idx="11" hasCustomPrompt="1"/>
          </p:nvPr>
        </p:nvSpPr>
        <p:spPr>
          <a:xfrm>
            <a:off x="376238" y="3913701"/>
            <a:ext cx="7037285" cy="365125"/>
          </a:xfrm>
        </p:spPr>
        <p:txBody>
          <a:bodyPr/>
          <a:lstStyle>
            <a:lvl1pPr marL="0" indent="0">
              <a:buNone/>
              <a:defRPr sz="20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subtitle</a:t>
            </a:r>
          </a:p>
        </p:txBody>
      </p:sp>
      <p:sp>
        <p:nvSpPr>
          <p:cNvPr id="9" name="Text Placeholder 6">
            <a:extLst>
              <a:ext uri="{FF2B5EF4-FFF2-40B4-BE49-F238E27FC236}">
                <a16:creationId xmlns:a16="http://schemas.microsoft.com/office/drawing/2014/main" id="{E870C557-009B-B8AA-6073-183379799CA0}"/>
              </a:ext>
            </a:extLst>
          </p:cNvPr>
          <p:cNvSpPr>
            <a:spLocks noGrp="1"/>
          </p:cNvSpPr>
          <p:nvPr>
            <p:ph type="body" sz="quarter" idx="12" hasCustomPrompt="1"/>
          </p:nvPr>
        </p:nvSpPr>
        <p:spPr>
          <a:xfrm>
            <a:off x="376238" y="4499508"/>
            <a:ext cx="7037285" cy="365125"/>
          </a:xfrm>
        </p:spPr>
        <p:txBody>
          <a:bodyPr/>
          <a:lstStyle>
            <a:lvl1pPr marL="0" indent="0">
              <a:buNone/>
              <a:defRPr sz="1600" b="0" i="0">
                <a:latin typeface="Inter Light" panose="02000403000000020004" pitchFamily="2" charset="0"/>
                <a:ea typeface="Inter Light" panose="02000403000000020004" pitchFamily="2" charset="0"/>
                <a:cs typeface="Inter Light" panose="02000403000000020004" pitchFamily="2" charset="0"/>
              </a:defRPr>
            </a:lvl1pPr>
          </a:lstStyle>
          <a:p>
            <a:pPr lvl="0"/>
            <a:r>
              <a:rPr lang="en-US" dirty="0"/>
              <a:t>Optional name placeholder</a:t>
            </a:r>
          </a:p>
        </p:txBody>
      </p:sp>
      <p:pic>
        <p:nvPicPr>
          <p:cNvPr id="2" name="Graphic 1">
            <a:extLst>
              <a:ext uri="{FF2B5EF4-FFF2-40B4-BE49-F238E27FC236}">
                <a16:creationId xmlns:a16="http://schemas.microsoft.com/office/drawing/2014/main" id="{9CFD3E2B-DFD8-49A8-F841-03A38F77306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292303" y="496079"/>
            <a:ext cx="2398251" cy="625821"/>
          </a:xfrm>
          <a:prstGeom prst="rect">
            <a:avLst/>
          </a:prstGeom>
        </p:spPr>
      </p:pic>
    </p:spTree>
    <p:extLst>
      <p:ext uri="{BB962C8B-B14F-4D97-AF65-F5344CB8AC3E}">
        <p14:creationId xmlns:p14="http://schemas.microsoft.com/office/powerpoint/2010/main" val="724030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plunk - Forward-looking 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A772939F-C842-E535-8394-ABB53441106C}"/>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bg1"/>
                </a:solidFill>
                <a:latin typeface="+mn-lt"/>
                <a:ea typeface="Lexend Medium"/>
                <a:cs typeface="Splunk Data Sans Pro" panose="020B0504030202020204" pitchFamily="34" charset="0"/>
                <a:sym typeface="Lexend"/>
              </a:rPr>
              <a:t>investor.cisco.com</a:t>
            </a:r>
            <a:r>
              <a:rPr lang="en-US" sz="950" b="0" i="0" dirty="0">
                <a:solidFill>
                  <a:schemeClr val="bg1"/>
                </a:solidFill>
                <a:latin typeface="+mn-lt"/>
                <a:ea typeface="Lexend Medium"/>
                <a:cs typeface="Splunk Data Sans Pro" panose="020B0504030202020204" pitchFamily="34" charset="0"/>
                <a:sym typeface="Lexend"/>
              </a:rPr>
              <a:t> or the SEC's website at </a:t>
            </a:r>
            <a:r>
              <a:rPr lang="en-US" sz="950" b="0" i="0" dirty="0" err="1">
                <a:solidFill>
                  <a:schemeClr val="bg1"/>
                </a:solidFill>
                <a:latin typeface="+mn-lt"/>
                <a:ea typeface="Lexend Medium"/>
                <a:cs typeface="Splunk Data Sans Pro" panose="020B0504030202020204" pitchFamily="34" charset="0"/>
                <a:sym typeface="Lexend"/>
              </a:rPr>
              <a:t>www.sec.gov</a:t>
            </a:r>
            <a:r>
              <a:rPr lang="en-US" sz="950" b="0" i="0" dirty="0">
                <a:solidFill>
                  <a:schemeClr val="bg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bg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4" name="Title 2">
            <a:extLst>
              <a:ext uri="{FF2B5EF4-FFF2-40B4-BE49-F238E27FC236}">
                <a16:creationId xmlns:a16="http://schemas.microsoft.com/office/drawing/2014/main" id="{7FD21534-54B2-2F1D-3FA0-79707BD45740}"/>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bg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bg1"/>
                </a:solidFill>
                <a:latin typeface="+mn-lt"/>
                <a:ea typeface="Lexend Medium"/>
                <a:cs typeface="Splunk Data Sans Pro" panose="020B0504030202020204" pitchFamily="34" charset="0"/>
                <a:sym typeface="Lexend"/>
              </a:rPr>
              <a:t>www.cisco.com</a:t>
            </a:r>
            <a:r>
              <a:rPr lang="en-US" sz="950" b="0" i="0" dirty="0">
                <a:solidFill>
                  <a:schemeClr val="bg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6" name="Straight Connector 5">
            <a:extLst>
              <a:ext uri="{FF2B5EF4-FFF2-40B4-BE49-F238E27FC236}">
                <a16:creationId xmlns:a16="http://schemas.microsoft.com/office/drawing/2014/main" id="{D03CF48A-0C04-BABA-C5A3-386DA61B8533}"/>
              </a:ext>
            </a:extLst>
          </p:cNvPr>
          <p:cNvCxnSpPr/>
          <p:nvPr/>
        </p:nvCxnSpPr>
        <p:spPr>
          <a:xfrm>
            <a:off x="4011388" y="4789715"/>
            <a:ext cx="7366905"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Title 2">
            <a:extLst>
              <a:ext uri="{FF2B5EF4-FFF2-40B4-BE49-F238E27FC236}">
                <a16:creationId xmlns:a16="http://schemas.microsoft.com/office/drawing/2014/main" id="{C9C2C4A0-6EA4-C056-AB73-9CE6BB1B9567}"/>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t>Forward-looking statements</a:t>
            </a:r>
          </a:p>
        </p:txBody>
      </p:sp>
      <p:sp>
        <p:nvSpPr>
          <p:cNvPr id="3" name="Title 2">
            <a:extLst>
              <a:ext uri="{FF2B5EF4-FFF2-40B4-BE49-F238E27FC236}">
                <a16:creationId xmlns:a16="http://schemas.microsoft.com/office/drawing/2014/main" id="{91312EFF-00AB-5D86-967D-6FE3BDC8788D}"/>
              </a:ext>
            </a:extLst>
          </p:cNvPr>
          <p:cNvSpPr txBox="1">
            <a:spLocks/>
          </p:cNvSpPr>
          <p:nvPr/>
        </p:nvSpPr>
        <p:spPr>
          <a:xfrm>
            <a:off x="4011389" y="913947"/>
            <a:ext cx="7366904"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This presentation may contain forward-looking statements regarding future events, plans or the expected financial performance of our company, including our expectations regarding our products, technology, strategy, customers, markets, acquisitions and investments. These statements reflect management’s current expectations, estimates and assumptions based on the information currently available to us. These forward-looking statements are not guarantees of future performance and involve significant risks, uncertainties and other factors that may cause our actual results, performance or achievements to be materially different from results, performance or achievements expressed or implied by the forward-looking statements contained in this presentation. For additional information about factors that could cause actual results to differ materially from those described in the forward-looking statements made in this presentation, please refer to Cisco’s periodic reports its other filings with the SEC, including the risk factors identified in Cisco’s most recent quarterly report on Form 10-Q and annual report on Form 10-K, copies of which may be obtained by visiting the Cisco Investor Relations website at </a:t>
            </a:r>
            <a:r>
              <a:rPr lang="en-US" sz="950" b="0" i="0" dirty="0" err="1">
                <a:solidFill>
                  <a:schemeClr val="tx1"/>
                </a:solidFill>
                <a:latin typeface="+mn-lt"/>
                <a:ea typeface="Lexend Medium"/>
                <a:cs typeface="Splunk Data Sans Pro" panose="020B0504030202020204" pitchFamily="34" charset="0"/>
                <a:sym typeface="Lexend"/>
              </a:rPr>
              <a:t>investor.cisco.com</a:t>
            </a:r>
            <a:r>
              <a:rPr lang="en-US" sz="950" b="0" i="0" dirty="0">
                <a:solidFill>
                  <a:schemeClr val="tx1"/>
                </a:solidFill>
                <a:latin typeface="+mn-lt"/>
                <a:ea typeface="Lexend Medium"/>
                <a:cs typeface="Splunk Data Sans Pro" panose="020B0504030202020204" pitchFamily="34" charset="0"/>
                <a:sym typeface="Lexend"/>
              </a:rPr>
              <a:t> or the SEC's website at </a:t>
            </a:r>
            <a:r>
              <a:rPr lang="en-US" sz="950" b="0" i="0" dirty="0" err="1">
                <a:solidFill>
                  <a:schemeClr val="tx1"/>
                </a:solidFill>
                <a:latin typeface="+mn-lt"/>
                <a:ea typeface="Lexend Medium"/>
                <a:cs typeface="Splunk Data Sans Pro" panose="020B0504030202020204" pitchFamily="34" charset="0"/>
                <a:sym typeface="Lexend"/>
              </a:rPr>
              <a:t>www.sec.gov</a:t>
            </a:r>
            <a:r>
              <a:rPr lang="en-US" sz="950" b="0" i="0" dirty="0">
                <a:solidFill>
                  <a:schemeClr val="tx1"/>
                </a:solidFill>
                <a:latin typeface="+mn-lt"/>
                <a:ea typeface="Lexend Medium"/>
                <a:cs typeface="Splunk Data Sans Pro" panose="020B0504030202020204" pitchFamily="34" charset="0"/>
                <a:sym typeface="Lexend"/>
              </a:rPr>
              <a:t>. Any projections in this presentation are based on information currently available to Cisco, which is subject to change. The forward-looking statements made in this presentation are made as of the time and date of this presentation. If reviewed after the initial presentation, even if made available by us, on our website or otherwise, it may not contain current or accurate information. We disclaim any obligation to update or revise any forward-looking statement based on new information, future events or otherwise, except as required by applicable law. </a:t>
            </a:r>
          </a:p>
          <a:p>
            <a:pPr marL="0" lvl="0" indent="0" algn="l" rtl="0">
              <a:lnSpc>
                <a:spcPct val="125000"/>
              </a:lnSpc>
              <a:spcBef>
                <a:spcPts val="0"/>
              </a:spcBef>
              <a:spcAft>
                <a:spcPts val="0"/>
              </a:spcAft>
              <a:buNone/>
            </a:pPr>
            <a:endParaRPr lang="en-US" sz="950" b="0" i="0" dirty="0">
              <a:solidFill>
                <a:schemeClr val="tx1"/>
              </a:solidFill>
              <a:latin typeface="+mn-lt"/>
              <a:ea typeface="Lexend Medium"/>
              <a:cs typeface="Splunk Data Sans Pro" panose="020B0504030202020204" pitchFamily="34" charset="0"/>
              <a:sym typeface="Lexend"/>
            </a:endParaRPr>
          </a:p>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In addition, any information about our roadmap outlines or our general product direction is subject to change at any time without notice. It is for informational purposes only and shall not be incorporated into any contract or other commitment. We undertake no obligation either to develop the features or functionalities described, in alpha or beta or in preview (used interchangeably), or to include any such feature or functionality in a future release.</a:t>
            </a:r>
          </a:p>
        </p:txBody>
      </p:sp>
      <p:sp>
        <p:nvSpPr>
          <p:cNvPr id="5" name="Title 2">
            <a:extLst>
              <a:ext uri="{FF2B5EF4-FFF2-40B4-BE49-F238E27FC236}">
                <a16:creationId xmlns:a16="http://schemas.microsoft.com/office/drawing/2014/main" id="{77BA592D-3F28-4C15-D675-DEF4D15C81F9}"/>
              </a:ext>
            </a:extLst>
          </p:cNvPr>
          <p:cNvSpPr txBox="1">
            <a:spLocks/>
          </p:cNvSpPr>
          <p:nvPr/>
        </p:nvSpPr>
        <p:spPr>
          <a:xfrm>
            <a:off x="4011388" y="5039632"/>
            <a:ext cx="7268934" cy="904421"/>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pPr marL="0" lvl="0" indent="0" algn="l" rtl="0">
              <a:lnSpc>
                <a:spcPct val="125000"/>
              </a:lnSpc>
              <a:spcBef>
                <a:spcPts val="0"/>
              </a:spcBef>
              <a:spcAft>
                <a:spcPts val="0"/>
              </a:spcAft>
              <a:buNone/>
            </a:pPr>
            <a:r>
              <a:rPr lang="en-US" sz="950" b="0" i="0" dirty="0">
                <a:solidFill>
                  <a:schemeClr val="tx1"/>
                </a:solidFill>
                <a:latin typeface="+mn-lt"/>
                <a:ea typeface="Lexend Medium"/>
                <a:cs typeface="Splunk Data Sans Pro" panose="020B0504030202020204" pitchFamily="34" charset="0"/>
                <a:sym typeface="Lexend"/>
              </a:rPr>
              <a:t>Copyright © 2026 Cisco and/or its affiliates. All rights reserved. Cisco, Splunk and the Cisco and Splunk logos are trademarks or registered trademarks of Cisco and/or its affiliates in the U.S. and other countries. To view a list of Cisco trademarks, go to: </a:t>
            </a:r>
            <a:r>
              <a:rPr lang="en-US" sz="950" b="0" i="0" dirty="0" err="1">
                <a:solidFill>
                  <a:schemeClr val="tx1"/>
                </a:solidFill>
                <a:latin typeface="+mn-lt"/>
                <a:ea typeface="Lexend Medium"/>
                <a:cs typeface="Splunk Data Sans Pro" panose="020B0504030202020204" pitchFamily="34" charset="0"/>
                <a:sym typeface="Lexend"/>
              </a:rPr>
              <a:t>www.cisco.com</a:t>
            </a:r>
            <a:r>
              <a:rPr lang="en-US" sz="950" b="0" i="0" dirty="0">
                <a:solidFill>
                  <a:schemeClr val="tx1"/>
                </a:solidFill>
                <a:latin typeface="+mn-lt"/>
                <a:ea typeface="Lexend Medium"/>
                <a:cs typeface="Splunk Data Sans Pro" panose="020B0504030202020204" pitchFamily="34" charset="0"/>
                <a:sym typeface="Lexend"/>
              </a:rPr>
              <a:t>/go/trademarks. Third-party trademarks mentioned in this presentation are the property of their respective owners. The use of the word partner does not imply a partnership relationship between Cisco and any other company. </a:t>
            </a:r>
          </a:p>
        </p:txBody>
      </p:sp>
      <p:cxnSp>
        <p:nvCxnSpPr>
          <p:cNvPr id="8" name="Straight Connector 7">
            <a:extLst>
              <a:ext uri="{FF2B5EF4-FFF2-40B4-BE49-F238E27FC236}">
                <a16:creationId xmlns:a16="http://schemas.microsoft.com/office/drawing/2014/main" id="{5530F874-A0A4-534D-9FBA-6DDB5F557A11}"/>
              </a:ext>
            </a:extLst>
          </p:cNvPr>
          <p:cNvCxnSpPr/>
          <p:nvPr/>
        </p:nvCxnSpPr>
        <p:spPr>
          <a:xfrm>
            <a:off x="4011388" y="4789715"/>
            <a:ext cx="7366905"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itle 2">
            <a:extLst>
              <a:ext uri="{FF2B5EF4-FFF2-40B4-BE49-F238E27FC236}">
                <a16:creationId xmlns:a16="http://schemas.microsoft.com/office/drawing/2014/main" id="{4D196EAB-B4FE-EE33-5659-7B2FCC12DBF1}"/>
              </a:ext>
            </a:extLst>
          </p:cNvPr>
          <p:cNvSpPr txBox="1">
            <a:spLocks/>
          </p:cNvSpPr>
          <p:nvPr/>
        </p:nvSpPr>
        <p:spPr>
          <a:xfrm>
            <a:off x="824593" y="913947"/>
            <a:ext cx="2865665" cy="1868488"/>
          </a:xfrm>
          <a:prstGeom prst="rect">
            <a:avLst/>
          </a:prstGeom>
          <a:noFill/>
        </p:spPr>
        <p:txBody>
          <a:bodyPr vert="horz" wrap="square" lIns="0" tIns="0" rIns="0" bIns="0" rtlCol="0" anchor="t" anchorCtr="0">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4000" b="0" i="0" u="none" kern="1200">
                <a:solidFill>
                  <a:schemeClr val="bg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3600" dirty="0">
                <a:solidFill>
                  <a:schemeClr val="tx1"/>
                </a:solidFill>
              </a:rPr>
              <a:t>Forward-looking statements</a:t>
            </a:r>
          </a:p>
        </p:txBody>
      </p:sp>
    </p:spTree>
    <p:extLst>
      <p:ext uri="{BB962C8B-B14F-4D97-AF65-F5344CB8AC3E}">
        <p14:creationId xmlns:p14="http://schemas.microsoft.com/office/powerpoint/2010/main" val="131473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Segue 3">
    <p:bg>
      <p:bgPr>
        <a:gradFill>
          <a:gsLst>
            <a:gs pos="2000">
              <a:schemeClr val="bg1"/>
            </a:gs>
            <a:gs pos="53000">
              <a:schemeClr val="bg2"/>
            </a:gs>
            <a:gs pos="92000">
              <a:schemeClr val="accent5"/>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1CEAE-269F-9001-82E1-E63AB48127E3}"/>
              </a:ext>
            </a:extLst>
          </p:cNvPr>
          <p:cNvSpPr>
            <a:spLocks noGrp="1"/>
          </p:cNvSpPr>
          <p:nvPr>
            <p:ph type="title"/>
          </p:nvPr>
        </p:nvSpPr>
        <p:spPr>
          <a:xfrm>
            <a:off x="323850" y="2492375"/>
            <a:ext cx="7634288" cy="1868487"/>
          </a:xfrm>
        </p:spPr>
        <p:txBody>
          <a:bodyPr anchor="ctr" anchorCtr="0"/>
          <a:lstStyle>
            <a:lvl1pPr>
              <a:defRPr sz="40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248667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Splunk - Thank yo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C73918-5F6C-0484-B359-F1B06B60E085}"/>
              </a:ext>
              <a:ext uri="{C183D7F6-B498-43B3-948B-1728B52AA6E4}">
                <adec:decorative xmlns:adec="http://schemas.microsoft.com/office/drawing/2017/decorative" val="1"/>
              </a:ext>
            </a:extLst>
          </p:cNvPr>
          <p:cNvSpPr/>
          <p:nvPr userDrawn="1"/>
        </p:nvSpPr>
        <p:spPr>
          <a:xfrm>
            <a:off x="0" y="1260471"/>
            <a:ext cx="10888663" cy="4351342"/>
          </a:xfrm>
          <a:prstGeom prst="rect">
            <a:avLst/>
          </a:prstGeom>
          <a:gradFill>
            <a:gsLst>
              <a:gs pos="16000">
                <a:schemeClr val="bg1">
                  <a:alpha val="10000"/>
                </a:schemeClr>
              </a:gs>
              <a:gs pos="43000">
                <a:srgbClr val="F7F9FC">
                  <a:alpha val="16000"/>
                </a:srgbClr>
              </a:gs>
              <a:gs pos="74000">
                <a:schemeClr val="bg2">
                  <a:alpha val="20000"/>
                </a:schemeClr>
              </a:gs>
              <a:gs pos="100000">
                <a:schemeClr val="accent5">
                  <a:alpha val="20000"/>
                </a:schemeClr>
              </a:gs>
            </a:gsLst>
            <a:lin ang="4800000" scaled="0"/>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ctr"/>
          <a:lstStyle/>
          <a:p>
            <a:pPr algn="ctr"/>
            <a:endParaRPr lang="en-US" sz="1600" b="0" i="0" dirty="0" err="1">
              <a:solidFill>
                <a:schemeClr val="bg1"/>
              </a:solidFill>
              <a:latin typeface="Inter" panose="02000503000000020004" pitchFamily="2" charset="0"/>
            </a:endParaRPr>
          </a:p>
        </p:txBody>
      </p:sp>
      <p:sp>
        <p:nvSpPr>
          <p:cNvPr id="3" name="Title 2">
            <a:extLst>
              <a:ext uri="{FF2B5EF4-FFF2-40B4-BE49-F238E27FC236}">
                <a16:creationId xmlns:a16="http://schemas.microsoft.com/office/drawing/2014/main" id="{8BFD99A5-A6E1-0514-02DB-84C6BD18783A}"/>
              </a:ext>
            </a:extLst>
          </p:cNvPr>
          <p:cNvSpPr>
            <a:spLocks noGrp="1"/>
          </p:cNvSpPr>
          <p:nvPr>
            <p:ph type="title" hasCustomPrompt="1"/>
          </p:nvPr>
        </p:nvSpPr>
        <p:spPr>
          <a:xfrm>
            <a:off x="323850" y="3114676"/>
            <a:ext cx="2749550" cy="623888"/>
          </a:xfrm>
        </p:spPr>
        <p:txBody>
          <a:bodyPr anchor="ctr" anchorCtr="0"/>
          <a:lstStyle>
            <a:lvl1pPr>
              <a:defRPr/>
            </a:lvl1pPr>
          </a:lstStyle>
          <a:p>
            <a:r>
              <a:rPr lang="en-US" dirty="0"/>
              <a:t>Thank you</a:t>
            </a:r>
          </a:p>
        </p:txBody>
      </p:sp>
      <p:pic>
        <p:nvPicPr>
          <p:cNvPr id="2" name="Graphic 1">
            <a:extLst>
              <a:ext uri="{FF2B5EF4-FFF2-40B4-BE49-F238E27FC236}">
                <a16:creationId xmlns:a16="http://schemas.microsoft.com/office/drawing/2014/main" id="{1579CB4D-1855-5881-6D9C-C7FDCF09B6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425542" y="2749346"/>
            <a:ext cx="1817915" cy="1233978"/>
          </a:xfrm>
          <a:prstGeom prst="rect">
            <a:avLst/>
          </a:prstGeom>
        </p:spPr>
      </p:pic>
    </p:spTree>
    <p:extLst>
      <p:ext uri="{BB962C8B-B14F-4D97-AF65-F5344CB8AC3E}">
        <p14:creationId xmlns:p14="http://schemas.microsoft.com/office/powerpoint/2010/main" val="3107426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sv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16000">
              <a:schemeClr val="bg1"/>
            </a:gs>
            <a:gs pos="43000">
              <a:srgbClr val="F7F9FC"/>
            </a:gs>
            <a:gs pos="74000">
              <a:schemeClr val="bg2"/>
            </a:gs>
            <a:gs pos="100000">
              <a:schemeClr val="accent5"/>
            </a:gs>
          </a:gsLst>
          <a:lin ang="4800000" scaled="0"/>
          <a:tileRect/>
        </a:gra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F21F2830-F0A3-2EAC-C709-5C928A8C49EF}"/>
              </a:ext>
            </a:extLst>
          </p:cNvPr>
          <p:cNvSpPr>
            <a:spLocks noGrp="1"/>
          </p:cNvSpPr>
          <p:nvPr>
            <p:ph type="title"/>
          </p:nvPr>
        </p:nvSpPr>
        <p:spPr>
          <a:xfrm>
            <a:off x="323850" y="298146"/>
            <a:ext cx="11544300" cy="492443"/>
          </a:xfrm>
          <a:prstGeom prst="rect">
            <a:avLst/>
          </a:prstGeom>
          <a:noFill/>
        </p:spPr>
        <p:txBody>
          <a:bodyPr vert="horz" lIns="0" tIns="0" rIns="0" bIns="0" rtlCol="0" anchor="t">
            <a:no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455BE63C-8C0C-FC75-3DF2-F8F96A3C87BE}"/>
              </a:ext>
            </a:extLst>
          </p:cNvPr>
          <p:cNvSpPr>
            <a:spLocks noGrp="1"/>
          </p:cNvSpPr>
          <p:nvPr>
            <p:ph type="body" idx="1"/>
          </p:nvPr>
        </p:nvSpPr>
        <p:spPr>
          <a:xfrm>
            <a:off x="323754" y="1244599"/>
            <a:ext cx="11544396" cy="4835321"/>
          </a:xfrm>
          <a:prstGeom prst="rect">
            <a:avLst/>
          </a:prstGeom>
          <a:noFill/>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a:extLst>
              <a:ext uri="{FF2B5EF4-FFF2-40B4-BE49-F238E27FC236}">
                <a16:creationId xmlns:a16="http://schemas.microsoft.com/office/drawing/2014/main" id="{239B4362-70A2-3ADC-C4AA-ADA6E4E09C94}"/>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bg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sp>
        <p:nvSpPr>
          <p:cNvPr id="6" name="Footer Placeholder 5">
            <a:extLst>
              <a:ext uri="{FF2B5EF4-FFF2-40B4-BE49-F238E27FC236}">
                <a16:creationId xmlns:a16="http://schemas.microsoft.com/office/drawing/2014/main" id="{B042B348-7CFA-9BD7-7FBA-A3E160A67776}"/>
              </a:ext>
            </a:extLst>
          </p:cNvPr>
          <p:cNvSpPr>
            <a:spLocks noGrp="1"/>
          </p:cNvSpPr>
          <p:nvPr>
            <p:ph type="ftr" sz="quarter" idx="3"/>
          </p:nvPr>
        </p:nvSpPr>
        <p:spPr>
          <a:xfrm>
            <a:off x="4230688" y="6445885"/>
            <a:ext cx="3727450" cy="411480"/>
          </a:xfrm>
          <a:prstGeom prst="rect">
            <a:avLst/>
          </a:prstGeom>
        </p:spPr>
        <p:txBody>
          <a:bodyPr vert="horz" lIns="0" tIns="0" rIns="0" bIns="0" rtlCol="0" anchor="t" anchorCtr="0"/>
          <a:lstStyle>
            <a:lvl1pPr algn="ct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pPr defTabSz="814318">
              <a:defRPr/>
            </a:pPr>
            <a:r>
              <a:rPr lang="en-US"/>
              <a:t>Session ID: BRKSEC-XXXX</a:t>
            </a:r>
            <a:endParaRPr lang="en-US" dirty="0"/>
          </a:p>
        </p:txBody>
      </p:sp>
      <p:sp>
        <p:nvSpPr>
          <p:cNvPr id="2" name="Slide Number Placeholder 1">
            <a:extLst>
              <a:ext uri="{FF2B5EF4-FFF2-40B4-BE49-F238E27FC236}">
                <a16:creationId xmlns:a16="http://schemas.microsoft.com/office/drawing/2014/main" id="{10ECAE8E-F596-3416-3914-B7C065191A87}"/>
              </a:ext>
            </a:extLst>
          </p:cNvPr>
          <p:cNvSpPr>
            <a:spLocks noGrp="1"/>
          </p:cNvSpPr>
          <p:nvPr>
            <p:ph type="sldNum" sz="quarter" idx="4"/>
          </p:nvPr>
        </p:nvSpPr>
        <p:spPr>
          <a:xfrm>
            <a:off x="9115425" y="6448929"/>
            <a:ext cx="1773238" cy="411480"/>
          </a:xfrm>
          <a:prstGeom prst="rect">
            <a:avLst/>
          </a:prstGeom>
        </p:spPr>
        <p:txBody>
          <a:bodyPr vert="horz" lIns="0" tIns="0" rIns="0" bIns="0" rtlCol="0" anchor="t" anchorCtr="0"/>
          <a:lstStyle>
            <a:lvl1pPr algn="r">
              <a:defRPr kumimoji="0" lang="en-US" sz="700" b="0" i="0" u="none" strike="noStrike" kern="1200" cap="none" spc="0" normalizeH="0" baseline="0" smtClean="0">
                <a:ln>
                  <a:noFill/>
                </a:ln>
                <a:solidFill>
                  <a:schemeClr val="tx1"/>
                </a:solidFill>
                <a:effectLst/>
                <a:uLnTx/>
                <a:uFillTx/>
                <a:latin typeface="+mn-lt"/>
                <a:ea typeface="Inter" panose="02000503000000020004" pitchFamily="2" charset="0"/>
                <a:cs typeface="CiscoSansTT Light" panose="020B0503020201020303" pitchFamily="34" charset="0"/>
              </a:defRPr>
            </a:lvl1pPr>
          </a:lstStyle>
          <a:p>
            <a:fld id="{C3C42FAE-7A31-41D3-A712-51D9B15D0B10}" type="slidenum">
              <a:rPr lang="en-US" smtClean="0"/>
              <a:pPr/>
              <a:t>‹#›</a:t>
            </a:fld>
            <a:endParaRPr lang="en-US" dirty="0"/>
          </a:p>
        </p:txBody>
      </p:sp>
      <p:pic>
        <p:nvPicPr>
          <p:cNvPr id="4" name="Picture 7" descr="Cisco Logo">
            <a:extLst>
              <a:ext uri="{FF2B5EF4-FFF2-40B4-BE49-F238E27FC236}">
                <a16:creationId xmlns:a16="http://schemas.microsoft.com/office/drawing/2014/main" id="{E912C7E4-465D-A60D-49E8-6866FAAE65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8"/>
              </a:ext>
            </a:extLst>
          </a:blip>
          <a:srcRect/>
          <a:stretch/>
        </p:blipFill>
        <p:spPr>
          <a:xfrm>
            <a:off x="11520088" y="6354445"/>
            <a:ext cx="348061" cy="182880"/>
          </a:xfrm>
          <a:prstGeom prst="rect">
            <a:avLst/>
          </a:prstGeom>
        </p:spPr>
      </p:pic>
      <p:sp>
        <p:nvSpPr>
          <p:cNvPr id="8" name="TextBox 7">
            <a:extLst>
              <a:ext uri="{FF2B5EF4-FFF2-40B4-BE49-F238E27FC236}">
                <a16:creationId xmlns:a16="http://schemas.microsoft.com/office/drawing/2014/main" id="{DCAE3397-B7E0-F9B7-D1AC-C859F3CFC5AF}"/>
              </a:ext>
            </a:extLst>
          </p:cNvPr>
          <p:cNvSpPr txBox="1"/>
          <p:nvPr>
            <p:extLst>
              <p:ext uri="{1162E1C5-73C7-4A58-AE30-91384D911F3F}">
                <p184:classification xmlns:p184="http://schemas.microsoft.com/office/powerpoint/2018/4/main" val="ftr"/>
              </p:ext>
            </p:extLst>
          </p:nvPr>
        </p:nvSpPr>
        <p:spPr>
          <a:xfrm>
            <a:off x="11042650" y="6672580"/>
            <a:ext cx="825499" cy="107722"/>
          </a:xfrm>
          <a:prstGeom prst="rect">
            <a:avLst/>
          </a:prstGeom>
        </p:spPr>
        <p:txBody>
          <a:bodyPr horzOverflow="overflow" wrap="square" lIns="0" tIns="0" rIns="0" bIns="0">
            <a:spAutoFit/>
          </a:bodyPr>
          <a:lstStyle/>
          <a:p>
            <a:pPr algn="r"/>
            <a:r>
              <a:rPr lang="en-US" sz="700" dirty="0">
                <a:solidFill>
                  <a:schemeClr val="tx1">
                    <a:alpha val="20000"/>
                  </a:schemeClr>
                </a:solidFill>
                <a:latin typeface="+mn-lt"/>
                <a:ea typeface="Inter" panose="02000503000000020004" pitchFamily="2" charset="0"/>
                <a:cs typeface="Calibri" panose="020F0502020204030204" pitchFamily="34" charset="0"/>
              </a:rPr>
              <a:t>Cisco Confidential</a:t>
            </a:r>
          </a:p>
        </p:txBody>
      </p:sp>
      <p:sp>
        <p:nvSpPr>
          <p:cNvPr id="9" name="Rectangle 8">
            <a:extLst>
              <a:ext uri="{FF2B5EF4-FFF2-40B4-BE49-F238E27FC236}">
                <a16:creationId xmlns:a16="http://schemas.microsoft.com/office/drawing/2014/main" id="{F3DAE625-C2E8-261C-59FF-41190A6259CA}"/>
              </a:ext>
            </a:extLst>
          </p:cNvPr>
          <p:cNvSpPr>
            <a:spLocks/>
          </p:cNvSpPr>
          <p:nvPr/>
        </p:nvSpPr>
        <p:spPr bwMode="ltGray">
          <a:xfrm>
            <a:off x="323850" y="6448930"/>
            <a:ext cx="3285935" cy="409069"/>
          </a:xfrm>
          <a:prstGeom prst="rect">
            <a:avLst/>
          </a:prstGeom>
          <a:noFill/>
          <a:ln w="9525">
            <a:noFill/>
            <a:miter lim="800000"/>
            <a:headEnd/>
            <a:tailEnd/>
          </a:ln>
          <a:effectLst/>
        </p:spPr>
        <p:txBody>
          <a:bodyPr wrap="square" lIns="0" tIns="0" rIns="0" bIns="0" anchor="t" anchorCtr="0">
            <a:noAutofit/>
          </a:bodyPr>
          <a:lstStyle/>
          <a:p>
            <a:pPr marL="0" marR="0" lvl="0" indent="0" algn="l" defTabSz="814318"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chemeClr val="tx1"/>
                </a:solidFill>
                <a:effectLst/>
                <a:uLnTx/>
                <a:uFillTx/>
                <a:latin typeface="+mn-lt"/>
                <a:ea typeface="Inter" panose="02000503000000020004" pitchFamily="2" charset="0"/>
                <a:cs typeface="CiscoSansTT Light" panose="020B0503020201020303" pitchFamily="34" charset="0"/>
              </a:rPr>
              <a:t>© 2026 Cisco and/or its affiliates. All rights reserved.</a:t>
            </a:r>
          </a:p>
        </p:txBody>
      </p:sp>
      <p:pic>
        <p:nvPicPr>
          <p:cNvPr id="10" name="Picture 7" descr="Cisco Logo">
            <a:extLst>
              <a:ext uri="{FF2B5EF4-FFF2-40B4-BE49-F238E27FC236}">
                <a16:creationId xmlns:a16="http://schemas.microsoft.com/office/drawing/2014/main" id="{50CC99B8-DEFD-9398-DD2F-506578705394}"/>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59"/>
              </a:ext>
            </a:extLst>
          </a:blip>
          <a:srcRect/>
          <a:stretch/>
        </p:blipFill>
        <p:spPr>
          <a:xfrm>
            <a:off x="11520088" y="6354445"/>
            <a:ext cx="348061" cy="182880"/>
          </a:xfrm>
          <a:prstGeom prst="rect">
            <a:avLst/>
          </a:prstGeom>
        </p:spPr>
      </p:pic>
      <p:sp>
        <p:nvSpPr>
          <p:cNvPr id="14" name="Google Shape;10;p1">
            <a:extLst>
              <a:ext uri="{FF2B5EF4-FFF2-40B4-BE49-F238E27FC236}">
                <a16:creationId xmlns:a16="http://schemas.microsoft.com/office/drawing/2014/main" id="{C242CD9D-3392-1B82-AD5E-93C9C87E0F8A}"/>
              </a:ext>
            </a:extLst>
          </p:cNvPr>
          <p:cNvSpPr txBox="1"/>
          <p:nvPr userDrawn="1"/>
        </p:nvSpPr>
        <p:spPr>
          <a:xfrm>
            <a:off x="8835" y="-259955"/>
            <a:ext cx="8087600" cy="307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500"/>
              <a:buFont typeface="Arial"/>
              <a:buNone/>
            </a:pPr>
            <a:r>
              <a:rPr lang="en-US" sz="90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rPr>
              <a:t>Splunk Template  |  TMPLT .conf26-Breakout-Light</a:t>
            </a:r>
            <a:endParaRPr sz="1050" b="0" i="0" u="none" strike="noStrike" cap="none" dirty="0">
              <a:solidFill>
                <a:schemeClr val="bg1">
                  <a:lumMod val="75000"/>
                </a:schemeClr>
              </a:solidFill>
              <a:latin typeface="Splunk Data Sans Pro" panose="020B0504030202020204" pitchFamily="34" charset="0"/>
              <a:ea typeface="Lexend Medium"/>
              <a:cs typeface="Splunk Data Sans Pro" panose="020B0504030202020204" pitchFamily="34" charset="0"/>
              <a:sym typeface="Lexend"/>
            </a:endParaRPr>
          </a:p>
        </p:txBody>
      </p:sp>
    </p:spTree>
    <p:extLst>
      <p:ext uri="{BB962C8B-B14F-4D97-AF65-F5344CB8AC3E}">
        <p14:creationId xmlns:p14="http://schemas.microsoft.com/office/powerpoint/2010/main" val="669712979"/>
      </p:ext>
    </p:extLst>
  </p:cSld>
  <p:clrMap bg1="dk1" tx1="lt1" bg2="dk2" tx2="lt2" accent1="accent1" accent2="accent2" accent3="accent3" accent4="accent4" accent5="accent5" accent6="accent6" hlink="hlink" folHlink="folHlink"/>
  <p:sldLayoutIdLst>
    <p:sldLayoutId id="2147484039" r:id="rId1"/>
    <p:sldLayoutId id="2147484040" r:id="rId2"/>
    <p:sldLayoutId id="2147484043" r:id="rId3"/>
    <p:sldLayoutId id="2147484105" r:id="rId4"/>
    <p:sldLayoutId id="2147484109" r:id="rId5"/>
    <p:sldLayoutId id="2147484046" r:id="rId6"/>
    <p:sldLayoutId id="2147484047" r:id="rId7"/>
    <p:sldLayoutId id="2147484048" r:id="rId8"/>
    <p:sldLayoutId id="2147484049" r:id="rId9"/>
    <p:sldLayoutId id="2147484050" r:id="rId10"/>
    <p:sldLayoutId id="2147484051" r:id="rId11"/>
    <p:sldLayoutId id="2147484052" r:id="rId12"/>
    <p:sldLayoutId id="2147484053" r:id="rId13"/>
    <p:sldLayoutId id="2147484054" r:id="rId14"/>
    <p:sldLayoutId id="2147484055" r:id="rId15"/>
    <p:sldLayoutId id="2147484056" r:id="rId16"/>
    <p:sldLayoutId id="2147484057" r:id="rId17"/>
    <p:sldLayoutId id="2147484112" r:id="rId18"/>
    <p:sldLayoutId id="2147484058" r:id="rId19"/>
    <p:sldLayoutId id="2147484059" r:id="rId20"/>
    <p:sldLayoutId id="2147484060" r:id="rId21"/>
    <p:sldLayoutId id="2147484061" r:id="rId22"/>
    <p:sldLayoutId id="2147484062" r:id="rId23"/>
    <p:sldLayoutId id="2147484063" r:id="rId24"/>
    <p:sldLayoutId id="2147484064" r:id="rId25"/>
    <p:sldLayoutId id="2147484065" r:id="rId26"/>
    <p:sldLayoutId id="2147484066" r:id="rId27"/>
    <p:sldLayoutId id="2147484067" r:id="rId28"/>
    <p:sldLayoutId id="2147484068" r:id="rId29"/>
    <p:sldLayoutId id="2147484069" r:id="rId30"/>
    <p:sldLayoutId id="2147484070" r:id="rId31"/>
    <p:sldLayoutId id="2147484071" r:id="rId32"/>
    <p:sldLayoutId id="2147484072" r:id="rId33"/>
    <p:sldLayoutId id="2147484073" r:id="rId34"/>
    <p:sldLayoutId id="2147484074" r:id="rId35"/>
    <p:sldLayoutId id="2147484075" r:id="rId36"/>
    <p:sldLayoutId id="2147484078" r:id="rId37"/>
    <p:sldLayoutId id="2147484079" r:id="rId38"/>
    <p:sldLayoutId id="2147484080" r:id="rId39"/>
    <p:sldLayoutId id="2147484081" r:id="rId40"/>
    <p:sldLayoutId id="2147484086" r:id="rId41"/>
    <p:sldLayoutId id="2147484106" r:id="rId42"/>
    <p:sldLayoutId id="2147484107" r:id="rId43"/>
    <p:sldLayoutId id="2147484108" r:id="rId44"/>
    <p:sldLayoutId id="2147484089" r:id="rId45"/>
    <p:sldLayoutId id="2147484090" r:id="rId46"/>
    <p:sldLayoutId id="2147484091" r:id="rId47"/>
    <p:sldLayoutId id="2147484092" r:id="rId48"/>
    <p:sldLayoutId id="2147484093" r:id="rId49"/>
    <p:sldLayoutId id="2147484096" r:id="rId50"/>
    <p:sldLayoutId id="2147484110" r:id="rId51"/>
    <p:sldLayoutId id="2147484097" r:id="rId52"/>
    <p:sldLayoutId id="2147484111" r:id="rId53"/>
    <p:sldLayoutId id="2147484100" r:id="rId54"/>
    <p:sldLayoutId id="2147484101" r:id="rId55"/>
    <p:sldLayoutId id="2147484103" r:id="rId5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dirty="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p:titleStyle>
    <p:bodyStyle>
      <a:lvl1pPr marL="18288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2000" kern="1200" dirty="0">
          <a:solidFill>
            <a:schemeClr val="tx1"/>
          </a:solidFill>
          <a:latin typeface="+mn-lt"/>
          <a:ea typeface="Inter" panose="02000503000000020004" pitchFamily="2" charset="0"/>
          <a:cs typeface="CiscoSans"/>
        </a:defRPr>
      </a:lvl1pPr>
      <a:lvl2pPr marL="36576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800" kern="1200" dirty="0">
          <a:solidFill>
            <a:schemeClr val="tx1"/>
          </a:solidFill>
          <a:latin typeface="+mn-lt"/>
          <a:ea typeface="Inter" panose="02000503000000020004" pitchFamily="2" charset="0"/>
          <a:cs typeface="CiscoSans"/>
        </a:defRPr>
      </a:lvl2pPr>
      <a:lvl3pPr marL="54864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600" kern="1200" dirty="0">
          <a:solidFill>
            <a:schemeClr val="tx1"/>
          </a:solidFill>
          <a:latin typeface="+mn-lt"/>
          <a:ea typeface="Inter" panose="02000503000000020004" pitchFamily="2" charset="0"/>
          <a:cs typeface="CiscoSans"/>
        </a:defRPr>
      </a:lvl3pPr>
      <a:lvl4pPr marL="73152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400" kern="1200" dirty="0">
          <a:solidFill>
            <a:schemeClr val="tx1"/>
          </a:solidFill>
          <a:latin typeface="+mn-lt"/>
          <a:ea typeface="Inter" panose="02000503000000020004" pitchFamily="2" charset="0"/>
          <a:cs typeface="CiscoSans"/>
        </a:defRPr>
      </a:lvl4pPr>
      <a:lvl5pPr marL="914400" indent="-182880" algn="l" defTabSz="912276" rtl="0" eaLnBrk="1" fontAlgn="base" hangingPunct="1">
        <a:lnSpc>
          <a:spcPct val="100000"/>
        </a:lnSpc>
        <a:spcBef>
          <a:spcPts val="0"/>
        </a:spcBef>
        <a:spcAft>
          <a:spcPts val="1000"/>
        </a:spcAft>
        <a:buClr>
          <a:schemeClr val="tx1"/>
        </a:buClr>
        <a:buSzPct val="100000"/>
        <a:buFont typeface="Arial" panose="020B0604020202020204" pitchFamily="34" charset="0"/>
        <a:buChar char="•"/>
        <a:defRPr lang="en-US" sz="1200" kern="1200" dirty="0">
          <a:solidFill>
            <a:schemeClr val="tx1"/>
          </a:solidFill>
          <a:latin typeface="+mn-lt"/>
          <a:ea typeface="Inter" panose="02000503000000020004" pitchFamily="2"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2" rtl="0" eaLnBrk="1" latinLnBrk="0" hangingPunct="1">
        <a:defRPr sz="1867" kern="1200">
          <a:solidFill>
            <a:schemeClr val="tx1"/>
          </a:solidFill>
          <a:latin typeface="+mn-lt"/>
          <a:ea typeface="+mn-ea"/>
          <a:cs typeface="+mn-cs"/>
        </a:defRPr>
      </a:lvl1pPr>
      <a:lvl2pPr marL="457178" algn="l" defTabSz="914362" rtl="0" eaLnBrk="1" latinLnBrk="0" hangingPunct="1">
        <a:defRPr sz="1867" kern="1200">
          <a:solidFill>
            <a:schemeClr val="tx1"/>
          </a:solidFill>
          <a:latin typeface="+mn-lt"/>
          <a:ea typeface="+mn-ea"/>
          <a:cs typeface="+mn-cs"/>
        </a:defRPr>
      </a:lvl2pPr>
      <a:lvl3pPr marL="914362" algn="l" defTabSz="914362" rtl="0" eaLnBrk="1" latinLnBrk="0" hangingPunct="1">
        <a:defRPr sz="1867" kern="1200">
          <a:solidFill>
            <a:schemeClr val="tx1"/>
          </a:solidFill>
          <a:latin typeface="+mn-lt"/>
          <a:ea typeface="+mn-ea"/>
          <a:cs typeface="+mn-cs"/>
        </a:defRPr>
      </a:lvl3pPr>
      <a:lvl4pPr marL="1371542" algn="l" defTabSz="914362" rtl="0" eaLnBrk="1" latinLnBrk="0" hangingPunct="1">
        <a:defRPr sz="1867" kern="1200">
          <a:solidFill>
            <a:schemeClr val="tx1"/>
          </a:solidFill>
          <a:latin typeface="+mn-lt"/>
          <a:ea typeface="+mn-ea"/>
          <a:cs typeface="+mn-cs"/>
        </a:defRPr>
      </a:lvl4pPr>
      <a:lvl5pPr marL="1828725" algn="l" defTabSz="914362" rtl="0" eaLnBrk="1" latinLnBrk="0" hangingPunct="1">
        <a:defRPr sz="1867" kern="1200">
          <a:solidFill>
            <a:schemeClr val="tx1"/>
          </a:solidFill>
          <a:latin typeface="+mn-lt"/>
          <a:ea typeface="+mn-ea"/>
          <a:cs typeface="+mn-cs"/>
        </a:defRPr>
      </a:lvl5pPr>
      <a:lvl6pPr marL="2285903" algn="l" defTabSz="914362" rtl="0" eaLnBrk="1" latinLnBrk="0" hangingPunct="1">
        <a:defRPr sz="1867" kern="1200">
          <a:solidFill>
            <a:schemeClr val="tx1"/>
          </a:solidFill>
          <a:latin typeface="+mn-lt"/>
          <a:ea typeface="+mn-ea"/>
          <a:cs typeface="+mn-cs"/>
        </a:defRPr>
      </a:lvl6pPr>
      <a:lvl7pPr marL="2743086" algn="l" defTabSz="914362" rtl="0" eaLnBrk="1" latinLnBrk="0" hangingPunct="1">
        <a:defRPr sz="1867" kern="1200">
          <a:solidFill>
            <a:schemeClr val="tx1"/>
          </a:solidFill>
          <a:latin typeface="+mn-lt"/>
          <a:ea typeface="+mn-ea"/>
          <a:cs typeface="+mn-cs"/>
        </a:defRPr>
      </a:lvl7pPr>
      <a:lvl8pPr marL="3200267" algn="l" defTabSz="914362" rtl="0" eaLnBrk="1" latinLnBrk="0" hangingPunct="1">
        <a:defRPr sz="1867" kern="1200">
          <a:solidFill>
            <a:schemeClr val="tx1"/>
          </a:solidFill>
          <a:latin typeface="+mn-lt"/>
          <a:ea typeface="+mn-ea"/>
          <a:cs typeface="+mn-cs"/>
        </a:defRPr>
      </a:lvl8pPr>
      <a:lvl9pPr marL="3657450" algn="l" defTabSz="914362" rtl="0" eaLnBrk="1" latinLnBrk="0" hangingPunct="1">
        <a:defRPr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1" orient="horz" pos="2160">
          <p15:clr>
            <a:srgbClr val="F26B43"/>
          </p15:clr>
        </p15:guide>
        <p15:guide id="126" pos="204" userDrawn="1">
          <p15:clr>
            <a:srgbClr val="F26B43"/>
          </p15:clr>
        </p15:guide>
        <p15:guide id="127" pos="7476" userDrawn="1">
          <p15:clr>
            <a:srgbClr val="F26B43"/>
          </p15:clr>
        </p15:guide>
        <p15:guide id="128" pos="3840" userDrawn="1">
          <p15:clr>
            <a:srgbClr val="F26B43"/>
          </p15:clr>
        </p15:guide>
        <p15:guide id="129" orient="horz" pos="3827" userDrawn="1">
          <p15:clr>
            <a:srgbClr val="9FCC3B"/>
          </p15:clr>
        </p15:guide>
        <p15:guide id="130" orient="horz" pos="202" userDrawn="1">
          <p15:clr>
            <a:srgbClr val="F26B43"/>
          </p15:clr>
        </p15:guide>
        <p15:guide id="131" orient="horz" pos="392" userDrawn="1">
          <p15:clr>
            <a:srgbClr val="A4A3A4"/>
          </p15:clr>
        </p15:guide>
        <p15:guide id="132" orient="horz" pos="2552" userDrawn="1">
          <p15:clr>
            <a:srgbClr val="A4A3A4"/>
          </p15:clr>
        </p15:guide>
        <p15:guide id="133" orient="horz" pos="600" userDrawn="1">
          <p15:clr>
            <a:srgbClr val="A4A3A4"/>
          </p15:clr>
        </p15:guide>
        <p15:guide id="134" orient="horz" pos="1766" userDrawn="1">
          <p15:clr>
            <a:srgbClr val="A4A3A4"/>
          </p15:clr>
        </p15:guide>
        <p15:guide id="135" orient="horz" pos="2355" userDrawn="1">
          <p15:clr>
            <a:srgbClr val="A4A3A4"/>
          </p15:clr>
        </p15:guide>
        <p15:guide id="136" orient="horz" pos="4118" userDrawn="1">
          <p15:clr>
            <a:srgbClr val="F26B43"/>
          </p15:clr>
        </p15:guide>
        <p15:guide id="137" orient="horz" pos="1178" userDrawn="1">
          <p15:clr>
            <a:srgbClr val="A4A3A4"/>
          </p15:clr>
        </p15:guide>
        <p15:guide id="138" orient="horz" pos="1374" userDrawn="1">
          <p15:clr>
            <a:srgbClr val="A4A3A4"/>
          </p15:clr>
        </p15:guide>
        <p15:guide id="139" orient="horz" pos="1570" userDrawn="1">
          <p15:clr>
            <a:srgbClr val="A4A3A4"/>
          </p15:clr>
        </p15:guide>
        <p15:guide id="140" pos="703" userDrawn="1">
          <p15:clr>
            <a:srgbClr val="A4A3A4"/>
          </p15:clr>
        </p15:guide>
        <p15:guide id="141" pos="820" userDrawn="1">
          <p15:clr>
            <a:srgbClr val="A4A3A4"/>
          </p15:clr>
        </p15:guide>
        <p15:guide id="142" pos="1321" userDrawn="1">
          <p15:clr>
            <a:srgbClr val="A4A3A4"/>
          </p15:clr>
        </p15:guide>
        <p15:guide id="143" pos="1435" userDrawn="1">
          <p15:clr>
            <a:srgbClr val="A4A3A4"/>
          </p15:clr>
        </p15:guide>
        <p15:guide id="144" pos="1936" userDrawn="1">
          <p15:clr>
            <a:srgbClr val="A4A3A4"/>
          </p15:clr>
        </p15:guide>
        <p15:guide id="145" pos="2051" userDrawn="1">
          <p15:clr>
            <a:srgbClr val="A4A3A4"/>
          </p15:clr>
        </p15:guide>
        <p15:guide id="146" pos="2551" userDrawn="1">
          <p15:clr>
            <a:srgbClr val="A4A3A4"/>
          </p15:clr>
        </p15:guide>
        <p15:guide id="147" pos="2665" userDrawn="1">
          <p15:clr>
            <a:srgbClr val="A4A3A4"/>
          </p15:clr>
        </p15:guide>
        <p15:guide id="148" pos="3167" userDrawn="1">
          <p15:clr>
            <a:srgbClr val="A4A3A4"/>
          </p15:clr>
        </p15:guide>
        <p15:guide id="149" pos="3281" userDrawn="1">
          <p15:clr>
            <a:srgbClr val="A4A3A4"/>
          </p15:clr>
        </p15:guide>
        <p15:guide id="150" pos="3783" userDrawn="1">
          <p15:clr>
            <a:srgbClr val="A4A3A4"/>
          </p15:clr>
        </p15:guide>
        <p15:guide id="151" pos="3896" userDrawn="1">
          <p15:clr>
            <a:srgbClr val="A4A3A4"/>
          </p15:clr>
        </p15:guide>
        <p15:guide id="152" pos="4397" userDrawn="1">
          <p15:clr>
            <a:srgbClr val="A4A3A4"/>
          </p15:clr>
        </p15:guide>
        <p15:guide id="153" pos="4512" userDrawn="1">
          <p15:clr>
            <a:srgbClr val="A4A3A4"/>
          </p15:clr>
        </p15:guide>
        <p15:guide id="154" pos="5013" userDrawn="1">
          <p15:clr>
            <a:srgbClr val="A4A3A4"/>
          </p15:clr>
        </p15:guide>
        <p15:guide id="155" pos="5128" userDrawn="1">
          <p15:clr>
            <a:srgbClr val="A4A3A4"/>
          </p15:clr>
        </p15:guide>
        <p15:guide id="156" pos="5629" userDrawn="1">
          <p15:clr>
            <a:srgbClr val="A4A3A4"/>
          </p15:clr>
        </p15:guide>
        <p15:guide id="157" pos="5742" userDrawn="1">
          <p15:clr>
            <a:srgbClr val="A4A3A4"/>
          </p15:clr>
        </p15:guide>
        <p15:guide id="158" pos="6244" userDrawn="1">
          <p15:clr>
            <a:srgbClr val="A4A3A4"/>
          </p15:clr>
        </p15:guide>
        <p15:guide id="159" pos="6359" userDrawn="1">
          <p15:clr>
            <a:srgbClr val="A4A3A4"/>
          </p15:clr>
        </p15:guide>
        <p15:guide id="160" pos="6859" userDrawn="1">
          <p15:clr>
            <a:srgbClr val="A4A3A4"/>
          </p15:clr>
        </p15:guide>
        <p15:guide id="161" pos="6975" userDrawn="1">
          <p15:clr>
            <a:srgbClr val="A4A3A4"/>
          </p15:clr>
        </p15:guide>
        <p15:guide id="162" orient="horz" pos="784" userDrawn="1">
          <p15:clr>
            <a:srgbClr val="A4A3A4"/>
          </p15:clr>
        </p15:guide>
        <p15:guide id="163" orient="horz" pos="980" userDrawn="1">
          <p15:clr>
            <a:srgbClr val="A4A3A4"/>
          </p15:clr>
        </p15:guide>
        <p15:guide id="164" orient="horz" pos="1962" userDrawn="1">
          <p15:clr>
            <a:srgbClr val="A4A3A4"/>
          </p15:clr>
        </p15:guide>
        <p15:guide id="165" orient="horz" pos="2747" userDrawn="1">
          <p15:clr>
            <a:srgbClr val="A4A3A4"/>
          </p15:clr>
        </p15:guide>
        <p15:guide id="166" orient="horz" pos="2945" userDrawn="1">
          <p15:clr>
            <a:srgbClr val="A4A3A4"/>
          </p15:clr>
        </p15:guide>
        <p15:guide id="167" orient="horz" pos="3141" userDrawn="1">
          <p15:clr>
            <a:srgbClr val="A4A3A4"/>
          </p15:clr>
        </p15:guide>
        <p15:guide id="168" orient="horz" pos="3337" userDrawn="1">
          <p15:clr>
            <a:srgbClr val="A4A3A4"/>
          </p15:clr>
        </p15:guide>
        <p15:guide id="169" orient="horz" pos="3535" userDrawn="1">
          <p15:clr>
            <a:srgbClr val="A4A3A4"/>
          </p15:clr>
        </p15:guide>
        <p15:guide id="170" orient="horz" pos="3730" userDrawn="1">
          <p15:clr>
            <a:srgbClr val="A4A3A4"/>
          </p15:clr>
        </p15:guide>
        <p15:guide id="171" orient="horz" pos="3936" userDrawn="1">
          <p15:clr>
            <a:srgbClr val="A4A3A4"/>
          </p15:clr>
        </p15:guide>
        <p15:guide id="172" orient="horz" pos="187" userDrawn="1">
          <p15:clr>
            <a:srgbClr val="9FCC3B"/>
          </p15:clr>
        </p15:guide>
        <p15:guide id="173" pos="455" userDrawn="1">
          <p15:clr>
            <a:srgbClr val="9FCC3B"/>
          </p15:clr>
        </p15:guide>
        <p15:guide id="174" pos="1069" userDrawn="1">
          <p15:clr>
            <a:srgbClr val="9FCC3B"/>
          </p15:clr>
        </p15:guide>
        <p15:guide id="175" pos="1685" userDrawn="1">
          <p15:clr>
            <a:srgbClr val="9FCC3B"/>
          </p15:clr>
        </p15:guide>
        <p15:guide id="176" pos="2301" userDrawn="1">
          <p15:clr>
            <a:srgbClr val="9FCC3B"/>
          </p15:clr>
        </p15:guide>
        <p15:guide id="177" pos="2915" userDrawn="1">
          <p15:clr>
            <a:srgbClr val="9FCC3B"/>
          </p15:clr>
        </p15:guide>
        <p15:guide id="178" pos="3531" userDrawn="1">
          <p15:clr>
            <a:srgbClr val="9FCC3B"/>
          </p15:clr>
        </p15:guide>
        <p15:guide id="179" pos="4146" userDrawn="1">
          <p15:clr>
            <a:srgbClr val="9FCC3B"/>
          </p15:clr>
        </p15:guide>
        <p15:guide id="180" pos="4762" userDrawn="1">
          <p15:clr>
            <a:srgbClr val="9FCC3B"/>
          </p15:clr>
        </p15:guide>
        <p15:guide id="181" pos="5378" userDrawn="1">
          <p15:clr>
            <a:srgbClr val="9FCC3B"/>
          </p15:clr>
        </p15:guide>
        <p15:guide id="182" pos="5992" userDrawn="1">
          <p15:clr>
            <a:srgbClr val="9FCC3B"/>
          </p15:clr>
        </p15:guide>
        <p15:guide id="183" pos="6609" userDrawn="1">
          <p15:clr>
            <a:srgbClr val="9FCC3B"/>
          </p15:clr>
        </p15:guide>
        <p15:guide id="184" pos="7225"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A48FA-75AB-E27F-1EFC-244EC2E2A565}"/>
              </a:ext>
            </a:extLst>
          </p:cNvPr>
          <p:cNvSpPr>
            <a:spLocks noGrp="1"/>
          </p:cNvSpPr>
          <p:nvPr>
            <p:ph type="title"/>
          </p:nvPr>
        </p:nvSpPr>
        <p:spPr>
          <a:xfrm>
            <a:off x="5746750" y="1631745"/>
            <a:ext cx="5878513" cy="1554163"/>
          </a:xfrm>
        </p:spPr>
        <p:txBody>
          <a:bodyPr/>
          <a:lstStyle/>
          <a:p>
            <a:r>
              <a:rPr lang="en-US" sz="2800" dirty="0"/>
              <a:t>From Zero to Agentic: </a:t>
            </a:r>
            <a:br>
              <a:rPr lang="en-US" sz="2800" dirty="0"/>
            </a:br>
            <a:r>
              <a:rPr lang="en-US" sz="2800" dirty="0"/>
              <a:t>Building Your First AI-Driven Threat Investigation in Splunk Enterprise Security</a:t>
            </a:r>
          </a:p>
        </p:txBody>
      </p:sp>
      <p:sp>
        <p:nvSpPr>
          <p:cNvPr id="3" name="Text Placeholder 2">
            <a:extLst>
              <a:ext uri="{FF2B5EF4-FFF2-40B4-BE49-F238E27FC236}">
                <a16:creationId xmlns:a16="http://schemas.microsoft.com/office/drawing/2014/main" id="{8E05B4C7-2B14-68F2-B1C7-DD5BAADCA56A}"/>
              </a:ext>
            </a:extLst>
          </p:cNvPr>
          <p:cNvSpPr>
            <a:spLocks noGrp="1"/>
          </p:cNvSpPr>
          <p:nvPr>
            <p:ph type="body" sz="quarter" idx="13"/>
          </p:nvPr>
        </p:nvSpPr>
        <p:spPr>
          <a:xfrm>
            <a:off x="5746750" y="3277983"/>
            <a:ext cx="5878513" cy="223837"/>
          </a:xfrm>
        </p:spPr>
        <p:txBody>
          <a:bodyPr/>
          <a:lstStyle/>
          <a:p>
            <a:r>
              <a:rPr lang="en-US" dirty="0"/>
              <a:t>SEC1215</a:t>
            </a:r>
          </a:p>
        </p:txBody>
      </p:sp>
      <p:sp>
        <p:nvSpPr>
          <p:cNvPr id="4" name="Text Placeholder 3">
            <a:extLst>
              <a:ext uri="{FF2B5EF4-FFF2-40B4-BE49-F238E27FC236}">
                <a16:creationId xmlns:a16="http://schemas.microsoft.com/office/drawing/2014/main" id="{14C9ACB8-FAE7-6FB5-5312-728824A09103}"/>
              </a:ext>
            </a:extLst>
          </p:cNvPr>
          <p:cNvSpPr>
            <a:spLocks noGrp="1"/>
          </p:cNvSpPr>
          <p:nvPr>
            <p:ph type="body" sz="quarter" idx="11"/>
          </p:nvPr>
        </p:nvSpPr>
        <p:spPr>
          <a:xfrm>
            <a:off x="5746750" y="3811383"/>
            <a:ext cx="3725863" cy="457200"/>
          </a:xfrm>
        </p:spPr>
        <p:txBody>
          <a:bodyPr/>
          <a:lstStyle/>
          <a:p>
            <a:pPr lvl="0"/>
            <a:r>
              <a:rPr lang="en-US" dirty="0"/>
              <a:t>David Pollard</a:t>
            </a:r>
          </a:p>
          <a:p>
            <a:pPr lvl="0"/>
            <a:r>
              <a:rPr lang="en-US" dirty="0"/>
              <a:t>Unshakeable Salt Ltd,  @UnshakeableSalt</a:t>
            </a:r>
          </a:p>
        </p:txBody>
      </p:sp>
      <p:pic>
        <p:nvPicPr>
          <p:cNvPr id="11" name="Picture Placeholder 10">
            <a:extLst>
              <a:ext uri="{FF2B5EF4-FFF2-40B4-BE49-F238E27FC236}">
                <a16:creationId xmlns:a16="http://schemas.microsoft.com/office/drawing/2014/main" id="{F1DAC677-96FB-1B92-A17F-FE4D8527D403}"/>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1304" b="1304"/>
          <a:stretch/>
        </p:blipFill>
        <p:spPr>
          <a:xfrm>
            <a:off x="856903" y="1514518"/>
            <a:ext cx="3725864" cy="3628710"/>
          </a:xfrm>
        </p:spPr>
      </p:pic>
    </p:spTree>
    <p:extLst>
      <p:ext uri="{BB962C8B-B14F-4D97-AF65-F5344CB8AC3E}">
        <p14:creationId xmlns:p14="http://schemas.microsoft.com/office/powerpoint/2010/main" val="357771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A3352-CC2B-854C-1376-1C658C1EB2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4504887-5523-EEDF-6CF2-8F044BD78BFE}"/>
              </a:ext>
            </a:extLst>
          </p:cNvPr>
          <p:cNvSpPr>
            <a:spLocks noGrp="1"/>
          </p:cNvSpPr>
          <p:nvPr>
            <p:ph type="title"/>
          </p:nvPr>
        </p:nvSpPr>
        <p:spPr/>
        <p:txBody>
          <a:bodyPr/>
          <a:lstStyle/>
          <a:p>
            <a:r>
              <a:rPr lang="en-US" sz="2400" dirty="0"/>
              <a:t>From Zero to Agentic: Building Your First AI-Driven Threat Investigation in Splunk Enterprise Security</a:t>
            </a:r>
          </a:p>
        </p:txBody>
      </p:sp>
      <p:sp>
        <p:nvSpPr>
          <p:cNvPr id="31" name="Freeform 101" descr="Icon of two people talking representing &quot;Advisory&quot;">
            <a:extLst>
              <a:ext uri="{FF2B5EF4-FFF2-40B4-BE49-F238E27FC236}">
                <a16:creationId xmlns:a16="http://schemas.microsoft.com/office/drawing/2014/main" id="{373F9DA5-F67C-A5D0-C7B1-C683BF718FE0}"/>
              </a:ext>
            </a:extLst>
          </p:cNvPr>
          <p:cNvSpPr>
            <a:spLocks noChangeAspect="1"/>
          </p:cNvSpPr>
          <p:nvPr/>
        </p:nvSpPr>
        <p:spPr>
          <a:xfrm>
            <a:off x="1268912" y="3429000"/>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790A4A17-81B4-79F1-A6D6-8361AF57294B}"/>
              </a:ext>
            </a:extLst>
          </p:cNvPr>
          <p:cNvSpPr txBox="1"/>
          <p:nvPr/>
        </p:nvSpPr>
        <p:spPr>
          <a:xfrm>
            <a:off x="1260525" y="4081006"/>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Takeaway #1</a:t>
            </a:r>
          </a:p>
        </p:txBody>
      </p:sp>
      <p:sp>
        <p:nvSpPr>
          <p:cNvPr id="8" name="TextBox 7">
            <a:extLst>
              <a:ext uri="{FF2B5EF4-FFF2-40B4-BE49-F238E27FC236}">
                <a16:creationId xmlns:a16="http://schemas.microsoft.com/office/drawing/2014/main" id="{F8795ACB-629B-BA89-D20F-3E0429951BE4}"/>
              </a:ext>
            </a:extLst>
          </p:cNvPr>
          <p:cNvSpPr txBox="1"/>
          <p:nvPr/>
        </p:nvSpPr>
        <p:spPr>
          <a:xfrm>
            <a:off x="1260524" y="4547077"/>
            <a:ext cx="2741482" cy="1231106"/>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Choose the right LLM for SecOps — balancing cost, latency, privacy, and capability without defaulting to the biggest name.</a:t>
            </a:r>
            <a:endParaRPr lang="en-US" sz="1600" kern="1200" dirty="0">
              <a:latin typeface="Inter" panose="02000503000000020004" pitchFamily="2" charset="0"/>
              <a:ea typeface="ＭＳ Ｐゴシック" charset="0"/>
            </a:endParaRPr>
          </a:p>
        </p:txBody>
      </p:sp>
      <p:sp>
        <p:nvSpPr>
          <p:cNvPr id="29" name="Freeform 212" descr="Icon of a group of people's head in a circle  representing &quot;Collaboration&quot;">
            <a:extLst>
              <a:ext uri="{FF2B5EF4-FFF2-40B4-BE49-F238E27FC236}">
                <a16:creationId xmlns:a16="http://schemas.microsoft.com/office/drawing/2014/main" id="{D9DAC9F7-2388-CD33-CDB1-E03B9EB7AA17}"/>
              </a:ext>
            </a:extLst>
          </p:cNvPr>
          <p:cNvSpPr>
            <a:spLocks noChangeAspect="1"/>
          </p:cNvSpPr>
          <p:nvPr/>
        </p:nvSpPr>
        <p:spPr>
          <a:xfrm>
            <a:off x="4672548" y="3429000"/>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5C3DB985-21DF-0B3E-7BF2-D950B14F5C42}"/>
              </a:ext>
            </a:extLst>
          </p:cNvPr>
          <p:cNvSpPr txBox="1"/>
          <p:nvPr/>
        </p:nvSpPr>
        <p:spPr>
          <a:xfrm>
            <a:off x="4674223" y="4081006"/>
            <a:ext cx="2748138"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#2</a:t>
            </a:r>
            <a:endParaRPr lang="en-US" sz="2000" kern="1200" dirty="0">
              <a:latin typeface="Inter" panose="02000503000000020004" pitchFamily="2" charset="0"/>
              <a:ea typeface="ＭＳ Ｐゴシック" charset="0"/>
            </a:endParaRPr>
          </a:p>
        </p:txBody>
      </p:sp>
      <p:sp>
        <p:nvSpPr>
          <p:cNvPr id="10" name="TextBox 9">
            <a:extLst>
              <a:ext uri="{FF2B5EF4-FFF2-40B4-BE49-F238E27FC236}">
                <a16:creationId xmlns:a16="http://schemas.microsoft.com/office/drawing/2014/main" id="{FD75D620-5D68-61CE-B52F-BC44211B6BA7}"/>
              </a:ext>
            </a:extLst>
          </p:cNvPr>
          <p:cNvSpPr txBox="1"/>
          <p:nvPr/>
        </p:nvSpPr>
        <p:spPr>
          <a:xfrm>
            <a:off x="4674224" y="4547077"/>
            <a:ext cx="2748137" cy="1231106"/>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A repeatable pattern to integrate agentic workflows into Splunk ES — what to build yourself vs. what Splunk gives you for free.</a:t>
            </a:r>
            <a:endParaRPr lang="en-US" sz="1600" kern="1200" dirty="0">
              <a:latin typeface="Inter" panose="02000503000000020004" pitchFamily="2" charset="0"/>
              <a:ea typeface="ＭＳ Ｐゴシック" charset="0"/>
            </a:endParaRPr>
          </a:p>
        </p:txBody>
      </p:sp>
      <p:sp>
        <p:nvSpPr>
          <p:cNvPr id="30" name="Freeform 238" descr="Icon of a magnifying glass zooming in on a pie chart representing &quot;data driven insights&quot;">
            <a:extLst>
              <a:ext uri="{FF2B5EF4-FFF2-40B4-BE49-F238E27FC236}">
                <a16:creationId xmlns:a16="http://schemas.microsoft.com/office/drawing/2014/main" id="{1D406FA6-A773-EE93-D368-C3D3CDFA1DCA}"/>
              </a:ext>
            </a:extLst>
          </p:cNvPr>
          <p:cNvSpPr>
            <a:spLocks noChangeAspect="1"/>
          </p:cNvSpPr>
          <p:nvPr/>
        </p:nvSpPr>
        <p:spPr>
          <a:xfrm>
            <a:off x="8092993" y="3429000"/>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A0500FCD-0BB6-CD0C-6FFC-C5FFF13721DD}"/>
              </a:ext>
            </a:extLst>
          </p:cNvPr>
          <p:cNvSpPr txBox="1"/>
          <p:nvPr/>
        </p:nvSpPr>
        <p:spPr>
          <a:xfrm>
            <a:off x="8090609" y="4081006"/>
            <a:ext cx="2750347"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#3</a:t>
            </a:r>
          </a:p>
        </p:txBody>
      </p:sp>
      <p:sp>
        <p:nvSpPr>
          <p:cNvPr id="14" name="TextBox 13">
            <a:extLst>
              <a:ext uri="{FF2B5EF4-FFF2-40B4-BE49-F238E27FC236}">
                <a16:creationId xmlns:a16="http://schemas.microsoft.com/office/drawing/2014/main" id="{906F7F65-90AC-D751-886D-8D897C9095D4}"/>
              </a:ext>
            </a:extLst>
          </p:cNvPr>
          <p:cNvSpPr txBox="1"/>
          <p:nvPr/>
        </p:nvSpPr>
        <p:spPr>
          <a:xfrm>
            <a:off x="8090608" y="4547077"/>
            <a:ext cx="2750347" cy="1231106"/>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Avoid the top pitfalls — a </a:t>
            </a:r>
            <a:r>
              <a:rPr lang="en-US" sz="1600" dirty="0" err="1">
                <a:latin typeface="Inter" panose="02000503000000020004" pitchFamily="2" charset="0"/>
                <a:ea typeface="ＭＳ Ｐゴシック" charset="0"/>
              </a:rPr>
              <a:t>prioritised</a:t>
            </a:r>
            <a:r>
              <a:rPr lang="en-US" sz="1600" dirty="0">
                <a:latin typeface="Inter" panose="02000503000000020004" pitchFamily="2" charset="0"/>
                <a:ea typeface="ＭＳ Ｐゴシック" charset="0"/>
              </a:rPr>
              <a:t> starting framework for teams with limited time and budget to reach value fast.</a:t>
            </a:r>
            <a:endParaRPr lang="en-US" sz="1600" kern="1200" dirty="0">
              <a:latin typeface="Inter" panose="02000503000000020004" pitchFamily="2" charset="0"/>
              <a:ea typeface="ＭＳ Ｐゴシック" charset="0"/>
            </a:endParaRPr>
          </a:p>
        </p:txBody>
      </p:sp>
      <p:sp>
        <p:nvSpPr>
          <p:cNvPr id="4" name="TextBox 3">
            <a:extLst>
              <a:ext uri="{FF2B5EF4-FFF2-40B4-BE49-F238E27FC236}">
                <a16:creationId xmlns:a16="http://schemas.microsoft.com/office/drawing/2014/main" id="{9FA1873F-9487-203B-F48C-CA253E25C19A}"/>
              </a:ext>
            </a:extLst>
          </p:cNvPr>
          <p:cNvSpPr txBox="1"/>
          <p:nvPr/>
        </p:nvSpPr>
        <p:spPr>
          <a:xfrm>
            <a:off x="1260524" y="1312751"/>
            <a:ext cx="9227246" cy="1733808"/>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Agentic AI promises autonomous security operations — but where do you actually start? </a:t>
            </a: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This session cuts through the hype with hard-won lessons from building a bespoke agentic use case inside Splunk Enterprise Security from scratch. </a:t>
            </a: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We cover LLM selection on a real-world budget, native Splunk integration patterns, and the critical pitfalls that cost time before delivering value. Practical, honest, and immediately applicable.</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50076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43E6DEE7-1C59-3B54-EB23-DCBCB2B0D0FB}"/>
              </a:ext>
            </a:extLst>
          </p:cNvPr>
          <p:cNvSpPr>
            <a:spLocks noGrp="1"/>
          </p:cNvSpPr>
          <p:nvPr>
            <p:ph type="body" sz="quarter" idx="20"/>
          </p:nvPr>
        </p:nvSpPr>
        <p:spPr>
          <a:xfrm>
            <a:off x="5096444" y="1166373"/>
            <a:ext cx="550862" cy="365125"/>
          </a:xfrm>
          <a:noFill/>
        </p:spPr>
        <p:txBody>
          <a:body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01</a:t>
            </a:r>
          </a:p>
        </p:txBody>
      </p:sp>
      <p:sp>
        <p:nvSpPr>
          <p:cNvPr id="15" name="Text Placeholder 14">
            <a:extLst>
              <a:ext uri="{FF2B5EF4-FFF2-40B4-BE49-F238E27FC236}">
                <a16:creationId xmlns:a16="http://schemas.microsoft.com/office/drawing/2014/main" id="{3C947C27-4B3E-E3EE-FAFE-DB550BD5803E}"/>
              </a:ext>
            </a:extLst>
          </p:cNvPr>
          <p:cNvSpPr>
            <a:spLocks noGrp="1"/>
          </p:cNvSpPr>
          <p:nvPr>
            <p:ph type="body" sz="quarter" idx="18"/>
          </p:nvPr>
        </p:nvSpPr>
        <p:spPr>
          <a:xfrm>
            <a:off x="5796710" y="1166373"/>
            <a:ext cx="5683250" cy="365125"/>
          </a:xfrm>
        </p:spPr>
        <p:txBody>
          <a:bodyPr/>
          <a:lstStyle/>
          <a:p>
            <a:r>
              <a:rPr lang="en-US" sz="2400" dirty="0">
                <a:latin typeface="Inter Light" panose="02000403000000020004" pitchFamily="2" charset="0"/>
                <a:ea typeface="Inter Light" panose="02000403000000020004" pitchFamily="2" charset="0"/>
                <a:cs typeface="Inter Light" panose="02000403000000020004" pitchFamily="2" charset="0"/>
              </a:rPr>
              <a:t>The Agentic Promise</a:t>
            </a:r>
          </a:p>
        </p:txBody>
      </p:sp>
      <p:sp>
        <p:nvSpPr>
          <p:cNvPr id="25" name="Text Placeholder 11">
            <a:extLst>
              <a:ext uri="{FF2B5EF4-FFF2-40B4-BE49-F238E27FC236}">
                <a16:creationId xmlns:a16="http://schemas.microsoft.com/office/drawing/2014/main" id="{6A67AE9A-8CC6-3FAC-19BD-9D1BC3EBA8A5}"/>
              </a:ext>
            </a:extLst>
          </p:cNvPr>
          <p:cNvSpPr txBox="1">
            <a:spLocks/>
          </p:cNvSpPr>
          <p:nvPr/>
        </p:nvSpPr>
        <p:spPr>
          <a:xfrm>
            <a:off x="5096444" y="178554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02</a:t>
            </a:r>
          </a:p>
        </p:txBody>
      </p:sp>
      <p:sp>
        <p:nvSpPr>
          <p:cNvPr id="26" name="Text Placeholder 14">
            <a:extLst>
              <a:ext uri="{FF2B5EF4-FFF2-40B4-BE49-F238E27FC236}">
                <a16:creationId xmlns:a16="http://schemas.microsoft.com/office/drawing/2014/main" id="{EB58D66F-EEA6-C098-8889-30573284AE55}"/>
              </a:ext>
            </a:extLst>
          </p:cNvPr>
          <p:cNvSpPr txBox="1">
            <a:spLocks/>
          </p:cNvSpPr>
          <p:nvPr/>
        </p:nvSpPr>
        <p:spPr>
          <a:xfrm>
            <a:off x="5796710" y="178554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Choosing the LLM</a:t>
            </a:r>
          </a:p>
        </p:txBody>
      </p:sp>
      <p:sp>
        <p:nvSpPr>
          <p:cNvPr id="27" name="Text Placeholder 11">
            <a:extLst>
              <a:ext uri="{FF2B5EF4-FFF2-40B4-BE49-F238E27FC236}">
                <a16:creationId xmlns:a16="http://schemas.microsoft.com/office/drawing/2014/main" id="{CE49596C-A70F-68F3-ED2C-1B8FD810A32A}"/>
              </a:ext>
            </a:extLst>
          </p:cNvPr>
          <p:cNvSpPr txBox="1">
            <a:spLocks/>
          </p:cNvSpPr>
          <p:nvPr/>
        </p:nvSpPr>
        <p:spPr>
          <a:xfrm>
            <a:off x="5096444" y="240471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03</a:t>
            </a:r>
          </a:p>
        </p:txBody>
      </p:sp>
      <p:sp>
        <p:nvSpPr>
          <p:cNvPr id="28" name="Text Placeholder 14">
            <a:extLst>
              <a:ext uri="{FF2B5EF4-FFF2-40B4-BE49-F238E27FC236}">
                <a16:creationId xmlns:a16="http://schemas.microsoft.com/office/drawing/2014/main" id="{E3DC1E3C-25E2-4679-F436-61EE0B4F291E}"/>
              </a:ext>
            </a:extLst>
          </p:cNvPr>
          <p:cNvSpPr txBox="1">
            <a:spLocks/>
          </p:cNvSpPr>
          <p:nvPr/>
        </p:nvSpPr>
        <p:spPr>
          <a:xfrm>
            <a:off x="5796710" y="240471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A three-phase loop</a:t>
            </a:r>
          </a:p>
        </p:txBody>
      </p:sp>
      <p:sp>
        <p:nvSpPr>
          <p:cNvPr id="29" name="Text Placeholder 11">
            <a:extLst>
              <a:ext uri="{FF2B5EF4-FFF2-40B4-BE49-F238E27FC236}">
                <a16:creationId xmlns:a16="http://schemas.microsoft.com/office/drawing/2014/main" id="{F9CEE4E2-9748-97E6-C8CA-AE43D972EEF6}"/>
              </a:ext>
            </a:extLst>
          </p:cNvPr>
          <p:cNvSpPr txBox="1">
            <a:spLocks/>
          </p:cNvSpPr>
          <p:nvPr/>
        </p:nvSpPr>
        <p:spPr>
          <a:xfrm>
            <a:off x="5096444" y="302388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04</a:t>
            </a:r>
          </a:p>
        </p:txBody>
      </p:sp>
      <p:sp>
        <p:nvSpPr>
          <p:cNvPr id="30" name="Text Placeholder 14">
            <a:extLst>
              <a:ext uri="{FF2B5EF4-FFF2-40B4-BE49-F238E27FC236}">
                <a16:creationId xmlns:a16="http://schemas.microsoft.com/office/drawing/2014/main" id="{78C6708E-F842-8702-8210-325D0E01D0E0}"/>
              </a:ext>
            </a:extLst>
          </p:cNvPr>
          <p:cNvSpPr txBox="1">
            <a:spLocks/>
          </p:cNvSpPr>
          <p:nvPr/>
        </p:nvSpPr>
        <p:spPr>
          <a:xfrm>
            <a:off x="5796710" y="302388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Phase 1 – The “Alert Action”</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2" name="Text Placeholder 11">
            <a:extLst>
              <a:ext uri="{FF2B5EF4-FFF2-40B4-BE49-F238E27FC236}">
                <a16:creationId xmlns:a16="http://schemas.microsoft.com/office/drawing/2014/main" id="{B20B342A-8A28-61DB-B424-3CF11D738125}"/>
              </a:ext>
            </a:extLst>
          </p:cNvPr>
          <p:cNvSpPr txBox="1">
            <a:spLocks/>
          </p:cNvSpPr>
          <p:nvPr/>
        </p:nvSpPr>
        <p:spPr>
          <a:xfrm>
            <a:off x="5096444" y="364305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tx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05</a:t>
            </a:r>
          </a:p>
        </p:txBody>
      </p:sp>
      <p:sp>
        <p:nvSpPr>
          <p:cNvPr id="3" name="Text Placeholder 14">
            <a:extLst>
              <a:ext uri="{FF2B5EF4-FFF2-40B4-BE49-F238E27FC236}">
                <a16:creationId xmlns:a16="http://schemas.microsoft.com/office/drawing/2014/main" id="{B58ABED7-63BB-B615-F202-00F0BBF3B86D}"/>
              </a:ext>
            </a:extLst>
          </p:cNvPr>
          <p:cNvSpPr txBox="1">
            <a:spLocks/>
          </p:cNvSpPr>
          <p:nvPr/>
        </p:nvSpPr>
        <p:spPr>
          <a:xfrm>
            <a:off x="5796710" y="364305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9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Phase 2 – Bridge Mechanics &amp; CIM</a:t>
            </a:r>
          </a:p>
        </p:txBody>
      </p:sp>
      <p:sp>
        <p:nvSpPr>
          <p:cNvPr id="4" name="Text Placeholder 11">
            <a:extLst>
              <a:ext uri="{FF2B5EF4-FFF2-40B4-BE49-F238E27FC236}">
                <a16:creationId xmlns:a16="http://schemas.microsoft.com/office/drawing/2014/main" id="{2D52F27B-9C6A-F7EC-C1B8-E95C03ACFC3A}"/>
              </a:ext>
            </a:extLst>
          </p:cNvPr>
          <p:cNvSpPr txBox="1">
            <a:spLocks/>
          </p:cNvSpPr>
          <p:nvPr/>
        </p:nvSpPr>
        <p:spPr>
          <a:xfrm>
            <a:off x="5096444" y="426222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06</a:t>
            </a:r>
          </a:p>
        </p:txBody>
      </p:sp>
      <p:sp>
        <p:nvSpPr>
          <p:cNvPr id="5" name="Text Placeholder 14">
            <a:extLst>
              <a:ext uri="{FF2B5EF4-FFF2-40B4-BE49-F238E27FC236}">
                <a16:creationId xmlns:a16="http://schemas.microsoft.com/office/drawing/2014/main" id="{B5C4FF45-BD38-A5B2-B4E8-3377D22238C6}"/>
              </a:ext>
            </a:extLst>
          </p:cNvPr>
          <p:cNvSpPr txBox="1">
            <a:spLocks/>
          </p:cNvSpPr>
          <p:nvPr/>
        </p:nvSpPr>
        <p:spPr>
          <a:xfrm>
            <a:off x="5796710" y="426222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Phase 3 – Zero Touch</a:t>
            </a:r>
          </a:p>
        </p:txBody>
      </p:sp>
      <p:sp>
        <p:nvSpPr>
          <p:cNvPr id="7" name="Text Placeholder 11">
            <a:extLst>
              <a:ext uri="{FF2B5EF4-FFF2-40B4-BE49-F238E27FC236}">
                <a16:creationId xmlns:a16="http://schemas.microsoft.com/office/drawing/2014/main" id="{ACE1F603-961F-DCC5-195A-F62956B4A9D8}"/>
              </a:ext>
            </a:extLst>
          </p:cNvPr>
          <p:cNvSpPr txBox="1">
            <a:spLocks/>
          </p:cNvSpPr>
          <p:nvPr/>
        </p:nvSpPr>
        <p:spPr>
          <a:xfrm>
            <a:off x="5096444" y="4881393"/>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07</a:t>
            </a:r>
          </a:p>
        </p:txBody>
      </p:sp>
      <p:sp>
        <p:nvSpPr>
          <p:cNvPr id="8" name="Text Placeholder 14">
            <a:extLst>
              <a:ext uri="{FF2B5EF4-FFF2-40B4-BE49-F238E27FC236}">
                <a16:creationId xmlns:a16="http://schemas.microsoft.com/office/drawing/2014/main" id="{BEDCBE39-409C-2C8A-509A-65EED1253FFC}"/>
              </a:ext>
            </a:extLst>
          </p:cNvPr>
          <p:cNvSpPr txBox="1">
            <a:spLocks/>
          </p:cNvSpPr>
          <p:nvPr/>
        </p:nvSpPr>
        <p:spPr>
          <a:xfrm>
            <a:off x="5796710" y="4881393"/>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Demo</a:t>
            </a:r>
          </a:p>
        </p:txBody>
      </p:sp>
      <p:sp>
        <p:nvSpPr>
          <p:cNvPr id="9" name="Text Placeholder 11">
            <a:extLst>
              <a:ext uri="{FF2B5EF4-FFF2-40B4-BE49-F238E27FC236}">
                <a16:creationId xmlns:a16="http://schemas.microsoft.com/office/drawing/2014/main" id="{E14B8FC5-F493-15EC-FD54-7FDE0AE092AB}"/>
              </a:ext>
            </a:extLst>
          </p:cNvPr>
          <p:cNvSpPr txBox="1">
            <a:spLocks/>
          </p:cNvSpPr>
          <p:nvPr/>
        </p:nvSpPr>
        <p:spPr>
          <a:xfrm>
            <a:off x="5096444" y="5500565"/>
            <a:ext cx="550862"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None/>
              <a:defRPr kumimoji="0" lang="en-US" sz="3200" b="0" i="0" u="none" strike="noStrike" kern="1200" cap="none" spc="27" normalizeH="0" baseline="0" dirty="0" smtClean="0">
                <a:ln>
                  <a:noFill/>
                </a:ln>
                <a:solidFill>
                  <a:schemeClr val="bg2">
                    <a:lumMod val="60000"/>
                    <a:lumOff val="40000"/>
                  </a:schemeClr>
                </a:solidFill>
                <a:effectLst/>
                <a:uLnTx/>
                <a:uFillTx/>
                <a:latin typeface="+mj-lt"/>
                <a:ea typeface="ＭＳ Ｐゴシック" charset="0"/>
                <a:cs typeface="CiscoSansTT Light" panose="020B0503020201020303" pitchFamily="34"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sz="2400" dirty="0">
                <a:solidFill>
                  <a:schemeClr val="bg1">
                    <a:lumMod val="75000"/>
                  </a:schemeClr>
                </a:solidFill>
                <a:latin typeface="Inter Light" panose="02000403000000020004" pitchFamily="2" charset="0"/>
                <a:ea typeface="Inter Light" panose="02000403000000020004" pitchFamily="2" charset="0"/>
                <a:cs typeface="Inter Light" panose="02000403000000020004" pitchFamily="2" charset="0"/>
              </a:rPr>
              <a:t>08</a:t>
            </a:r>
          </a:p>
        </p:txBody>
      </p:sp>
      <p:sp>
        <p:nvSpPr>
          <p:cNvPr id="11" name="Text Placeholder 14">
            <a:extLst>
              <a:ext uri="{FF2B5EF4-FFF2-40B4-BE49-F238E27FC236}">
                <a16:creationId xmlns:a16="http://schemas.microsoft.com/office/drawing/2014/main" id="{083EFC8D-9C44-7975-CE88-939C6B06D610}"/>
              </a:ext>
            </a:extLst>
          </p:cNvPr>
          <p:cNvSpPr txBox="1">
            <a:spLocks/>
          </p:cNvSpPr>
          <p:nvPr/>
        </p:nvSpPr>
        <p:spPr>
          <a:xfrm>
            <a:off x="5796710" y="5500565"/>
            <a:ext cx="5683250" cy="365125"/>
          </a:xfrm>
          <a:prstGeom prst="rect">
            <a:avLst/>
          </a:prstGeom>
          <a:noFill/>
        </p:spPr>
        <p:txBody>
          <a:bodyPr vert="horz" lIns="0" tIns="0" rIns="0" bIns="0" rtlCol="0" anchor="t" anchorCtr="0">
            <a:noAutofit/>
          </a:bodyPr>
          <a:lstStyle>
            <a:lvl1pPr marL="0" indent="0" algn="l" defTabSz="912276" rtl="0" eaLnBrk="1" fontAlgn="base" hangingPunct="1">
              <a:lnSpc>
                <a:spcPct val="100000"/>
              </a:lnSpc>
              <a:spcBef>
                <a:spcPct val="0"/>
              </a:spcBef>
              <a:spcAft>
                <a:spcPts val="1000"/>
              </a:spcAft>
              <a:buClrTx/>
              <a:buSzPct val="70000"/>
              <a:buFont typeface="Arial" panose="020B0604020202020204" pitchFamily="34" charset="0"/>
              <a:buNone/>
              <a:defRPr lang="en-US" sz="3200" b="0" i="0" u="none" kern="1200" dirty="0">
                <a:solidFill>
                  <a:schemeClr val="bg1"/>
                </a:solidFill>
                <a:latin typeface="+mj-lt"/>
                <a:ea typeface="CiscoSansTT Thin" charset="0"/>
                <a:cs typeface="CiscoSansTT Thin" charset="0"/>
              </a:defRPr>
            </a:lvl1pPr>
            <a:lvl2pPr marL="36576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800" kern="1200" dirty="0">
                <a:solidFill>
                  <a:schemeClr val="bg1"/>
                </a:solidFill>
                <a:latin typeface="+mn-lt"/>
                <a:ea typeface="ＭＳ Ｐゴシック" charset="0"/>
                <a:cs typeface="CiscoSans"/>
              </a:defRPr>
            </a:lvl2pPr>
            <a:lvl3pPr marL="54864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600" kern="1200" dirty="0">
                <a:solidFill>
                  <a:schemeClr val="bg1"/>
                </a:solidFill>
                <a:latin typeface="+mn-lt"/>
                <a:ea typeface="ＭＳ Ｐゴシック" charset="0"/>
                <a:cs typeface="CiscoSans"/>
              </a:defRPr>
            </a:lvl3pPr>
            <a:lvl4pPr marL="73152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400" kern="1200" dirty="0">
                <a:solidFill>
                  <a:schemeClr val="bg1"/>
                </a:solidFill>
                <a:latin typeface="+mn-lt"/>
                <a:ea typeface="ＭＳ Ｐゴシック" charset="0"/>
                <a:cs typeface="CiscoSans"/>
              </a:defRPr>
            </a:lvl4pPr>
            <a:lvl5pPr marL="91440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lang="en-US" sz="1200" kern="1200" dirty="0">
                <a:solidFill>
                  <a:schemeClr val="bg1"/>
                </a:solidFill>
                <a:latin typeface="+mn-lt"/>
                <a:ea typeface="ＭＳ Ｐゴシック" charset="0"/>
                <a:cs typeface="CiscoSans"/>
              </a:defRPr>
            </a:lvl5pPr>
            <a:lvl6pPr marL="1151798" indent="-228592" algn="l" defTabSz="914362" rtl="0" eaLnBrk="1" latinLnBrk="0" hangingPunct="1">
              <a:spcBef>
                <a:spcPts val="800"/>
              </a:spcBef>
              <a:buFont typeface="Arial" pitchFamily="34" charset="0"/>
              <a:buChar char="•"/>
              <a:defRPr sz="1200" kern="1200" baseline="0">
                <a:solidFill>
                  <a:schemeClr val="tx1"/>
                </a:solidFill>
                <a:latin typeface="+mn-lt"/>
                <a:ea typeface="+mn-ea"/>
                <a:cs typeface="+mn-cs"/>
              </a:defRPr>
            </a:lvl6pPr>
            <a:lvl7pPr marL="1247781" indent="-228561" algn="l" defTabSz="914362" rtl="0" eaLnBrk="1" latinLnBrk="0" hangingPunct="1">
              <a:spcBef>
                <a:spcPts val="800"/>
              </a:spcBef>
              <a:buFont typeface="Arial" pitchFamily="34" charset="0"/>
              <a:buChar char="•"/>
              <a:defRPr sz="1067" kern="1200" baseline="0">
                <a:solidFill>
                  <a:schemeClr val="tx1"/>
                </a:solidFill>
                <a:latin typeface="+mn-lt"/>
                <a:ea typeface="+mn-ea"/>
                <a:cs typeface="+mn-cs"/>
              </a:defRPr>
            </a:lvl7pPr>
            <a:lvl8pPr marL="3200267" indent="0" algn="l" defTabSz="914362" rtl="0" eaLnBrk="1" latinLnBrk="0" hangingPunct="1">
              <a:spcBef>
                <a:spcPct val="20000"/>
              </a:spcBef>
              <a:buFont typeface="Arial" pitchFamily="34" charset="0"/>
              <a:buNone/>
              <a:defRPr sz="2000" kern="1200">
                <a:solidFill>
                  <a:schemeClr val="tx1"/>
                </a:solidFill>
                <a:latin typeface="+mn-lt"/>
                <a:ea typeface="+mn-ea"/>
                <a:cs typeface="+mn-cs"/>
              </a:defRPr>
            </a:lvl8pPr>
            <a:lvl9pPr marL="3886038" indent="-228592" algn="l" defTabSz="91436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pt-BR"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Recap</a:t>
            </a:r>
            <a:r>
              <a:rPr lang="pt-BR" sz="2400" dirty="0">
                <a:solidFill>
                  <a:schemeClr val="tx1"/>
                </a:solidFill>
                <a:latin typeface="Inter Light" panose="02000403000000020004" pitchFamily="2" charset="0"/>
                <a:ea typeface="Inter Light" panose="02000403000000020004" pitchFamily="2" charset="0"/>
                <a:cs typeface="Inter Light" panose="02000403000000020004" pitchFamily="2" charset="0"/>
              </a:rPr>
              <a:t> &amp; </a:t>
            </a:r>
            <a:r>
              <a:rPr lang="pt-BR" sz="2400" dirty="0" err="1">
                <a:solidFill>
                  <a:schemeClr val="tx1"/>
                </a:solidFill>
                <a:latin typeface="Inter Light" panose="02000403000000020004" pitchFamily="2" charset="0"/>
                <a:ea typeface="Inter Light" panose="02000403000000020004" pitchFamily="2" charset="0"/>
                <a:cs typeface="Inter Light" panose="02000403000000020004" pitchFamily="2" charset="0"/>
              </a:rPr>
              <a:t>Pitfalls</a:t>
            </a:r>
            <a:endParaRPr lang="en-US" sz="2400" dirty="0">
              <a:solidFill>
                <a:schemeClr val="tx1"/>
              </a:solidFill>
              <a:latin typeface="Inter Light" panose="02000403000000020004" pitchFamily="2" charset="0"/>
              <a:ea typeface="Inter Light" panose="02000403000000020004" pitchFamily="2" charset="0"/>
              <a:cs typeface="Inter Light" panose="02000403000000020004" pitchFamily="2" charset="0"/>
            </a:endParaRPr>
          </a:p>
        </p:txBody>
      </p:sp>
      <p:sp>
        <p:nvSpPr>
          <p:cNvPr id="6" name="Title 2">
            <a:extLst>
              <a:ext uri="{FF2B5EF4-FFF2-40B4-BE49-F238E27FC236}">
                <a16:creationId xmlns:a16="http://schemas.microsoft.com/office/drawing/2014/main" id="{F6C8BC5F-DDF7-E372-3539-574932EEB8C8}"/>
              </a:ext>
            </a:extLst>
          </p:cNvPr>
          <p:cNvSpPr txBox="1">
            <a:spLocks/>
          </p:cNvSpPr>
          <p:nvPr/>
        </p:nvSpPr>
        <p:spPr>
          <a:xfrm>
            <a:off x="323850" y="2339181"/>
            <a:ext cx="4317161" cy="2179638"/>
          </a:xfrm>
          <a:prstGeom prst="rect">
            <a:avLst/>
          </a:prstGeom>
          <a:noFill/>
        </p:spPr>
        <p:txBody>
          <a:bodyPr vert="horz" lIns="0" tIns="0" rIns="0" bIns="0" rtlCol="0" anchor="ctr">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bg1"/>
                </a:solidFill>
                <a:latin typeface="Inter Light" panose="02000503000000020004" pitchFamily="2" charset="0"/>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US" sz="4000" dirty="0">
                <a:solidFill>
                  <a:schemeClr val="tx1"/>
                </a:solidFill>
                <a:latin typeface="+mj-lt"/>
              </a:rPr>
              <a:t>Agenda</a:t>
            </a:r>
          </a:p>
        </p:txBody>
      </p:sp>
    </p:spTree>
    <p:extLst>
      <p:ext uri="{BB962C8B-B14F-4D97-AF65-F5344CB8AC3E}">
        <p14:creationId xmlns:p14="http://schemas.microsoft.com/office/powerpoint/2010/main" val="1330528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7307E-CE49-867F-2DBB-0E1FF8269E56}"/>
              </a:ext>
            </a:extLst>
          </p:cNvPr>
          <p:cNvSpPr>
            <a:spLocks noGrp="1"/>
          </p:cNvSpPr>
          <p:nvPr>
            <p:ph type="title"/>
          </p:nvPr>
        </p:nvSpPr>
        <p:spPr/>
        <p:txBody>
          <a:bodyPr/>
          <a:lstStyle/>
          <a:p>
            <a:r>
              <a:rPr lang="en-GB" i="1" dirty="0"/>
              <a:t>‘Agentic AI’ </a:t>
            </a:r>
            <a:r>
              <a:rPr lang="en-GB" dirty="0"/>
              <a:t> is Easy to Say, </a:t>
            </a:r>
            <a:br>
              <a:rPr lang="en-GB" dirty="0"/>
            </a:br>
            <a:r>
              <a:rPr lang="en-GB" dirty="0"/>
              <a:t>                                         - Hard to Ship</a:t>
            </a:r>
          </a:p>
        </p:txBody>
      </p:sp>
      <p:sp>
        <p:nvSpPr>
          <p:cNvPr id="3" name="Picture Placeholder 2">
            <a:extLst>
              <a:ext uri="{FF2B5EF4-FFF2-40B4-BE49-F238E27FC236}">
                <a16:creationId xmlns:a16="http://schemas.microsoft.com/office/drawing/2014/main" id="{81060460-EB0D-40D5-8F80-131D0B0E9A01}"/>
              </a:ext>
            </a:extLst>
          </p:cNvPr>
          <p:cNvSpPr>
            <a:spLocks noGrp="1"/>
          </p:cNvSpPr>
          <p:nvPr>
            <p:ph type="pic" sz="quarter" idx="13"/>
          </p:nvPr>
        </p:nvSpPr>
        <p:spPr/>
        <p:txBody>
          <a:bodyPr/>
          <a:lstStyle/>
          <a:p>
            <a:endParaRPr lang="en-GB"/>
          </a:p>
        </p:txBody>
      </p:sp>
      <p:sp>
        <p:nvSpPr>
          <p:cNvPr id="4" name="TextBox 3">
            <a:extLst>
              <a:ext uri="{FF2B5EF4-FFF2-40B4-BE49-F238E27FC236}">
                <a16:creationId xmlns:a16="http://schemas.microsoft.com/office/drawing/2014/main" id="{67A81718-D35C-33B8-4D00-01BC66EA8EA1}"/>
              </a:ext>
            </a:extLst>
          </p:cNvPr>
          <p:cNvSpPr txBox="1"/>
          <p:nvPr/>
        </p:nvSpPr>
        <p:spPr>
          <a:xfrm>
            <a:off x="1153551" y="3235569"/>
            <a:ext cx="0" cy="0"/>
          </a:xfrm>
          <a:prstGeom prst="rect">
            <a:avLst/>
          </a:prstGeom>
          <a:noFill/>
        </p:spPr>
        <p:txBody>
          <a:bodyPr wrap="none" lIns="0" tIns="0" rIns="0" bIns="0" rtlCol="0">
            <a:noAutofit/>
          </a:bodyPr>
          <a:lstStyle/>
          <a:p>
            <a: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pPr>
            <a:endParaRPr lang="en-GB" sz="1600" kern="1200" dirty="0" err="1">
              <a:solidFill>
                <a:schemeClr val="bg1"/>
              </a:solidFill>
              <a:latin typeface="+mn-lt"/>
              <a:ea typeface="ＭＳ Ｐゴシック" charset="0"/>
            </a:endParaRPr>
          </a:p>
        </p:txBody>
      </p:sp>
      <p:sp>
        <p:nvSpPr>
          <p:cNvPr id="5" name="TextBox 4">
            <a:extLst>
              <a:ext uri="{FF2B5EF4-FFF2-40B4-BE49-F238E27FC236}">
                <a16:creationId xmlns:a16="http://schemas.microsoft.com/office/drawing/2014/main" id="{AA170CCE-BB8E-C3AB-F430-8DE158C0E5EE}"/>
              </a:ext>
            </a:extLst>
          </p:cNvPr>
          <p:cNvSpPr txBox="1"/>
          <p:nvPr/>
        </p:nvSpPr>
        <p:spPr>
          <a:xfrm>
            <a:off x="313802" y="1388828"/>
            <a:ext cx="7596261" cy="4206280"/>
          </a:xfrm>
          <a:prstGeom prst="rect">
            <a:avLst/>
          </a:prstGeom>
          <a:noFill/>
        </p:spPr>
        <p:txBody>
          <a:bodyPr wrap="square" lIns="0" tIns="0" rIns="0" bIns="0" rtlCol="0">
            <a:spAutoFit/>
          </a:bodyPr>
          <a:lstStyle/>
          <a:p>
            <a:pPr marL="285750" indent="-285750" defTabSz="912276" fontAlgn="base">
              <a:spcAft>
                <a:spcPts val="1000"/>
              </a:spcAft>
              <a:buClr>
                <a:schemeClr val="bg1"/>
              </a:buClr>
              <a:buSzPct val="100000"/>
              <a:buFont typeface="Arial" panose="020B0604020202020204" pitchFamily="34" charset="0"/>
              <a:buChar char="•"/>
            </a:pPr>
            <a:r>
              <a:rPr lang="en-US" sz="2000" dirty="0">
                <a:latin typeface="Inter" panose="02000503000000020004" pitchFamily="2" charset="0"/>
                <a:ea typeface="ＭＳ Ｐゴシック" charset="0"/>
              </a:rPr>
              <a:t>Every vendor keynote: autonomous SOC, self-healing detections, AI analysts.</a:t>
            </a:r>
          </a:p>
          <a:p>
            <a:pPr marL="285750" indent="-285750" defTabSz="912276" fontAlgn="base">
              <a:spcAft>
                <a:spcPts val="1000"/>
              </a:spcAft>
              <a:buClr>
                <a:schemeClr val="bg1"/>
              </a:buClr>
              <a:buSzPct val="100000"/>
              <a:buFont typeface="Arial" panose="020B0604020202020204" pitchFamily="34" charset="0"/>
              <a:buChar char="•"/>
            </a:pPr>
            <a:r>
              <a:rPr lang="en-US" sz="2000" dirty="0">
                <a:latin typeface="Inter" panose="02000503000000020004" pitchFamily="2" charset="0"/>
                <a:ea typeface="ＭＳ Ｐゴシック" charset="0"/>
              </a:rPr>
              <a:t>The gap nobody shows you: what connects an LLM's opinion to a field Splunk can score, correlate, and dashboard.</a:t>
            </a:r>
          </a:p>
          <a:p>
            <a:pPr marL="285750" indent="-285750" defTabSz="912276" fontAlgn="base">
              <a:spcAft>
                <a:spcPts val="1000"/>
              </a:spcAft>
              <a:buClr>
                <a:schemeClr val="bg1"/>
              </a:buClr>
              <a:buSzPct val="100000"/>
              <a:buFont typeface="Arial" panose="020B0604020202020204" pitchFamily="34" charset="0"/>
              <a:buChar char="•"/>
            </a:pPr>
            <a:r>
              <a:rPr lang="en-US" sz="2000" dirty="0">
                <a:latin typeface="Inter" panose="02000503000000020004" pitchFamily="2" charset="0"/>
                <a:ea typeface="ＭＳ Ｐゴシック" charset="0"/>
              </a:rPr>
              <a:t>An LLM's reply is prose, or loose JSON at best — Enterprise Security's Risk Analysis framework and Incident Review don't care what the AI </a:t>
            </a:r>
            <a:r>
              <a:rPr lang="en-US" sz="2000" b="1" dirty="0">
                <a:latin typeface="Inter" panose="02000503000000020004" pitchFamily="2" charset="0"/>
                <a:ea typeface="ＭＳ Ｐゴシック" charset="0"/>
              </a:rPr>
              <a:t>said</a:t>
            </a:r>
            <a:r>
              <a:rPr lang="en-US" sz="2000" dirty="0">
                <a:latin typeface="Inter" panose="02000503000000020004" pitchFamily="2" charset="0"/>
                <a:ea typeface="ＭＳ Ｐゴシック" charset="0"/>
              </a:rPr>
              <a:t>. They care about </a:t>
            </a:r>
            <a:r>
              <a:rPr lang="en-US" sz="2000" b="1" dirty="0">
                <a:latin typeface="Inter" panose="02000503000000020004" pitchFamily="2" charset="0"/>
                <a:ea typeface="ＭＳ Ｐゴシック" charset="0"/>
              </a:rPr>
              <a:t>fields</a:t>
            </a:r>
            <a:r>
              <a:rPr lang="en-US" sz="2000" dirty="0">
                <a:latin typeface="Inter" panose="02000503000000020004" pitchFamily="2" charset="0"/>
                <a:ea typeface="ＭＳ Ｐゴシック" charset="0"/>
              </a:rPr>
              <a:t>.</a:t>
            </a:r>
          </a:p>
          <a:p>
            <a:pPr marL="285750" indent="-285750" defTabSz="912276" fontAlgn="base">
              <a:spcAft>
                <a:spcPts val="1000"/>
              </a:spcAft>
              <a:buClr>
                <a:schemeClr val="bg1"/>
              </a:buClr>
              <a:buSzPct val="100000"/>
              <a:buFont typeface="Arial" panose="020B0604020202020204" pitchFamily="34" charset="0"/>
              <a:buChar char="•"/>
            </a:pPr>
            <a:r>
              <a:rPr lang="en-US" sz="2000" dirty="0">
                <a:latin typeface="Inter" panose="02000503000000020004" pitchFamily="2" charset="0"/>
                <a:ea typeface="ＭＳ Ｐゴシック" charset="0"/>
              </a:rPr>
              <a:t>Start with Smart LLM's and tune down to specific API addressing.</a:t>
            </a:r>
          </a:p>
          <a:p>
            <a:pPr marL="285750" indent="-285750" defTabSz="912276" fontAlgn="base">
              <a:spcAft>
                <a:spcPts val="1000"/>
              </a:spcAft>
              <a:buClr>
                <a:schemeClr val="bg1"/>
              </a:buClr>
              <a:buSzPct val="100000"/>
              <a:buFont typeface="Arial" panose="020B0604020202020204" pitchFamily="34" charset="0"/>
              <a:buChar char="•"/>
            </a:pPr>
            <a:r>
              <a:rPr lang="en-US" sz="2000" dirty="0">
                <a:latin typeface="Inter" panose="02000503000000020004" pitchFamily="2" charset="0"/>
                <a:ea typeface="ＭＳ Ｐゴシック" charset="0"/>
              </a:rPr>
              <a:t>The plumbing between "</a:t>
            </a:r>
            <a:r>
              <a:rPr lang="en-US" sz="2000" i="1" dirty="0">
                <a:latin typeface="Inter" panose="02000503000000020004" pitchFamily="2" charset="0"/>
                <a:ea typeface="ＭＳ Ｐゴシック" charset="0"/>
              </a:rPr>
              <a:t>the AI had a thought</a:t>
            </a:r>
            <a:r>
              <a:rPr lang="en-US" sz="2000" dirty="0">
                <a:latin typeface="Inter" panose="02000503000000020004" pitchFamily="2" charset="0"/>
                <a:ea typeface="ＭＳ Ｐゴシック" charset="0"/>
              </a:rPr>
              <a:t>" and "the SOC analyst sees a risk score, with zero copy/paste."</a:t>
            </a:r>
            <a:endParaRPr lang="en-US" sz="20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299440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5115926C-3F56-5F62-322D-3052EA6872BA}"/>
              </a:ext>
            </a:extLst>
          </p:cNvPr>
          <p:cNvSpPr>
            <a:spLocks noGrp="1"/>
          </p:cNvSpPr>
          <p:nvPr>
            <p:ph type="body" sz="quarter" idx="13"/>
          </p:nvPr>
        </p:nvSpPr>
        <p:spPr/>
        <p:txBody>
          <a:bodyPr/>
          <a:lstStyle/>
          <a:p>
            <a:r>
              <a:rPr lang="en-GB" dirty="0"/>
              <a:t>Proof of Concept</a:t>
            </a:r>
          </a:p>
        </p:txBody>
      </p:sp>
      <p:sp>
        <p:nvSpPr>
          <p:cNvPr id="2" name="Title 1">
            <a:extLst>
              <a:ext uri="{FF2B5EF4-FFF2-40B4-BE49-F238E27FC236}">
                <a16:creationId xmlns:a16="http://schemas.microsoft.com/office/drawing/2014/main" id="{8A130165-7840-6CAF-5596-686863DF81E6}"/>
              </a:ext>
            </a:extLst>
          </p:cNvPr>
          <p:cNvSpPr>
            <a:spLocks noGrp="1"/>
          </p:cNvSpPr>
          <p:nvPr>
            <p:ph type="title"/>
          </p:nvPr>
        </p:nvSpPr>
        <p:spPr/>
        <p:txBody>
          <a:bodyPr/>
          <a:lstStyle/>
          <a:p>
            <a:r>
              <a:rPr lang="en-GB" dirty="0"/>
              <a:t>We have no SOAR,  we have no AI</a:t>
            </a:r>
            <a:br>
              <a:rPr lang="en-GB" dirty="0"/>
            </a:br>
            <a:br>
              <a:rPr lang="en-GB" dirty="0"/>
            </a:br>
            <a:r>
              <a:rPr lang="en-GB" dirty="0"/>
              <a:t>Take a finding we see in Enterprise Security, where we normally have to rely on a person performing an action, manually gathering some enrichment data,  rekeying it into our platform and waiting for the next decision point.</a:t>
            </a:r>
            <a:br>
              <a:rPr lang="en-GB" dirty="0"/>
            </a:br>
            <a:br>
              <a:rPr lang="en-GB" dirty="0"/>
            </a:br>
            <a:r>
              <a:rPr lang="en-GB" dirty="0"/>
              <a:t>‘Apply some Agentic AI magic'</a:t>
            </a:r>
          </a:p>
        </p:txBody>
      </p:sp>
    </p:spTree>
    <p:extLst>
      <p:ext uri="{BB962C8B-B14F-4D97-AF65-F5344CB8AC3E}">
        <p14:creationId xmlns:p14="http://schemas.microsoft.com/office/powerpoint/2010/main" val="3884728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09BB0FAD-E593-C11F-7B0D-3A661DC831D8}"/>
              </a:ext>
            </a:extLst>
          </p:cNvPr>
          <p:cNvSpPr/>
          <p:nvPr/>
        </p:nvSpPr>
        <p:spPr>
          <a:xfrm>
            <a:off x="602900" y="723481"/>
            <a:ext cx="1868994" cy="1306286"/>
          </a:xfrm>
          <a:prstGeom prst="roundRect">
            <a:avLst/>
          </a:prstGeom>
          <a:gradFill flip="none" rotWithShape="1">
            <a:gsLst>
              <a:gs pos="28000">
                <a:schemeClr val="accent4"/>
              </a:gs>
              <a:gs pos="93000">
                <a:schemeClr val="accent3"/>
              </a:gs>
            </a:gsLst>
            <a:lin ang="10800000" scaled="1"/>
            <a:tileRect/>
          </a:gradFill>
          <a:ln w="15875">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lIns="182880" tIns="182880" rIns="182880" bIns="182880" rtlCol="0" anchor="t" anchorCtr="0">
            <a:noAutofit/>
          </a:bodyPr>
          <a:lstStyle/>
          <a:p>
            <a:pPr algn="l"/>
            <a:r>
              <a:rPr lang="en-GB" sz="1600" dirty="0">
                <a:solidFill>
                  <a:schemeClr val="bg1"/>
                </a:solidFill>
              </a:rPr>
              <a:t>Enterprise Security</a:t>
            </a:r>
          </a:p>
        </p:txBody>
      </p:sp>
      <p:sp>
        <p:nvSpPr>
          <p:cNvPr id="8" name="Snip Single Corner of Rectangle 7">
            <a:extLst>
              <a:ext uri="{FF2B5EF4-FFF2-40B4-BE49-F238E27FC236}">
                <a16:creationId xmlns:a16="http://schemas.microsoft.com/office/drawing/2014/main" id="{CF264A8B-5CE9-C30C-3D0D-4ECB455E79F8}"/>
              </a:ext>
            </a:extLst>
          </p:cNvPr>
          <p:cNvSpPr/>
          <p:nvPr/>
        </p:nvSpPr>
        <p:spPr>
          <a:xfrm>
            <a:off x="2843684" y="1004836"/>
            <a:ext cx="1209154" cy="753626"/>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Finding</a:t>
            </a:r>
          </a:p>
        </p:txBody>
      </p:sp>
      <p:sp>
        <p:nvSpPr>
          <p:cNvPr id="9" name="Snip Diagonal Corner of Rectangle 8">
            <a:extLst>
              <a:ext uri="{FF2B5EF4-FFF2-40B4-BE49-F238E27FC236}">
                <a16:creationId xmlns:a16="http://schemas.microsoft.com/office/drawing/2014/main" id="{A0FE7CEE-E550-3DC7-994D-206FD880D78C}"/>
              </a:ext>
            </a:extLst>
          </p:cNvPr>
          <p:cNvSpPr/>
          <p:nvPr/>
        </p:nvSpPr>
        <p:spPr>
          <a:xfrm>
            <a:off x="8467415" y="2522138"/>
            <a:ext cx="2090057" cy="1256042"/>
          </a:xfrm>
          <a:prstGeom prst="snip2DiagRect">
            <a:avLst/>
          </a:prstGeom>
          <a:ln>
            <a:headEnd type="none" w="med" len="med"/>
            <a:tailEnd type="none" w="med" len="med"/>
          </a:ln>
        </p:spPr>
        <p:style>
          <a:lnRef idx="0">
            <a:schemeClr val="accent4"/>
          </a:lnRef>
          <a:fillRef idx="3">
            <a:schemeClr val="accent4"/>
          </a:fillRef>
          <a:effectRef idx="3">
            <a:schemeClr val="accent4"/>
          </a:effectRef>
          <a:fontRef idx="minor">
            <a:schemeClr val="lt1"/>
          </a:fontRef>
        </p:style>
        <p:txBody>
          <a:bodyPr wrap="square" lIns="182880" tIns="182880" rIns="182880" bIns="182880" rtlCol="0" anchor="t" anchorCtr="0">
            <a:noAutofit/>
          </a:bodyPr>
          <a:lstStyle/>
          <a:p>
            <a:pPr marL="182880" indent="-182880" algn="l">
              <a:buFont typeface="Arial" panose="020B0604020202020204" pitchFamily="34" charset="0"/>
              <a:buChar char="•"/>
            </a:pPr>
            <a:endParaRPr lang="en-GB" sz="1600" dirty="0">
              <a:solidFill>
                <a:schemeClr val="bg1"/>
              </a:solidFill>
            </a:endParaRPr>
          </a:p>
        </p:txBody>
      </p:sp>
      <p:sp>
        <p:nvSpPr>
          <p:cNvPr id="10" name="Snip Single Corner of Rectangle 9">
            <a:extLst>
              <a:ext uri="{FF2B5EF4-FFF2-40B4-BE49-F238E27FC236}">
                <a16:creationId xmlns:a16="http://schemas.microsoft.com/office/drawing/2014/main" id="{EBE352BF-9A98-7B38-C0ED-15F4402E715C}"/>
              </a:ext>
            </a:extLst>
          </p:cNvPr>
          <p:cNvSpPr/>
          <p:nvPr/>
        </p:nvSpPr>
        <p:spPr>
          <a:xfrm>
            <a:off x="6143728" y="2548933"/>
            <a:ext cx="1209155" cy="1244317"/>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Better audit this</a:t>
            </a:r>
          </a:p>
        </p:txBody>
      </p:sp>
      <p:sp>
        <p:nvSpPr>
          <p:cNvPr id="11" name="TextBox 10">
            <a:extLst>
              <a:ext uri="{FF2B5EF4-FFF2-40B4-BE49-F238E27FC236}">
                <a16:creationId xmlns:a16="http://schemas.microsoft.com/office/drawing/2014/main" id="{13705470-B693-9620-C987-59B718DF055F}"/>
              </a:ext>
            </a:extLst>
          </p:cNvPr>
          <p:cNvSpPr txBox="1"/>
          <p:nvPr/>
        </p:nvSpPr>
        <p:spPr>
          <a:xfrm>
            <a:off x="8889450" y="2863780"/>
            <a:ext cx="1386673" cy="984740"/>
          </a:xfrm>
          <a:prstGeom prst="rect">
            <a:avLst/>
          </a:prstGeom>
          <a:noFill/>
        </p:spPr>
        <p:txBody>
          <a:bodyPr wrap="square" lIns="0" tIns="0" rIns="0" bIns="0" rtlCol="0">
            <a:noAutofit/>
          </a:bodyPr>
          <a:lstStyle/>
          <a:p>
            <a:pPr algn="l" defTabSz="912276" rtl="0" eaLnBrk="1" fontAlgn="base" hangingPunct="1">
              <a:lnSpc>
                <a:spcPct val="100000"/>
              </a:lnSpc>
              <a:spcBef>
                <a:spcPts val="0"/>
              </a:spcBef>
              <a:spcAft>
                <a:spcPts val="1000"/>
              </a:spcAft>
              <a:buClr>
                <a:schemeClr val="bg1"/>
              </a:buClr>
              <a:buSzPct val="100000"/>
            </a:pPr>
            <a:r>
              <a:rPr lang="en-GB" sz="1600" kern="1200" dirty="0">
                <a:solidFill>
                  <a:schemeClr val="tx1">
                    <a:lumMod val="95000"/>
                    <a:lumOff val="5000"/>
                  </a:schemeClr>
                </a:solidFill>
                <a:latin typeface="+mn-lt"/>
                <a:ea typeface="ＭＳ Ｐゴシック" charset="0"/>
              </a:rPr>
              <a:t>Do some </a:t>
            </a:r>
            <a:br>
              <a:rPr lang="en-GB" sz="1600" kern="1200" dirty="0">
                <a:solidFill>
                  <a:schemeClr val="tx1">
                    <a:lumMod val="95000"/>
                    <a:lumOff val="5000"/>
                  </a:schemeClr>
                </a:solidFill>
                <a:latin typeface="+mn-lt"/>
                <a:ea typeface="ＭＳ Ｐゴシック" charset="0"/>
              </a:rPr>
            </a:br>
            <a:r>
              <a:rPr lang="en-GB" sz="1600" kern="1200" dirty="0">
                <a:solidFill>
                  <a:schemeClr val="tx1">
                    <a:lumMod val="95000"/>
                    <a:lumOff val="5000"/>
                  </a:schemeClr>
                </a:solidFill>
                <a:latin typeface="+mn-lt"/>
                <a:ea typeface="ＭＳ Ｐゴシック" charset="0"/>
              </a:rPr>
              <a:t>‘AI Stuff’ </a:t>
            </a:r>
            <a:br>
              <a:rPr lang="en-GB" sz="1600" kern="1200" dirty="0">
                <a:solidFill>
                  <a:schemeClr val="tx1">
                    <a:lumMod val="95000"/>
                    <a:lumOff val="5000"/>
                  </a:schemeClr>
                </a:solidFill>
                <a:latin typeface="+mn-lt"/>
                <a:ea typeface="ＭＳ Ｐゴシック" charset="0"/>
              </a:rPr>
            </a:br>
            <a:r>
              <a:rPr lang="en-GB" sz="1600" kern="1200" dirty="0">
                <a:solidFill>
                  <a:schemeClr val="tx1">
                    <a:lumMod val="95000"/>
                    <a:lumOff val="5000"/>
                  </a:schemeClr>
                </a:solidFill>
                <a:latin typeface="+mn-lt"/>
                <a:ea typeface="ＭＳ Ｐゴシック" charset="0"/>
              </a:rPr>
              <a:t>with it</a:t>
            </a:r>
          </a:p>
        </p:txBody>
      </p:sp>
      <p:sp>
        <p:nvSpPr>
          <p:cNvPr id="12" name="Snip Single Corner of Rectangle 11">
            <a:extLst>
              <a:ext uri="{FF2B5EF4-FFF2-40B4-BE49-F238E27FC236}">
                <a16:creationId xmlns:a16="http://schemas.microsoft.com/office/drawing/2014/main" id="{668B7F03-1F76-8B67-4F6C-78717110E6ED}"/>
              </a:ext>
            </a:extLst>
          </p:cNvPr>
          <p:cNvSpPr/>
          <p:nvPr/>
        </p:nvSpPr>
        <p:spPr>
          <a:xfrm>
            <a:off x="5771940" y="624676"/>
            <a:ext cx="1209155" cy="1244318"/>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Package it up</a:t>
            </a:r>
          </a:p>
        </p:txBody>
      </p:sp>
      <p:sp>
        <p:nvSpPr>
          <p:cNvPr id="13" name="Snip Single Corner of Rectangle 12">
            <a:extLst>
              <a:ext uri="{FF2B5EF4-FFF2-40B4-BE49-F238E27FC236}">
                <a16:creationId xmlns:a16="http://schemas.microsoft.com/office/drawing/2014/main" id="{7ACA3F25-761B-904C-7F2A-ACD3BF3466B3}"/>
              </a:ext>
            </a:extLst>
          </p:cNvPr>
          <p:cNvSpPr/>
          <p:nvPr/>
        </p:nvSpPr>
        <p:spPr>
          <a:xfrm>
            <a:off x="4672483" y="4262176"/>
            <a:ext cx="1209155" cy="1244319"/>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Send it back to Splunk</a:t>
            </a:r>
          </a:p>
        </p:txBody>
      </p:sp>
      <p:sp>
        <p:nvSpPr>
          <p:cNvPr id="14" name="Snip Single Corner of Rectangle 13">
            <a:extLst>
              <a:ext uri="{FF2B5EF4-FFF2-40B4-BE49-F238E27FC236}">
                <a16:creationId xmlns:a16="http://schemas.microsoft.com/office/drawing/2014/main" id="{76249086-7DA4-5AB6-0E44-06D80DC6BACD}"/>
              </a:ext>
            </a:extLst>
          </p:cNvPr>
          <p:cNvSpPr/>
          <p:nvPr/>
        </p:nvSpPr>
        <p:spPr>
          <a:xfrm>
            <a:off x="2843683" y="2352990"/>
            <a:ext cx="1209155" cy="1244319"/>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Append to the original Finding</a:t>
            </a:r>
          </a:p>
        </p:txBody>
      </p:sp>
      <p:cxnSp>
        <p:nvCxnSpPr>
          <p:cNvPr id="16" name="Straight Arrow Connector 15">
            <a:extLst>
              <a:ext uri="{FF2B5EF4-FFF2-40B4-BE49-F238E27FC236}">
                <a16:creationId xmlns:a16="http://schemas.microsoft.com/office/drawing/2014/main" id="{F63DB2FC-1FD0-2BA6-A704-949F70E0B513}"/>
              </a:ext>
            </a:extLst>
          </p:cNvPr>
          <p:cNvCxnSpPr>
            <a:stCxn id="8" idx="0"/>
            <a:endCxn id="12" idx="2"/>
          </p:cNvCxnSpPr>
          <p:nvPr/>
        </p:nvCxnSpPr>
        <p:spPr>
          <a:xfrm flipV="1">
            <a:off x="4052838" y="1246835"/>
            <a:ext cx="1719102" cy="13481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7" name="Straight Arrow Connector 16">
            <a:extLst>
              <a:ext uri="{FF2B5EF4-FFF2-40B4-BE49-F238E27FC236}">
                <a16:creationId xmlns:a16="http://schemas.microsoft.com/office/drawing/2014/main" id="{ACF86ACA-8843-4191-4B23-7395D7EFEE81}"/>
              </a:ext>
            </a:extLst>
          </p:cNvPr>
          <p:cNvCxnSpPr>
            <a:cxnSpLocks/>
            <a:stCxn id="12" idx="1"/>
            <a:endCxn id="10" idx="3"/>
          </p:cNvCxnSpPr>
          <p:nvPr/>
        </p:nvCxnSpPr>
        <p:spPr>
          <a:xfrm>
            <a:off x="6376518" y="1868994"/>
            <a:ext cx="371788" cy="679939"/>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0" name="Straight Arrow Connector 19">
            <a:extLst>
              <a:ext uri="{FF2B5EF4-FFF2-40B4-BE49-F238E27FC236}">
                <a16:creationId xmlns:a16="http://schemas.microsoft.com/office/drawing/2014/main" id="{2A3328A8-465C-6FA6-2DF3-7B113662B2FD}"/>
              </a:ext>
            </a:extLst>
          </p:cNvPr>
          <p:cNvCxnSpPr>
            <a:cxnSpLocks/>
            <a:stCxn id="12" idx="0"/>
            <a:endCxn id="9" idx="3"/>
          </p:cNvCxnSpPr>
          <p:nvPr/>
        </p:nvCxnSpPr>
        <p:spPr>
          <a:xfrm>
            <a:off x="6981095" y="1246835"/>
            <a:ext cx="2531349" cy="127530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39" name="Snip Single Corner of Rectangle 38">
            <a:extLst>
              <a:ext uri="{FF2B5EF4-FFF2-40B4-BE49-F238E27FC236}">
                <a16:creationId xmlns:a16="http://schemas.microsoft.com/office/drawing/2014/main" id="{E3120F86-139A-D8ED-383E-402D666E5675}"/>
              </a:ext>
            </a:extLst>
          </p:cNvPr>
          <p:cNvSpPr/>
          <p:nvPr/>
        </p:nvSpPr>
        <p:spPr>
          <a:xfrm>
            <a:off x="6981095" y="4615546"/>
            <a:ext cx="1209155" cy="1244318"/>
          </a:xfrm>
          <a:prstGeom prst="snip1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lIns="182880" tIns="182880" rIns="182880" bIns="182880" rtlCol="0" anchor="t" anchorCtr="0">
            <a:noAutofit/>
          </a:bodyPr>
          <a:lstStyle/>
          <a:p>
            <a:pPr algn="l"/>
            <a:r>
              <a:rPr lang="en-GB" sz="1400" dirty="0">
                <a:ln w="0"/>
                <a:solidFill>
                  <a:schemeClr val="tx1"/>
                </a:solidFill>
                <a:effectLst>
                  <a:outerShdw blurRad="38100" dist="19050" dir="2700000" algn="tl" rotWithShape="0">
                    <a:schemeClr val="dk1">
                      <a:alpha val="40000"/>
                    </a:schemeClr>
                  </a:outerShdw>
                </a:effectLst>
              </a:rPr>
              <a:t>Package it up again</a:t>
            </a:r>
          </a:p>
        </p:txBody>
      </p:sp>
      <p:cxnSp>
        <p:nvCxnSpPr>
          <p:cNvPr id="40" name="Straight Arrow Connector 39">
            <a:extLst>
              <a:ext uri="{FF2B5EF4-FFF2-40B4-BE49-F238E27FC236}">
                <a16:creationId xmlns:a16="http://schemas.microsoft.com/office/drawing/2014/main" id="{8667BAC9-387C-C73E-FE28-152B609051CD}"/>
              </a:ext>
            </a:extLst>
          </p:cNvPr>
          <p:cNvCxnSpPr>
            <a:cxnSpLocks/>
          </p:cNvCxnSpPr>
          <p:nvPr/>
        </p:nvCxnSpPr>
        <p:spPr>
          <a:xfrm flipH="1">
            <a:off x="8051668" y="3793250"/>
            <a:ext cx="1392112" cy="87756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5" name="Straight Arrow Connector 44">
            <a:extLst>
              <a:ext uri="{FF2B5EF4-FFF2-40B4-BE49-F238E27FC236}">
                <a16:creationId xmlns:a16="http://schemas.microsoft.com/office/drawing/2014/main" id="{0AF5196C-76D0-9C8A-517B-E544761A69A1}"/>
              </a:ext>
            </a:extLst>
          </p:cNvPr>
          <p:cNvCxnSpPr>
            <a:cxnSpLocks/>
            <a:stCxn id="39" idx="2"/>
            <a:endCxn id="13" idx="0"/>
          </p:cNvCxnSpPr>
          <p:nvPr/>
        </p:nvCxnSpPr>
        <p:spPr>
          <a:xfrm flipH="1" flipV="1">
            <a:off x="5881638" y="4884336"/>
            <a:ext cx="1099457" cy="353369"/>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48" name="Straight Arrow Connector 47">
            <a:extLst>
              <a:ext uri="{FF2B5EF4-FFF2-40B4-BE49-F238E27FC236}">
                <a16:creationId xmlns:a16="http://schemas.microsoft.com/office/drawing/2014/main" id="{1C5BA1C9-69EE-992C-EE3A-86524AA832A7}"/>
              </a:ext>
            </a:extLst>
          </p:cNvPr>
          <p:cNvCxnSpPr>
            <a:cxnSpLocks/>
            <a:stCxn id="39" idx="3"/>
            <a:endCxn id="10" idx="1"/>
          </p:cNvCxnSpPr>
          <p:nvPr/>
        </p:nvCxnSpPr>
        <p:spPr>
          <a:xfrm flipH="1" flipV="1">
            <a:off x="6748306" y="3793250"/>
            <a:ext cx="837367" cy="822296"/>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1" name="Straight Arrow Connector 50">
            <a:extLst>
              <a:ext uri="{FF2B5EF4-FFF2-40B4-BE49-F238E27FC236}">
                <a16:creationId xmlns:a16="http://schemas.microsoft.com/office/drawing/2014/main" id="{290EA5EE-2E1F-D493-1EC6-EC5F5AAA055B}"/>
              </a:ext>
            </a:extLst>
          </p:cNvPr>
          <p:cNvCxnSpPr>
            <a:cxnSpLocks/>
            <a:stCxn id="13" idx="2"/>
            <a:endCxn id="14" idx="1"/>
          </p:cNvCxnSpPr>
          <p:nvPr/>
        </p:nvCxnSpPr>
        <p:spPr>
          <a:xfrm flipH="1" flipV="1">
            <a:off x="3448261" y="3597309"/>
            <a:ext cx="1224222" cy="128702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4" name="Straight Arrow Connector 53">
            <a:extLst>
              <a:ext uri="{FF2B5EF4-FFF2-40B4-BE49-F238E27FC236}">
                <a16:creationId xmlns:a16="http://schemas.microsoft.com/office/drawing/2014/main" id="{C657BDC4-AF31-10AB-45F5-F87A47F7B8E9}"/>
              </a:ext>
            </a:extLst>
          </p:cNvPr>
          <p:cNvCxnSpPr>
            <a:cxnSpLocks/>
            <a:stCxn id="14" idx="3"/>
            <a:endCxn id="8" idx="1"/>
          </p:cNvCxnSpPr>
          <p:nvPr/>
        </p:nvCxnSpPr>
        <p:spPr>
          <a:xfrm flipV="1">
            <a:off x="3448261" y="1758462"/>
            <a:ext cx="0" cy="59452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58" name="Straight Arrow Connector 57">
            <a:extLst>
              <a:ext uri="{FF2B5EF4-FFF2-40B4-BE49-F238E27FC236}">
                <a16:creationId xmlns:a16="http://schemas.microsoft.com/office/drawing/2014/main" id="{99827DE4-D9AA-14CB-6202-61E8FC0EBE98}"/>
              </a:ext>
            </a:extLst>
          </p:cNvPr>
          <p:cNvCxnSpPr>
            <a:cxnSpLocks/>
            <a:stCxn id="9" idx="2"/>
            <a:endCxn id="10" idx="0"/>
          </p:cNvCxnSpPr>
          <p:nvPr/>
        </p:nvCxnSpPr>
        <p:spPr>
          <a:xfrm flipH="1">
            <a:off x="7352883" y="3150159"/>
            <a:ext cx="1114532" cy="2093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1" name="Straight Arrow Connector 60">
            <a:extLst>
              <a:ext uri="{FF2B5EF4-FFF2-40B4-BE49-F238E27FC236}">
                <a16:creationId xmlns:a16="http://schemas.microsoft.com/office/drawing/2014/main" id="{823075E3-4711-4D37-AFB6-A0CB4EABCE0B}"/>
              </a:ext>
            </a:extLst>
          </p:cNvPr>
          <p:cNvCxnSpPr>
            <a:cxnSpLocks/>
            <a:endCxn id="10" idx="1"/>
          </p:cNvCxnSpPr>
          <p:nvPr/>
        </p:nvCxnSpPr>
        <p:spPr>
          <a:xfrm flipV="1">
            <a:off x="5771940" y="3793250"/>
            <a:ext cx="976366" cy="594530"/>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64" name="Straight Arrow Connector 63">
            <a:extLst>
              <a:ext uri="{FF2B5EF4-FFF2-40B4-BE49-F238E27FC236}">
                <a16:creationId xmlns:a16="http://schemas.microsoft.com/office/drawing/2014/main" id="{F9ADF6C2-D63C-12E7-6620-8A0754EAC384}"/>
              </a:ext>
            </a:extLst>
          </p:cNvPr>
          <p:cNvCxnSpPr>
            <a:cxnSpLocks/>
            <a:stCxn id="14" idx="0"/>
            <a:endCxn id="10" idx="2"/>
          </p:cNvCxnSpPr>
          <p:nvPr/>
        </p:nvCxnSpPr>
        <p:spPr>
          <a:xfrm>
            <a:off x="4052838" y="2975150"/>
            <a:ext cx="2090890" cy="195942"/>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0194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DD28C-18C2-9962-1662-61B714C81DFA}"/>
              </a:ext>
            </a:extLst>
          </p:cNvPr>
          <p:cNvSpPr>
            <a:spLocks noGrp="1"/>
          </p:cNvSpPr>
          <p:nvPr>
            <p:ph type="title"/>
          </p:nvPr>
        </p:nvSpPr>
        <p:spPr/>
        <p:txBody>
          <a:bodyPr/>
          <a:lstStyle/>
          <a:p>
            <a:r>
              <a:rPr lang="en-GB" dirty="0"/>
              <a:t>Other LLM and AI Providers are available…</a:t>
            </a:r>
          </a:p>
        </p:txBody>
      </p:sp>
      <p:sp>
        <p:nvSpPr>
          <p:cNvPr id="3" name="Text Placeholder 2">
            <a:extLst>
              <a:ext uri="{FF2B5EF4-FFF2-40B4-BE49-F238E27FC236}">
                <a16:creationId xmlns:a16="http://schemas.microsoft.com/office/drawing/2014/main" id="{B2A238B8-28E4-A572-EA96-A99CCCA6BE86}"/>
              </a:ext>
            </a:extLst>
          </p:cNvPr>
          <p:cNvSpPr>
            <a:spLocks noGrp="1"/>
          </p:cNvSpPr>
          <p:nvPr>
            <p:ph type="body" sz="quarter" idx="12"/>
          </p:nvPr>
        </p:nvSpPr>
        <p:spPr/>
        <p:txBody>
          <a:bodyPr/>
          <a:lstStyle/>
          <a:p>
            <a:r>
              <a:rPr lang="en-GB" dirty="0"/>
              <a:t>Is in fact Takeaway #1</a:t>
            </a:r>
          </a:p>
        </p:txBody>
      </p:sp>
    </p:spTree>
    <p:extLst>
      <p:ext uri="{BB962C8B-B14F-4D97-AF65-F5344CB8AC3E}">
        <p14:creationId xmlns:p14="http://schemas.microsoft.com/office/powerpoint/2010/main" val="313171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87CDC-CE0C-CFCD-2903-19CB80F1A3DD}"/>
            </a:ext>
          </a:extLst>
        </p:cNvPr>
        <p:cNvGrpSpPr/>
        <p:nvPr/>
      </p:nvGrpSpPr>
      <p:grpSpPr>
        <a:xfrm>
          <a:off x="0" y="0"/>
          <a:ext cx="0" cy="0"/>
          <a:chOff x="0" y="0"/>
          <a:chExt cx="0" cy="0"/>
        </a:xfrm>
      </p:grpSpPr>
      <p:sp>
        <p:nvSpPr>
          <p:cNvPr id="32" name="Title 2">
            <a:extLst>
              <a:ext uri="{FF2B5EF4-FFF2-40B4-BE49-F238E27FC236}">
                <a16:creationId xmlns:a16="http://schemas.microsoft.com/office/drawing/2014/main" id="{D9FF8D39-1940-F597-BFC5-571A1E0AFFDB}"/>
              </a:ext>
            </a:extLst>
          </p:cNvPr>
          <p:cNvSpPr>
            <a:spLocks noGrp="1"/>
          </p:cNvSpPr>
          <p:nvPr>
            <p:ph type="title"/>
          </p:nvPr>
        </p:nvSpPr>
        <p:spPr>
          <a:xfrm>
            <a:off x="323850" y="514735"/>
            <a:ext cx="11544300" cy="492443"/>
          </a:xfrm>
        </p:spPr>
        <p:txBody>
          <a:bodyPr/>
          <a:lstStyle/>
          <a:p>
            <a:r>
              <a:rPr lang="en-US" dirty="0"/>
              <a:t>Choosing the Right LLM for SecOps</a:t>
            </a:r>
          </a:p>
        </p:txBody>
      </p:sp>
      <p:sp>
        <p:nvSpPr>
          <p:cNvPr id="33" name="TextBox 32">
            <a:extLst>
              <a:ext uri="{FF2B5EF4-FFF2-40B4-BE49-F238E27FC236}">
                <a16:creationId xmlns:a16="http://schemas.microsoft.com/office/drawing/2014/main" id="{170D22D6-A302-ACDB-1164-F665295C2CFA}"/>
              </a:ext>
            </a:extLst>
          </p:cNvPr>
          <p:cNvSpPr txBox="1"/>
          <p:nvPr/>
        </p:nvSpPr>
        <p:spPr>
          <a:xfrm>
            <a:off x="323850" y="1093688"/>
            <a:ext cx="11544300" cy="369332"/>
          </a:xfrm>
          <a:prstGeom prst="rect">
            <a:avLst/>
          </a:prstGeom>
          <a:noFill/>
        </p:spPr>
        <p:txBody>
          <a:bodyPr wrap="square" lIns="0" tIns="0" rIns="0" bIns="0" rtlCol="0">
            <a:spAutoFit/>
          </a:bodyPr>
          <a:lstStyle/>
          <a:p>
            <a:pPr algn="ctr" defTabSz="912276" fontAlgn="base">
              <a:spcAft>
                <a:spcPts val="1000"/>
              </a:spcAft>
              <a:buClr>
                <a:schemeClr val="bg1"/>
              </a:buClr>
              <a:buSzPct val="100000"/>
            </a:pPr>
            <a:r>
              <a:rPr lang="en-US" sz="2400" dirty="0">
                <a:latin typeface="Inter" panose="02000503000000020004" pitchFamily="2" charset="0"/>
                <a:ea typeface="Inter" panose="02000503000000020004" pitchFamily="2" charset="0"/>
              </a:rPr>
              <a:t>Four axes that actually matter - not "which model tops the leaderboard":</a:t>
            </a:r>
            <a:endParaRPr lang="en-US" sz="2400" kern="1200" dirty="0">
              <a:latin typeface="Inter" panose="02000503000000020004" pitchFamily="2" charset="0"/>
              <a:ea typeface="Inter" panose="02000503000000020004" pitchFamily="2" charset="0"/>
            </a:endParaRPr>
          </a:p>
        </p:txBody>
      </p:sp>
      <p:sp>
        <p:nvSpPr>
          <p:cNvPr id="34" name="Rectangle: Rounded Corners 7">
            <a:extLst>
              <a:ext uri="{FF2B5EF4-FFF2-40B4-BE49-F238E27FC236}">
                <a16:creationId xmlns:a16="http://schemas.microsoft.com/office/drawing/2014/main" id="{71FE5BEE-DBF6-0E31-5CBC-2E26D675E552}"/>
              </a:ext>
            </a:extLst>
          </p:cNvPr>
          <p:cNvSpPr/>
          <p:nvPr/>
        </p:nvSpPr>
        <p:spPr>
          <a:xfrm>
            <a:off x="323851" y="2006699"/>
            <a:ext cx="2749550" cy="3757613"/>
          </a:xfrm>
          <a:prstGeom prst="roundRect">
            <a:avLst>
              <a:gd name="adj" fmla="val 5045"/>
            </a:avLst>
          </a:prstGeom>
          <a:solidFill>
            <a:schemeClr val="bg1">
              <a:lumMod val="95000"/>
            </a:schemeClr>
          </a:solid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b="1" dirty="0">
                <a:solidFill>
                  <a:schemeClr val="tx1"/>
                </a:solidFill>
                <a:latin typeface="Inter" panose="02000503000000020004" pitchFamily="2" charset="0"/>
              </a:rPr>
              <a:t>Cost</a:t>
            </a:r>
          </a:p>
          <a:p>
            <a:endParaRPr lang="en-US" sz="1600" dirty="0">
              <a:solidFill>
                <a:schemeClr val="tx1"/>
              </a:solidFill>
              <a:latin typeface="Inter" panose="02000503000000020004" pitchFamily="2" charset="0"/>
            </a:endParaRPr>
          </a:p>
          <a:p>
            <a:r>
              <a:rPr lang="en-US" sz="1600" dirty="0">
                <a:solidFill>
                  <a:schemeClr val="tx1"/>
                </a:solidFill>
                <a:latin typeface="Inter" panose="02000503000000020004" pitchFamily="2" charset="0"/>
                <a:ea typeface="ＭＳ Ｐゴシック" charset="0"/>
              </a:rPr>
              <a:t>Priced per notable/investigation, not per demo. A SOC generates volume; the biggest frontier model on every single notable gets expensive fast. Learning as we did this, treat the same as developing detections. </a:t>
            </a:r>
            <a:endParaRPr lang="en-US" sz="1600" dirty="0">
              <a:solidFill>
                <a:schemeClr val="tx1"/>
              </a:solidFill>
              <a:latin typeface="Inter" panose="02000503000000020004" pitchFamily="2" charset="0"/>
            </a:endParaRPr>
          </a:p>
        </p:txBody>
      </p:sp>
      <p:sp>
        <p:nvSpPr>
          <p:cNvPr id="35" name="Rectangle: Rounded Corners 11">
            <a:extLst>
              <a:ext uri="{FF2B5EF4-FFF2-40B4-BE49-F238E27FC236}">
                <a16:creationId xmlns:a16="http://schemas.microsoft.com/office/drawing/2014/main" id="{502109DC-EDAA-1635-5C11-3F80053247FC}"/>
              </a:ext>
            </a:extLst>
          </p:cNvPr>
          <p:cNvSpPr/>
          <p:nvPr/>
        </p:nvSpPr>
        <p:spPr>
          <a:xfrm>
            <a:off x="3255963" y="2006699"/>
            <a:ext cx="2749550" cy="3757613"/>
          </a:xfrm>
          <a:prstGeom prst="roundRect">
            <a:avLst>
              <a:gd name="adj" fmla="val 5045"/>
            </a:avLst>
          </a:prstGeom>
          <a:solidFill>
            <a:schemeClr val="bg1">
              <a:lumMod val="95000"/>
            </a:schemeClr>
          </a:solid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b="1" dirty="0">
                <a:solidFill>
                  <a:schemeClr val="tx1"/>
                </a:solidFill>
                <a:latin typeface="Inter" panose="02000503000000020004" pitchFamily="2" charset="0"/>
              </a:rPr>
              <a:t>Latency</a:t>
            </a:r>
          </a:p>
          <a:p>
            <a:endParaRPr lang="en-US" sz="1600" dirty="0">
              <a:solidFill>
                <a:schemeClr val="tx1"/>
              </a:solidFill>
              <a:latin typeface="Inter" panose="02000503000000020004" pitchFamily="2" charset="0"/>
            </a:endParaRPr>
          </a:p>
          <a:p>
            <a:r>
              <a:rPr lang="en-US" sz="1600" dirty="0">
                <a:solidFill>
                  <a:schemeClr val="tx1"/>
                </a:solidFill>
                <a:latin typeface="Inter" panose="02000503000000020004" pitchFamily="2" charset="0"/>
                <a:ea typeface="ＭＳ Ｐゴシック" charset="0"/>
              </a:rPr>
              <a:t>The call happens synchronously, in-line, inside the alert action itself. The correlation search's adaptive response doesn't finish until the model replies, so round-trip time is part of the alert pipeline's own latency budget, not a footnote.</a:t>
            </a:r>
            <a:endParaRPr lang="en-US" sz="1600" dirty="0">
              <a:solidFill>
                <a:schemeClr val="tx1"/>
              </a:solidFill>
              <a:latin typeface="Inter" panose="02000503000000020004" pitchFamily="2" charset="0"/>
            </a:endParaRPr>
          </a:p>
        </p:txBody>
      </p:sp>
      <p:sp>
        <p:nvSpPr>
          <p:cNvPr id="36" name="Rectangle: Rounded Corners 14">
            <a:extLst>
              <a:ext uri="{FF2B5EF4-FFF2-40B4-BE49-F238E27FC236}">
                <a16:creationId xmlns:a16="http://schemas.microsoft.com/office/drawing/2014/main" id="{C1AAA8C7-56C2-D33F-64B1-44CE1E52034E}"/>
              </a:ext>
            </a:extLst>
          </p:cNvPr>
          <p:cNvSpPr/>
          <p:nvPr/>
        </p:nvSpPr>
        <p:spPr>
          <a:xfrm>
            <a:off x="6186489" y="2006699"/>
            <a:ext cx="2749550" cy="3757613"/>
          </a:xfrm>
          <a:prstGeom prst="roundRect">
            <a:avLst>
              <a:gd name="adj" fmla="val 5045"/>
            </a:avLst>
          </a:prstGeom>
          <a:solidFill>
            <a:schemeClr val="bg1">
              <a:lumMod val="95000"/>
            </a:schemeClr>
          </a:solid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b="1" dirty="0">
                <a:solidFill>
                  <a:schemeClr val="tx1"/>
                </a:solidFill>
                <a:latin typeface="Inter" panose="02000503000000020004" pitchFamily="2" charset="0"/>
              </a:rPr>
              <a:t>Privacy</a:t>
            </a:r>
          </a:p>
          <a:p>
            <a:endParaRPr lang="en-US" sz="1600" dirty="0">
              <a:solidFill>
                <a:schemeClr val="tx1"/>
              </a:solidFill>
              <a:latin typeface="Inter" panose="02000503000000020004" pitchFamily="2" charset="0"/>
            </a:endParaRPr>
          </a:p>
          <a:p>
            <a:r>
              <a:rPr lang="en-US" sz="1600" dirty="0">
                <a:solidFill>
                  <a:schemeClr val="tx1"/>
                </a:solidFill>
                <a:latin typeface="Inter" panose="02000503000000020004" pitchFamily="2" charset="0"/>
                <a:ea typeface="ＭＳ Ｐゴシック" charset="0"/>
              </a:rPr>
              <a:t>The payload is a full CIM/risk notable export. Where does that data go, and under what retention/training terms?</a:t>
            </a:r>
            <a:endParaRPr lang="en-US" sz="1600" dirty="0">
              <a:solidFill>
                <a:schemeClr val="tx1"/>
              </a:solidFill>
              <a:latin typeface="Inter" panose="02000503000000020004" pitchFamily="2" charset="0"/>
            </a:endParaRPr>
          </a:p>
        </p:txBody>
      </p:sp>
      <p:sp>
        <p:nvSpPr>
          <p:cNvPr id="37" name="Rectangle: Rounded Corners 15">
            <a:extLst>
              <a:ext uri="{FF2B5EF4-FFF2-40B4-BE49-F238E27FC236}">
                <a16:creationId xmlns:a16="http://schemas.microsoft.com/office/drawing/2014/main" id="{0CA59F33-D3B5-46B1-BA26-A134F1F58180}"/>
              </a:ext>
            </a:extLst>
          </p:cNvPr>
          <p:cNvSpPr/>
          <p:nvPr/>
        </p:nvSpPr>
        <p:spPr>
          <a:xfrm>
            <a:off x="9118600" y="2006699"/>
            <a:ext cx="2749550" cy="3757613"/>
          </a:xfrm>
          <a:prstGeom prst="roundRect">
            <a:avLst>
              <a:gd name="adj" fmla="val 5045"/>
            </a:avLst>
          </a:prstGeom>
          <a:solidFill>
            <a:schemeClr val="bg1">
              <a:lumMod val="95000"/>
            </a:schemeClr>
          </a:solidFill>
          <a:ln w="15875">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lIns="182880" tIns="182880" rIns="182880" bIns="182880" rtlCol="0" anchor="t" anchorCtr="0">
            <a:noAutofit/>
          </a:bodyPr>
          <a:lstStyle/>
          <a:p>
            <a:r>
              <a:rPr lang="en-US" sz="1600" b="1" dirty="0">
                <a:solidFill>
                  <a:schemeClr val="tx1"/>
                </a:solidFill>
                <a:latin typeface="Inter" panose="02000503000000020004" pitchFamily="2" charset="0"/>
              </a:rPr>
              <a:t>Capability</a:t>
            </a:r>
          </a:p>
          <a:p>
            <a:endParaRPr lang="en-US" sz="1600" dirty="0">
              <a:solidFill>
                <a:schemeClr val="tx1"/>
              </a:solidFill>
              <a:latin typeface="Inter" panose="02000503000000020004" pitchFamily="2" charset="0"/>
            </a:endParaRPr>
          </a:p>
          <a:p>
            <a:r>
              <a:rPr lang="en-US" sz="1600" dirty="0">
                <a:solidFill>
                  <a:schemeClr val="tx1"/>
                </a:solidFill>
                <a:latin typeface="Inter" panose="02000503000000020004" pitchFamily="2" charset="0"/>
                <a:ea typeface="ＭＳ Ｐゴシック" charset="0"/>
              </a:rPr>
              <a:t>Does it need to reason over a full raw event, or just answer three standing yes/no/score questions well?</a:t>
            </a:r>
            <a:endParaRPr lang="en-US" sz="1600" dirty="0">
              <a:solidFill>
                <a:schemeClr val="tx1"/>
              </a:solidFill>
              <a:latin typeface="Inter" panose="02000503000000020004" pitchFamily="2" charset="0"/>
            </a:endParaRPr>
          </a:p>
        </p:txBody>
      </p:sp>
      <p:sp>
        <p:nvSpPr>
          <p:cNvPr id="40" name="Snip Single Corner of Rectangle 39">
            <a:extLst>
              <a:ext uri="{FF2B5EF4-FFF2-40B4-BE49-F238E27FC236}">
                <a16:creationId xmlns:a16="http://schemas.microsoft.com/office/drawing/2014/main" id="{DCA9AF5C-DC7E-4CB9-21CE-6EC3AD355369}"/>
              </a:ext>
            </a:extLst>
          </p:cNvPr>
          <p:cNvSpPr/>
          <p:nvPr/>
        </p:nvSpPr>
        <p:spPr>
          <a:xfrm>
            <a:off x="1" y="1"/>
            <a:ext cx="1617784" cy="343708"/>
          </a:xfrm>
          <a:prstGeom prst="snip1Rect">
            <a:avLst/>
          </a:prstGeom>
          <a:ln/>
        </p:spPr>
        <p:style>
          <a:lnRef idx="0">
            <a:schemeClr val="accent3"/>
          </a:lnRef>
          <a:fillRef idx="3">
            <a:schemeClr val="accent3"/>
          </a:fillRef>
          <a:effectRef idx="3">
            <a:schemeClr val="accent3"/>
          </a:effectRef>
          <a:fontRef idx="minor">
            <a:schemeClr val="lt1"/>
          </a:fontRef>
        </p:style>
        <p:txBody>
          <a:bodyPr wrap="square" lIns="182880" tIns="182880" rIns="182880" bIns="182880" rtlCol="0" anchor="ctr" anchorCtr="0">
            <a:noAutofit/>
          </a:bodyPr>
          <a:lstStyle/>
          <a:p>
            <a:pPr algn="ctr"/>
            <a:r>
              <a:rPr lang="en-GB" sz="1200" dirty="0">
                <a:solidFill>
                  <a:schemeClr val="bg1"/>
                </a:solidFill>
              </a:rPr>
              <a:t>Takeaway #1</a:t>
            </a:r>
          </a:p>
        </p:txBody>
      </p:sp>
    </p:spTree>
    <p:extLst>
      <p:ext uri="{BB962C8B-B14F-4D97-AF65-F5344CB8AC3E}">
        <p14:creationId xmlns:p14="http://schemas.microsoft.com/office/powerpoint/2010/main" val="433701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B431134-AE86-2C5E-6F1B-001505814529}"/>
              </a:ext>
            </a:extLst>
          </p:cNvPr>
          <p:cNvSpPr>
            <a:spLocks noGrp="1"/>
          </p:cNvSpPr>
          <p:nvPr>
            <p:ph type="title"/>
          </p:nvPr>
        </p:nvSpPr>
        <p:spPr/>
        <p:txBody>
          <a:bodyPr/>
          <a:lstStyle/>
          <a:p>
            <a:r>
              <a:rPr lang="en-GB" dirty="0"/>
              <a:t>The Agentic Loop, One Synchronous Step</a:t>
            </a:r>
          </a:p>
        </p:txBody>
      </p:sp>
      <p:sp>
        <p:nvSpPr>
          <p:cNvPr id="10" name="Text Placeholder 9">
            <a:extLst>
              <a:ext uri="{FF2B5EF4-FFF2-40B4-BE49-F238E27FC236}">
                <a16:creationId xmlns:a16="http://schemas.microsoft.com/office/drawing/2014/main" id="{6C47BFA9-2F26-9EE8-4411-C38B11BDB11B}"/>
              </a:ext>
            </a:extLst>
          </p:cNvPr>
          <p:cNvSpPr>
            <a:spLocks noGrp="1"/>
          </p:cNvSpPr>
          <p:nvPr>
            <p:ph type="body" sz="quarter" idx="4294967295"/>
          </p:nvPr>
        </p:nvSpPr>
        <p:spPr>
          <a:xfrm>
            <a:off x="323850" y="1758462"/>
            <a:ext cx="5624774" cy="4316901"/>
          </a:xfrm>
        </p:spPr>
        <p:txBody>
          <a:bodyPr/>
          <a:lstStyle/>
          <a:p>
            <a:r>
              <a:rPr lang="en-GB" dirty="0"/>
              <a:t>ES Correlation Search</a:t>
            </a:r>
          </a:p>
          <a:p>
            <a:pPr lvl="1"/>
            <a:r>
              <a:rPr lang="en-GB" dirty="0"/>
              <a:t>Triggers Notable/Risk event</a:t>
            </a:r>
          </a:p>
          <a:p>
            <a:pPr lvl="2"/>
            <a:r>
              <a:rPr lang="en-GB" dirty="0"/>
              <a:t>Adaptive Response Action:  </a:t>
            </a:r>
            <a:r>
              <a:rPr lang="en-GB" dirty="0" err="1"/>
              <a:t>TA_ResponseActions</a:t>
            </a:r>
            <a:endParaRPr lang="en-GB" dirty="0"/>
          </a:p>
          <a:p>
            <a:pPr lvl="3"/>
            <a:r>
              <a:rPr lang="en-GB" dirty="0"/>
              <a:t>Builds the full CIM/Risk notable as JSON</a:t>
            </a:r>
          </a:p>
          <a:p>
            <a:pPr lvl="3"/>
            <a:r>
              <a:rPr lang="en-GB" dirty="0"/>
              <a:t>Answers an “AI Prompt” block of standing checks via Synchronous Call to AI API</a:t>
            </a:r>
          </a:p>
          <a:p>
            <a:r>
              <a:rPr lang="en-GB" dirty="0"/>
              <a:t>Receives answer back as an “AI Response”</a:t>
            </a:r>
          </a:p>
          <a:p>
            <a:r>
              <a:rPr lang="en-GB" dirty="0"/>
              <a:t>One payload back</a:t>
            </a:r>
          </a:p>
          <a:p>
            <a:pPr lvl="1"/>
            <a:r>
              <a:rPr lang="en-GB" dirty="0"/>
              <a:t>Slack for Visual Audit</a:t>
            </a:r>
          </a:p>
          <a:p>
            <a:pPr lvl="1"/>
            <a:r>
              <a:rPr lang="en-GB" dirty="0"/>
              <a:t>Originating notables audit trail</a:t>
            </a:r>
          </a:p>
          <a:p>
            <a:pPr lvl="1"/>
            <a:r>
              <a:rPr lang="en-GB" dirty="0"/>
              <a:t>Notable enrichment KV Store record</a:t>
            </a:r>
          </a:p>
        </p:txBody>
      </p:sp>
      <p:pic>
        <p:nvPicPr>
          <p:cNvPr id="36" name="Picture 35">
            <a:extLst>
              <a:ext uri="{FF2B5EF4-FFF2-40B4-BE49-F238E27FC236}">
                <a16:creationId xmlns:a16="http://schemas.microsoft.com/office/drawing/2014/main" id="{305AEA2B-87C5-7197-9FB8-0F1A9548AE2E}"/>
              </a:ext>
            </a:extLst>
          </p:cNvPr>
          <p:cNvPicPr>
            <a:picLocks noChangeAspect="1"/>
          </p:cNvPicPr>
          <p:nvPr/>
        </p:nvPicPr>
        <p:blipFill>
          <a:blip r:embed="rId3"/>
          <a:stretch>
            <a:fillRect/>
          </a:stretch>
        </p:blipFill>
        <p:spPr>
          <a:xfrm>
            <a:off x="5850815" y="1221310"/>
            <a:ext cx="6017335" cy="4124413"/>
          </a:xfrm>
          <a:prstGeom prst="rect">
            <a:avLst/>
          </a:prstGeom>
        </p:spPr>
      </p:pic>
    </p:spTree>
    <p:extLst>
      <p:ext uri="{BB962C8B-B14F-4D97-AF65-F5344CB8AC3E}">
        <p14:creationId xmlns:p14="http://schemas.microsoft.com/office/powerpoint/2010/main" val="3454038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0B304-7DA8-B7E0-DB49-530679EAE39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87A7B0F-52AB-9471-E05C-32C540C1396E}"/>
              </a:ext>
            </a:extLst>
          </p:cNvPr>
          <p:cNvSpPr>
            <a:spLocks noGrp="1"/>
          </p:cNvSpPr>
          <p:nvPr>
            <p:ph type="title"/>
          </p:nvPr>
        </p:nvSpPr>
        <p:spPr/>
        <p:txBody>
          <a:bodyPr/>
          <a:lstStyle/>
          <a:p>
            <a:r>
              <a:rPr lang="en-GB" dirty="0"/>
              <a:t>Phase 1: ES Alert Action Feeds the Agentic AI</a:t>
            </a:r>
          </a:p>
        </p:txBody>
      </p:sp>
      <p:sp>
        <p:nvSpPr>
          <p:cNvPr id="10" name="Text Placeholder 9">
            <a:extLst>
              <a:ext uri="{FF2B5EF4-FFF2-40B4-BE49-F238E27FC236}">
                <a16:creationId xmlns:a16="http://schemas.microsoft.com/office/drawing/2014/main" id="{334DC665-AC3D-FB06-74E1-BDB9EC753FDC}"/>
              </a:ext>
            </a:extLst>
          </p:cNvPr>
          <p:cNvSpPr>
            <a:spLocks noGrp="1"/>
          </p:cNvSpPr>
          <p:nvPr>
            <p:ph type="body" sz="quarter" idx="4294967295"/>
          </p:nvPr>
        </p:nvSpPr>
        <p:spPr>
          <a:xfrm>
            <a:off x="323850" y="1386674"/>
            <a:ext cx="5624774" cy="4688690"/>
          </a:xfrm>
        </p:spPr>
        <p:txBody>
          <a:bodyPr/>
          <a:lstStyle/>
          <a:p>
            <a:r>
              <a:rPr lang="en-GB" dirty="0"/>
              <a:t>Takes the triggering notable/finding and delivers it to Slack as a </a:t>
            </a:r>
            <a:r>
              <a:rPr lang="en-GB" b="1" dirty="0"/>
              <a:t>complete JSON payload</a:t>
            </a:r>
            <a:r>
              <a:rPr lang="en-GB" dirty="0"/>
              <a:t> every CIM/risk/notable field, noise fields stripped, no size-limited summary.</a:t>
            </a:r>
          </a:p>
          <a:p>
            <a:r>
              <a:rPr lang="en-GB" dirty="0"/>
              <a:t>Ships a standing </a:t>
            </a:r>
            <a:r>
              <a:rPr lang="en-GB" b="1" dirty="0"/>
              <a:t>`</a:t>
            </a:r>
            <a:r>
              <a:rPr lang="en-GB" b="1" dirty="0" err="1"/>
              <a:t>perplexity_ask</a:t>
            </a:r>
            <a:r>
              <a:rPr lang="en-GB" b="1" dirty="0"/>
              <a:t>`</a:t>
            </a:r>
            <a:r>
              <a:rPr lang="en-GB" dirty="0"/>
              <a:t> block by default in `</a:t>
            </a:r>
            <a:r>
              <a:rPr lang="en-GB" dirty="0" err="1"/>
              <a:t>param.additional_fields</a:t>
            </a:r>
            <a:r>
              <a:rPr lang="en-GB" dirty="0"/>
              <a:t>`:</a:t>
            </a:r>
          </a:p>
          <a:p>
            <a:pPr lvl="1"/>
            <a:r>
              <a:rPr lang="en-GB" dirty="0"/>
              <a:t>three checks that travel with every notable</a:t>
            </a:r>
          </a:p>
          <a:p>
            <a:pPr lvl="2"/>
            <a:r>
              <a:rPr lang="en-GB" dirty="0"/>
              <a:t>Is `$</a:t>
            </a:r>
            <a:r>
              <a:rPr lang="en-GB" dirty="0" err="1"/>
              <a:t>result.repo</a:t>
            </a:r>
            <a:r>
              <a:rPr lang="en-GB" dirty="0"/>
              <a:t>$` a repo we commonly see for this finding type?</a:t>
            </a:r>
          </a:p>
          <a:p>
            <a:pPr lvl="2"/>
            <a:r>
              <a:rPr lang="en-GB" dirty="0"/>
              <a:t>Is `$</a:t>
            </a:r>
            <a:r>
              <a:rPr lang="en-GB" dirty="0" err="1"/>
              <a:t>result.user</a:t>
            </a:r>
            <a:r>
              <a:rPr lang="en-GB" dirty="0"/>
              <a:t>$` an expected/authorised user?</a:t>
            </a:r>
          </a:p>
          <a:p>
            <a:pPr lvl="2"/>
            <a:r>
              <a:rPr lang="en-GB" dirty="0"/>
              <a:t>Is `$</a:t>
            </a:r>
            <a:r>
              <a:rPr lang="en-GB" dirty="0" err="1"/>
              <a:t>result.src</a:t>
            </a:r>
            <a:r>
              <a:rPr lang="en-GB" dirty="0"/>
              <a:t>$` a low-threat source IP?</a:t>
            </a:r>
          </a:p>
          <a:p>
            <a:pPr lvl="1"/>
            <a:r>
              <a:rPr lang="en-GB" dirty="0"/>
              <a:t>Two delivery modes: </a:t>
            </a:r>
          </a:p>
          <a:p>
            <a:pPr lvl="2"/>
            <a:r>
              <a:rPr lang="en-GB" dirty="0" err="1"/>
              <a:t>file_upload</a:t>
            </a:r>
            <a:r>
              <a:rPr lang="en-GB" dirty="0"/>
              <a:t> (bot token, no size limit)</a:t>
            </a:r>
          </a:p>
          <a:p>
            <a:pPr lvl="2"/>
            <a:r>
              <a:rPr lang="en-GB" dirty="0"/>
              <a:t>webhook (quick setup, truncates large payloads).</a:t>
            </a:r>
          </a:p>
        </p:txBody>
      </p:sp>
      <p:pic>
        <p:nvPicPr>
          <p:cNvPr id="4" name="Picture 3">
            <a:extLst>
              <a:ext uri="{FF2B5EF4-FFF2-40B4-BE49-F238E27FC236}">
                <a16:creationId xmlns:a16="http://schemas.microsoft.com/office/drawing/2014/main" id="{D9ECF67F-9569-C8CF-64D2-392FCB01A035}"/>
              </a:ext>
            </a:extLst>
          </p:cNvPr>
          <p:cNvPicPr>
            <a:picLocks noChangeAspect="1"/>
          </p:cNvPicPr>
          <p:nvPr/>
        </p:nvPicPr>
        <p:blipFill>
          <a:blip r:embed="rId3"/>
          <a:stretch>
            <a:fillRect/>
          </a:stretch>
        </p:blipFill>
        <p:spPr>
          <a:xfrm>
            <a:off x="6243378" y="1386674"/>
            <a:ext cx="5435600" cy="3416300"/>
          </a:xfrm>
          <a:prstGeom prst="rect">
            <a:avLst/>
          </a:prstGeom>
        </p:spPr>
      </p:pic>
    </p:spTree>
    <p:extLst>
      <p:ext uri="{BB962C8B-B14F-4D97-AF65-F5344CB8AC3E}">
        <p14:creationId xmlns:p14="http://schemas.microsoft.com/office/powerpoint/2010/main" val="249262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029FA-DE67-29CA-221A-08B59AA6DB2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A2A7C1B-4F85-169B-9B4A-D4281105E9AF}"/>
              </a:ext>
            </a:extLst>
          </p:cNvPr>
          <p:cNvSpPr>
            <a:spLocks noGrp="1"/>
          </p:cNvSpPr>
          <p:nvPr>
            <p:ph type="title"/>
          </p:nvPr>
        </p:nvSpPr>
        <p:spPr>
          <a:xfrm>
            <a:off x="248296" y="645370"/>
            <a:ext cx="11695408" cy="859183"/>
          </a:xfrm>
        </p:spPr>
        <p:txBody>
          <a:bodyPr anchor="t"/>
          <a:lstStyle/>
          <a:p>
            <a:pPr algn="l"/>
            <a:r>
              <a:rPr lang="en-GB" sz="3600" dirty="0"/>
              <a:t>What Splunk Gives You for Free vs. What You Build</a:t>
            </a:r>
          </a:p>
        </p:txBody>
      </p:sp>
      <p:graphicFrame>
        <p:nvGraphicFramePr>
          <p:cNvPr id="5" name="Table Placeholder 4">
            <a:extLst>
              <a:ext uri="{FF2B5EF4-FFF2-40B4-BE49-F238E27FC236}">
                <a16:creationId xmlns:a16="http://schemas.microsoft.com/office/drawing/2014/main" id="{A44DE51B-8F9C-E5E0-A452-369059CBE065}"/>
              </a:ext>
            </a:extLst>
          </p:cNvPr>
          <p:cNvGraphicFramePr>
            <a:graphicFrameLocks noGrp="1"/>
          </p:cNvGraphicFramePr>
          <p:nvPr>
            <p:ph type="pic" sz="quarter" idx="4294967295"/>
            <p:extLst>
              <p:ext uri="{D42A27DB-BD31-4B8C-83A1-F6EECF244321}">
                <p14:modId xmlns:p14="http://schemas.microsoft.com/office/powerpoint/2010/main" val="1458395598"/>
              </p:ext>
            </p:extLst>
          </p:nvPr>
        </p:nvGraphicFramePr>
        <p:xfrm>
          <a:off x="601444" y="1806215"/>
          <a:ext cx="10913556" cy="2473960"/>
        </p:xfrm>
        <a:graphic>
          <a:graphicData uri="http://schemas.openxmlformats.org/drawingml/2006/table">
            <a:tbl>
              <a:tblPr firstRow="1" bandRow="1">
                <a:effectLst>
                  <a:innerShdw blurRad="114300">
                    <a:prstClr val="black"/>
                  </a:innerShdw>
                </a:effectLst>
                <a:tableStyleId>{073A0DAA-6AF3-43AB-8588-CEC1D06C72B9}</a:tableStyleId>
              </a:tblPr>
              <a:tblGrid>
                <a:gridCol w="5456778">
                  <a:extLst>
                    <a:ext uri="{9D8B030D-6E8A-4147-A177-3AD203B41FA5}">
                      <a16:colId xmlns:a16="http://schemas.microsoft.com/office/drawing/2014/main" val="414480098"/>
                    </a:ext>
                  </a:extLst>
                </a:gridCol>
                <a:gridCol w="5456778">
                  <a:extLst>
                    <a:ext uri="{9D8B030D-6E8A-4147-A177-3AD203B41FA5}">
                      <a16:colId xmlns:a16="http://schemas.microsoft.com/office/drawing/2014/main" val="4180649755"/>
                    </a:ext>
                  </a:extLst>
                </a:gridCol>
              </a:tblGrid>
              <a:tr h="0">
                <a:tc>
                  <a:txBody>
                    <a:bodyPr/>
                    <a:lstStyle/>
                    <a:p>
                      <a:r>
                        <a:rPr lang="en-GB" sz="1800" dirty="0">
                          <a:solidFill>
                            <a:schemeClr val="tx1">
                              <a:lumMod val="95000"/>
                              <a:lumOff val="5000"/>
                            </a:schemeClr>
                          </a:solidFill>
                        </a:rPr>
                        <a:t>Splunk gives you for free</a:t>
                      </a:r>
                    </a:p>
                  </a:txBody>
                  <a:tcPr/>
                </a:tc>
                <a:tc>
                  <a:txBody>
                    <a:bodyPr/>
                    <a:lstStyle/>
                    <a:p>
                      <a:r>
                        <a:rPr lang="en-GB" sz="1800" dirty="0">
                          <a:solidFill>
                            <a:schemeClr val="tx1">
                              <a:lumMod val="95000"/>
                              <a:lumOff val="5000"/>
                            </a:schemeClr>
                          </a:solidFill>
                        </a:rPr>
                        <a:t>You build</a:t>
                      </a:r>
                    </a:p>
                  </a:txBody>
                  <a:tcPr/>
                </a:tc>
                <a:extLst>
                  <a:ext uri="{0D108BD9-81ED-4DB2-BD59-A6C34878D82A}">
                    <a16:rowId xmlns:a16="http://schemas.microsoft.com/office/drawing/2014/main" val="2304440527"/>
                  </a:ext>
                </a:extLst>
              </a:tr>
              <a:tr h="370840">
                <a:tc>
                  <a:txBody>
                    <a:bodyPr/>
                    <a:lstStyle/>
                    <a:p>
                      <a:r>
                        <a:rPr lang="en-GB" sz="1600" dirty="0">
                          <a:solidFill>
                            <a:schemeClr val="tx1">
                              <a:lumMod val="95000"/>
                              <a:lumOff val="5000"/>
                            </a:schemeClr>
                          </a:solidFill>
                        </a:rPr>
                        <a:t>Adaptive Response framework</a:t>
                      </a:r>
                    </a:p>
                  </a:txBody>
                  <a:tcPr/>
                </a:tc>
                <a:tc>
                  <a:txBody>
                    <a:bodyPr/>
                    <a:lstStyle/>
                    <a:p>
                      <a:r>
                        <a:rPr lang="en-GB" sz="1600" dirty="0">
                          <a:solidFill>
                            <a:schemeClr val="tx1">
                              <a:lumMod val="95000"/>
                              <a:lumOff val="5000"/>
                            </a:schemeClr>
                          </a:solidFill>
                        </a:rPr>
                        <a:t>The delivery shaping (JSON payload, denylist)</a:t>
                      </a:r>
                    </a:p>
                  </a:txBody>
                  <a:tcPr/>
                </a:tc>
                <a:extLst>
                  <a:ext uri="{0D108BD9-81ED-4DB2-BD59-A6C34878D82A}">
                    <a16:rowId xmlns:a16="http://schemas.microsoft.com/office/drawing/2014/main" val="1129596176"/>
                  </a:ext>
                </a:extLst>
              </a:tr>
              <a:tr h="370840">
                <a:tc>
                  <a:txBody>
                    <a:bodyPr/>
                    <a:lstStyle/>
                    <a:p>
                      <a:r>
                        <a:rPr lang="en-GB" sz="1600" dirty="0">
                          <a:solidFill>
                            <a:schemeClr val="tx1">
                              <a:lumMod val="95000"/>
                              <a:lumOff val="5000"/>
                            </a:schemeClr>
                          </a:solidFill>
                        </a:rPr>
                        <a:t>`cim_actions.</a:t>
                      </a:r>
                      <a:r>
                        <a:rPr lang="en-GB" sz="1600" dirty="0" err="1">
                          <a:solidFill>
                            <a:schemeClr val="tx1">
                              <a:lumMod val="95000"/>
                              <a:lumOff val="5000"/>
                            </a:schemeClr>
                          </a:solidFill>
                        </a:rPr>
                        <a:t>py</a:t>
                      </a:r>
                      <a:r>
                        <a:rPr lang="en-GB" sz="1600" dirty="0">
                          <a:solidFill>
                            <a:schemeClr val="tx1">
                              <a:lumMod val="95000"/>
                              <a:lumOff val="5000"/>
                            </a:schemeClr>
                          </a:solidFill>
                        </a:rPr>
                        <a:t>`'s `</a:t>
                      </a:r>
                      <a:r>
                        <a:rPr lang="en-GB" sz="1600" dirty="0" err="1">
                          <a:solidFill>
                            <a:schemeClr val="tx1">
                              <a:lumMod val="95000"/>
                              <a:lumOff val="5000"/>
                            </a:schemeClr>
                          </a:solidFill>
                        </a:rPr>
                        <a:t>ModularAction</a:t>
                      </a:r>
                      <a:r>
                        <a:rPr lang="en-GB" sz="1600" dirty="0">
                          <a:solidFill>
                            <a:schemeClr val="tx1">
                              <a:lumMod val="95000"/>
                              <a:lumOff val="5000"/>
                            </a:schemeClr>
                          </a:solidFill>
                        </a:rPr>
                        <a:t>` - native panel reporting</a:t>
                      </a:r>
                    </a:p>
                  </a:txBody>
                  <a:tcPr/>
                </a:tc>
                <a:tc>
                  <a:txBody>
                    <a:bodyPr/>
                    <a:lstStyle/>
                    <a:p>
                      <a:r>
                        <a:rPr lang="en-GB" sz="1600" dirty="0">
                          <a:solidFill>
                            <a:schemeClr val="tx1">
                              <a:lumMod val="95000"/>
                              <a:lumOff val="5000"/>
                            </a:schemeClr>
                          </a:solidFill>
                        </a:rPr>
                        <a:t>The standing-question payload (`</a:t>
                      </a:r>
                      <a:r>
                        <a:rPr lang="en-GB" sz="1600" dirty="0" err="1">
                          <a:solidFill>
                            <a:schemeClr val="tx1">
                              <a:lumMod val="95000"/>
                              <a:lumOff val="5000"/>
                            </a:schemeClr>
                          </a:solidFill>
                        </a:rPr>
                        <a:t>perplexity_ask</a:t>
                      </a:r>
                      <a:r>
                        <a:rPr lang="en-GB" sz="1600" dirty="0">
                          <a:solidFill>
                            <a:schemeClr val="tx1">
                              <a:lumMod val="95000"/>
                              <a:lumOff val="5000"/>
                            </a:schemeClr>
                          </a:solidFill>
                        </a:rPr>
                        <a:t>` block)</a:t>
                      </a:r>
                    </a:p>
                  </a:txBody>
                  <a:tcPr/>
                </a:tc>
                <a:extLst>
                  <a:ext uri="{0D108BD9-81ED-4DB2-BD59-A6C34878D82A}">
                    <a16:rowId xmlns:a16="http://schemas.microsoft.com/office/drawing/2014/main" val="1505072501"/>
                  </a:ext>
                </a:extLst>
              </a:tr>
              <a:tr h="370840">
                <a:tc>
                  <a:txBody>
                    <a:bodyPr/>
                    <a:lstStyle/>
                    <a:p>
                      <a:r>
                        <a:rPr lang="en-GB" sz="1600" dirty="0">
                          <a:solidFill>
                            <a:schemeClr val="tx1">
                              <a:lumMod val="95000"/>
                              <a:lumOff val="5000"/>
                            </a:schemeClr>
                          </a:solidFill>
                        </a:rPr>
                        <a:t>The Perplexity Chat Completions API's `</a:t>
                      </a:r>
                      <a:r>
                        <a:rPr lang="en-GB" sz="1600" dirty="0" err="1">
                          <a:solidFill>
                            <a:schemeClr val="tx1">
                              <a:lumMod val="95000"/>
                              <a:lumOff val="5000"/>
                            </a:schemeClr>
                          </a:solidFill>
                        </a:rPr>
                        <a:t>response_format</a:t>
                      </a:r>
                      <a:r>
                        <a:rPr lang="en-GB" sz="1600" dirty="0">
                          <a:solidFill>
                            <a:schemeClr val="tx1">
                              <a:lumMod val="95000"/>
                              <a:lumOff val="5000"/>
                            </a:schemeClr>
                          </a:solidFill>
                        </a:rPr>
                        <a:t>` (JSON Schema)</a:t>
                      </a:r>
                    </a:p>
                  </a:txBody>
                  <a:tcPr/>
                </a:tc>
                <a:tc>
                  <a:txBody>
                    <a:bodyPr/>
                    <a:lstStyle/>
                    <a:p>
                      <a:r>
                        <a:rPr lang="en-GB" sz="1600" dirty="0">
                          <a:solidFill>
                            <a:schemeClr val="tx1">
                              <a:lumMod val="95000"/>
                              <a:lumOff val="5000"/>
                            </a:schemeClr>
                          </a:solidFill>
                        </a:rPr>
                        <a:t>The synchronous in-line call + the schema shape itself</a:t>
                      </a:r>
                    </a:p>
                  </a:txBody>
                  <a:tcPr/>
                </a:tc>
                <a:extLst>
                  <a:ext uri="{0D108BD9-81ED-4DB2-BD59-A6C34878D82A}">
                    <a16:rowId xmlns:a16="http://schemas.microsoft.com/office/drawing/2014/main" val="3488915781"/>
                  </a:ext>
                </a:extLst>
              </a:tr>
              <a:tr h="370840">
                <a:tc>
                  <a:txBody>
                    <a:bodyPr/>
                    <a:lstStyle/>
                    <a:p>
                      <a:r>
                        <a:rPr lang="en-GB" sz="1600" dirty="0">
                          <a:solidFill>
                            <a:schemeClr val="tx1">
                              <a:lumMod val="95000"/>
                              <a:lumOff val="5000"/>
                            </a:schemeClr>
                          </a:solidFill>
                        </a:rPr>
                        <a:t>The Notable Event API + KV store</a:t>
                      </a:r>
                    </a:p>
                  </a:txBody>
                  <a:tcPr/>
                </a:tc>
                <a:tc>
                  <a:txBody>
                    <a:bodyPr/>
                    <a:lstStyle/>
                    <a:p>
                      <a:r>
                        <a:rPr lang="en-GB" sz="1600" dirty="0">
                          <a:solidFill>
                            <a:schemeClr val="tx1">
                              <a:lumMod val="95000"/>
                              <a:lumOff val="5000"/>
                            </a:schemeClr>
                          </a:solidFill>
                        </a:rPr>
                        <a:t>The KV-store enrichment + custom drilldown dashboard</a:t>
                      </a:r>
                    </a:p>
                  </a:txBody>
                  <a:tcPr/>
                </a:tc>
                <a:extLst>
                  <a:ext uri="{0D108BD9-81ED-4DB2-BD59-A6C34878D82A}">
                    <a16:rowId xmlns:a16="http://schemas.microsoft.com/office/drawing/2014/main" val="2424619557"/>
                  </a:ext>
                </a:extLst>
              </a:tr>
            </a:tbl>
          </a:graphicData>
        </a:graphic>
      </p:graphicFrame>
      <p:sp>
        <p:nvSpPr>
          <p:cNvPr id="6" name="TextBox 5">
            <a:extLst>
              <a:ext uri="{FF2B5EF4-FFF2-40B4-BE49-F238E27FC236}">
                <a16:creationId xmlns:a16="http://schemas.microsoft.com/office/drawing/2014/main" id="{72B051B8-7A4B-4A6D-7F5F-D15C8DE7F513}"/>
              </a:ext>
            </a:extLst>
          </p:cNvPr>
          <p:cNvSpPr txBox="1"/>
          <p:nvPr/>
        </p:nvSpPr>
        <p:spPr>
          <a:xfrm>
            <a:off x="601444" y="5074417"/>
            <a:ext cx="10913556" cy="723481"/>
          </a:xfrm>
          <a:prstGeom prst="rect">
            <a:avLst/>
          </a:prstGeom>
          <a:noFill/>
        </p:spPr>
        <p:txBody>
          <a:bodyPr wrap="square" lIns="0" tIns="0" rIns="0" bIns="0" rtlCol="0">
            <a:noAutofit/>
          </a:bodyPr>
          <a:lstStyle/>
          <a:p>
            <a:pPr algn="ctr" defTabSz="912276" fontAlgn="base">
              <a:spcAft>
                <a:spcPts val="1000"/>
              </a:spcAft>
              <a:buClr>
                <a:schemeClr val="bg1"/>
              </a:buClr>
              <a:buSzPct val="100000"/>
            </a:pPr>
            <a:r>
              <a:rPr lang="en-GB" sz="2000" dirty="0">
                <a:solidFill>
                  <a:schemeClr val="tx1">
                    <a:lumMod val="95000"/>
                    <a:lumOff val="5000"/>
                  </a:schemeClr>
                </a:solidFill>
                <a:ea typeface="ＭＳ Ｐゴシック" charset="0"/>
              </a:rPr>
              <a:t>The pattern, once built, is reusable per correlation search - you only write the glue once.</a:t>
            </a:r>
            <a:endParaRPr lang="en-GB" sz="2000" kern="1200" dirty="0">
              <a:solidFill>
                <a:schemeClr val="tx1">
                  <a:lumMod val="95000"/>
                  <a:lumOff val="5000"/>
                </a:schemeClr>
              </a:solidFill>
              <a:latin typeface="+mn-lt"/>
              <a:ea typeface="ＭＳ Ｐゴシック" charset="0"/>
            </a:endParaRPr>
          </a:p>
        </p:txBody>
      </p:sp>
      <p:sp>
        <p:nvSpPr>
          <p:cNvPr id="18" name="Snip Single Corner of Rectangle 17">
            <a:extLst>
              <a:ext uri="{FF2B5EF4-FFF2-40B4-BE49-F238E27FC236}">
                <a16:creationId xmlns:a16="http://schemas.microsoft.com/office/drawing/2014/main" id="{F7C4F6E5-F83F-2E08-9A68-39FD3A4C3361}"/>
              </a:ext>
            </a:extLst>
          </p:cNvPr>
          <p:cNvSpPr/>
          <p:nvPr/>
        </p:nvSpPr>
        <p:spPr>
          <a:xfrm>
            <a:off x="1" y="1"/>
            <a:ext cx="1617784" cy="343708"/>
          </a:xfrm>
          <a:prstGeom prst="snip1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182880" tIns="182880" rIns="182880" bIns="182880" rtlCol="0" anchor="ctr" anchorCtr="0">
            <a:noAutofit/>
          </a:bodyPr>
          <a:lstStyle/>
          <a:p>
            <a:pPr algn="ctr"/>
            <a:r>
              <a:rPr lang="en-GB" sz="1200" dirty="0">
                <a:solidFill>
                  <a:schemeClr val="bg1"/>
                </a:solidFill>
              </a:rPr>
              <a:t>Takeaway #2</a:t>
            </a:r>
          </a:p>
        </p:txBody>
      </p:sp>
    </p:spTree>
    <p:extLst>
      <p:ext uri="{BB962C8B-B14F-4D97-AF65-F5344CB8AC3E}">
        <p14:creationId xmlns:p14="http://schemas.microsoft.com/office/powerpoint/2010/main" val="2051997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2739E-C69F-6930-D0FE-A3625AC5EA8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FC64BFD-53FE-5F3F-FF3C-A82F729077EC}"/>
              </a:ext>
            </a:extLst>
          </p:cNvPr>
          <p:cNvSpPr>
            <a:spLocks noGrp="1"/>
          </p:cNvSpPr>
          <p:nvPr>
            <p:ph type="title"/>
          </p:nvPr>
        </p:nvSpPr>
        <p:spPr>
          <a:xfrm>
            <a:off x="328614" y="952500"/>
            <a:ext cx="5281613" cy="2179638"/>
          </a:xfrm>
        </p:spPr>
        <p:txBody>
          <a:bodyPr/>
          <a:lstStyle/>
          <a:p>
            <a:r>
              <a:rPr lang="en-GB" dirty="0"/>
              <a:t>Phase 2, Take 1: </a:t>
            </a:r>
            <a:br>
              <a:rPr lang="en-GB" dirty="0"/>
            </a:br>
            <a:r>
              <a:rPr lang="en-GB" dirty="0"/>
              <a:t>What We Thought We Needed</a:t>
            </a:r>
          </a:p>
        </p:txBody>
      </p:sp>
      <p:sp>
        <p:nvSpPr>
          <p:cNvPr id="11" name="Chart Placeholder 10">
            <a:extLst>
              <a:ext uri="{FF2B5EF4-FFF2-40B4-BE49-F238E27FC236}">
                <a16:creationId xmlns:a16="http://schemas.microsoft.com/office/drawing/2014/main" id="{BD5EF232-E17C-F356-CB87-33126B84DEE1}"/>
              </a:ext>
            </a:extLst>
          </p:cNvPr>
          <p:cNvSpPr>
            <a:spLocks noGrp="1"/>
          </p:cNvSpPr>
          <p:nvPr>
            <p:ph type="chart" sz="quarter" idx="12"/>
          </p:nvPr>
        </p:nvSpPr>
        <p:spPr/>
        <p:txBody>
          <a:bodyPr/>
          <a:lstStyle/>
          <a:p>
            <a:endParaRPr lang="en-GB"/>
          </a:p>
        </p:txBody>
      </p:sp>
      <p:graphicFrame>
        <p:nvGraphicFramePr>
          <p:cNvPr id="12" name="Table 11">
            <a:extLst>
              <a:ext uri="{FF2B5EF4-FFF2-40B4-BE49-F238E27FC236}">
                <a16:creationId xmlns:a16="http://schemas.microsoft.com/office/drawing/2014/main" id="{98957CD9-C4DA-E4B5-4A06-4E5AFE62449B}"/>
              </a:ext>
            </a:extLst>
          </p:cNvPr>
          <p:cNvGraphicFramePr>
            <a:graphicFrameLocks noGrp="1"/>
          </p:cNvGraphicFramePr>
          <p:nvPr>
            <p:extLst>
              <p:ext uri="{D42A27DB-BD31-4B8C-83A1-F6EECF244321}">
                <p14:modId xmlns:p14="http://schemas.microsoft.com/office/powerpoint/2010/main" val="3770727460"/>
              </p:ext>
            </p:extLst>
          </p:nvPr>
        </p:nvGraphicFramePr>
        <p:xfrm>
          <a:off x="6581774" y="936625"/>
          <a:ext cx="4887914" cy="5063932"/>
        </p:xfrm>
        <a:graphic>
          <a:graphicData uri="http://schemas.openxmlformats.org/drawingml/2006/table">
            <a:tbl>
              <a:tblPr firstRow="1" bandRow="1">
                <a:tableStyleId>{E8034E78-7F5D-4C2E-B375-FC64B27BC917}</a:tableStyleId>
              </a:tblPr>
              <a:tblGrid>
                <a:gridCol w="2443957">
                  <a:extLst>
                    <a:ext uri="{9D8B030D-6E8A-4147-A177-3AD203B41FA5}">
                      <a16:colId xmlns:a16="http://schemas.microsoft.com/office/drawing/2014/main" val="946962510"/>
                    </a:ext>
                  </a:extLst>
                </a:gridCol>
                <a:gridCol w="2443957">
                  <a:extLst>
                    <a:ext uri="{9D8B030D-6E8A-4147-A177-3AD203B41FA5}">
                      <a16:colId xmlns:a16="http://schemas.microsoft.com/office/drawing/2014/main" val="2734060787"/>
                    </a:ext>
                  </a:extLst>
                </a:gridCol>
              </a:tblGrid>
              <a:tr h="865890">
                <a:tc>
                  <a:txBody>
                    <a:bodyPr/>
                    <a:lstStyle/>
                    <a:p>
                      <a:r>
                        <a:rPr lang="en-GB" dirty="0"/>
                        <a:t>AI verdict concept</a:t>
                      </a:r>
                    </a:p>
                  </a:txBody>
                  <a:tcPr/>
                </a:tc>
                <a:tc>
                  <a:txBody>
                    <a:bodyPr/>
                    <a:lstStyle/>
                    <a:p>
                      <a:r>
                        <a:rPr lang="en-GB" dirty="0"/>
                        <a:t>CIM Risk field it becomes</a:t>
                      </a:r>
                    </a:p>
                  </a:txBody>
                  <a:tcPr/>
                </a:tc>
                <a:extLst>
                  <a:ext uri="{0D108BD9-81ED-4DB2-BD59-A6C34878D82A}">
                    <a16:rowId xmlns:a16="http://schemas.microsoft.com/office/drawing/2014/main" val="319346287"/>
                  </a:ext>
                </a:extLst>
              </a:tr>
              <a:tr h="865890">
                <a:tc>
                  <a:txBody>
                    <a:bodyPr/>
                    <a:lstStyle/>
                    <a:p>
                      <a:r>
                        <a:rPr lang="en-GB" dirty="0"/>
                        <a:t>Which user/host/IP is this about</a:t>
                      </a:r>
                    </a:p>
                  </a:txBody>
                  <a:tcPr/>
                </a:tc>
                <a:tc>
                  <a:txBody>
                    <a:bodyPr/>
                    <a:lstStyle/>
                    <a:p>
                      <a:r>
                        <a:rPr lang="en-GB" dirty="0"/>
                        <a:t>`</a:t>
                      </a:r>
                      <a:r>
                        <a:rPr lang="en-GB" dirty="0" err="1"/>
                        <a:t>risk_object</a:t>
                      </a:r>
                      <a:r>
                        <a:rPr lang="en-GB" dirty="0"/>
                        <a:t>` `</a:t>
                      </a:r>
                      <a:r>
                        <a:rPr lang="en-GB" dirty="0" err="1"/>
                        <a:t>risk_object_type</a:t>
                      </a:r>
                      <a:r>
                        <a:rPr lang="en-GB" dirty="0"/>
                        <a:t>`</a:t>
                      </a:r>
                    </a:p>
                  </a:txBody>
                  <a:tcPr/>
                </a:tc>
                <a:extLst>
                  <a:ext uri="{0D108BD9-81ED-4DB2-BD59-A6C34878D82A}">
                    <a16:rowId xmlns:a16="http://schemas.microsoft.com/office/drawing/2014/main" val="4128267174"/>
                  </a:ext>
                </a:extLst>
              </a:tr>
              <a:tr h="865890">
                <a:tc>
                  <a:txBody>
                    <a:bodyPr/>
                    <a:lstStyle/>
                    <a:p>
                      <a:r>
                        <a:rPr lang="en-GB" dirty="0"/>
                        <a:t>How risky is this, on our scale</a:t>
                      </a:r>
                    </a:p>
                  </a:txBody>
                  <a:tcPr/>
                </a:tc>
                <a:tc>
                  <a:txBody>
                    <a:bodyPr/>
                    <a:lstStyle/>
                    <a:p>
                      <a:r>
                        <a:rPr lang="en-GB" dirty="0"/>
                        <a:t>`</a:t>
                      </a:r>
                      <a:r>
                        <a:rPr lang="en-GB" dirty="0" err="1"/>
                        <a:t>risk_score</a:t>
                      </a:r>
                      <a:r>
                        <a:rPr lang="en-GB" dirty="0"/>
                        <a:t>`</a:t>
                      </a:r>
                    </a:p>
                  </a:txBody>
                  <a:tcPr/>
                </a:tc>
                <a:extLst>
                  <a:ext uri="{0D108BD9-81ED-4DB2-BD59-A6C34878D82A}">
                    <a16:rowId xmlns:a16="http://schemas.microsoft.com/office/drawing/2014/main" val="2654604925"/>
                  </a:ext>
                </a:extLst>
              </a:tr>
              <a:tr h="1521191">
                <a:tc>
                  <a:txBody>
                    <a:bodyPr/>
                    <a:lstStyle/>
                    <a:p>
                      <a:r>
                        <a:rPr lang="en-GB" dirty="0"/>
                        <a:t>Why — the AI's reasoning, in one line</a:t>
                      </a:r>
                    </a:p>
                  </a:txBody>
                  <a:tcPr/>
                </a:tc>
                <a:tc>
                  <a:txBody>
                    <a:bodyPr/>
                    <a:lstStyle/>
                    <a:p>
                      <a:r>
                        <a:rPr lang="en-GB" dirty="0"/>
                        <a:t>`</a:t>
                      </a:r>
                      <a:r>
                        <a:rPr lang="en-GB" dirty="0" err="1"/>
                        <a:t>risk_message</a:t>
                      </a:r>
                      <a:r>
                        <a:rPr lang="en-GB" dirty="0"/>
                        <a:t>`</a:t>
                      </a:r>
                    </a:p>
                  </a:txBody>
                  <a:tcPr/>
                </a:tc>
                <a:extLst>
                  <a:ext uri="{0D108BD9-81ED-4DB2-BD59-A6C34878D82A}">
                    <a16:rowId xmlns:a16="http://schemas.microsoft.com/office/drawing/2014/main" val="2739016347"/>
                  </a:ext>
                </a:extLst>
              </a:tr>
              <a:tr h="865890">
                <a:tc>
                  <a:txBody>
                    <a:bodyPr/>
                    <a:lstStyle/>
                    <a:p>
                      <a:r>
                        <a:rPr lang="en-GB" dirty="0"/>
                        <a:t>Which notable this ties back to </a:t>
                      </a:r>
                    </a:p>
                  </a:txBody>
                  <a:tcPr/>
                </a:tc>
                <a:tc>
                  <a:txBody>
                    <a:bodyPr/>
                    <a:lstStyle/>
                    <a:p>
                      <a:r>
                        <a:rPr lang="en-GB" dirty="0"/>
                        <a:t>`</a:t>
                      </a:r>
                      <a:r>
                        <a:rPr lang="en-GB" dirty="0" err="1"/>
                        <a:t>orig_sid</a:t>
                      </a:r>
                      <a:r>
                        <a:rPr lang="en-GB" dirty="0"/>
                        <a:t>` </a:t>
                      </a:r>
                      <a:br>
                        <a:rPr lang="en-GB" dirty="0"/>
                      </a:br>
                      <a:r>
                        <a:rPr lang="en-GB" dirty="0"/>
                        <a:t>`</a:t>
                      </a:r>
                      <a:r>
                        <a:rPr lang="en-GB" dirty="0" err="1"/>
                        <a:t>orig_rid</a:t>
                      </a:r>
                      <a:r>
                        <a:rPr lang="en-GB" dirty="0"/>
                        <a:t>`</a:t>
                      </a:r>
                      <a:br>
                        <a:rPr lang="en-GB" dirty="0"/>
                      </a:br>
                      <a:r>
                        <a:rPr lang="en-GB" dirty="0"/>
                        <a:t>`</a:t>
                      </a:r>
                      <a:r>
                        <a:rPr lang="en-GB" dirty="0" err="1"/>
                        <a:t>event_id</a:t>
                      </a:r>
                      <a:r>
                        <a:rPr lang="en-GB" dirty="0"/>
                        <a:t>`</a:t>
                      </a:r>
                    </a:p>
                  </a:txBody>
                  <a:tcPr/>
                </a:tc>
                <a:extLst>
                  <a:ext uri="{0D108BD9-81ED-4DB2-BD59-A6C34878D82A}">
                    <a16:rowId xmlns:a16="http://schemas.microsoft.com/office/drawing/2014/main" val="3034554997"/>
                  </a:ext>
                </a:extLst>
              </a:tr>
            </a:tbl>
          </a:graphicData>
        </a:graphic>
      </p:graphicFrame>
      <p:sp>
        <p:nvSpPr>
          <p:cNvPr id="13" name="TextBox 12">
            <a:extLst>
              <a:ext uri="{FF2B5EF4-FFF2-40B4-BE49-F238E27FC236}">
                <a16:creationId xmlns:a16="http://schemas.microsoft.com/office/drawing/2014/main" id="{E7CEE393-8603-E876-F802-6D456C539338}"/>
              </a:ext>
            </a:extLst>
          </p:cNvPr>
          <p:cNvSpPr txBox="1"/>
          <p:nvPr/>
        </p:nvSpPr>
        <p:spPr>
          <a:xfrm>
            <a:off x="150725" y="3206277"/>
            <a:ext cx="6029011" cy="2933265"/>
          </a:xfrm>
          <a:prstGeom prst="rect">
            <a:avLst/>
          </a:prstGeom>
          <a:noFill/>
        </p:spPr>
        <p:txBody>
          <a:bodyPr wrap="squar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b="1" dirty="0">
                <a:ea typeface="ＭＳ Ｐゴシック" charset="0"/>
              </a:rPr>
              <a:t>The fix, at the time</a:t>
            </a:r>
            <a:r>
              <a:rPr lang="en-GB" dirty="0">
                <a:ea typeface="ＭＳ Ｐゴシック" charset="0"/>
              </a:rPr>
              <a:t>: pin the required JSON shape into the prompt itself</a:t>
            </a:r>
          </a:p>
          <a:p>
            <a:pPr marL="182880" indent="-182880" defTabSz="912276" fontAlgn="base">
              <a:spcAft>
                <a:spcPts val="1000"/>
              </a:spcAft>
              <a:buClr>
                <a:schemeClr val="bg1"/>
              </a:buClr>
              <a:buSzPct val="100000"/>
              <a:buFont typeface="Arial" panose="020B0604020202020204" pitchFamily="34" charset="0"/>
              <a:buChar char="•"/>
            </a:pPr>
            <a:r>
              <a:rPr lang="en-GB" dirty="0">
                <a:ea typeface="ＭＳ Ｐゴシック" charset="0"/>
              </a:rPr>
              <a:t>(`</a:t>
            </a:r>
            <a:r>
              <a:rPr lang="en-GB" dirty="0" err="1">
                <a:ea typeface="ＭＳ Ｐゴシック" charset="0"/>
              </a:rPr>
              <a:t>perplexity_ask.reply_format</a:t>
            </a:r>
            <a:r>
              <a:rPr lang="en-GB" dirty="0">
                <a:ea typeface="ＭＳ Ｐゴシック" charset="0"/>
              </a:rPr>
              <a:t>` in `</a:t>
            </a:r>
            <a:r>
              <a:rPr lang="en-GB" dirty="0" err="1">
                <a:ea typeface="ＭＳ Ｐゴシック" charset="0"/>
              </a:rPr>
              <a:t>alert_actions.conf</a:t>
            </a:r>
            <a:r>
              <a:rPr lang="en-GB" dirty="0">
                <a:ea typeface="ＭＳ Ｐゴシック" charset="0"/>
              </a:rPr>
              <a:t>`), so the reply is deterministic, not scraped from free text. It worked  and it's not what ships today. </a:t>
            </a:r>
            <a:br>
              <a:rPr lang="en-GB" dirty="0">
                <a:ea typeface="ＭＳ Ｐゴシック" charset="0"/>
              </a:rPr>
            </a:br>
            <a:endParaRPr lang="en-GB" dirty="0">
              <a:ea typeface="ＭＳ Ｐゴシック" charset="0"/>
            </a:endParaRPr>
          </a:p>
          <a:p>
            <a:pPr marL="182880" indent="-182880" defTabSz="912276" fontAlgn="base">
              <a:spcAft>
                <a:spcPts val="1000"/>
              </a:spcAft>
              <a:buClr>
                <a:schemeClr val="bg1"/>
              </a:buClr>
              <a:buSzPct val="100000"/>
              <a:buFont typeface="Arial" panose="020B0604020202020204" pitchFamily="34" charset="0"/>
              <a:buChar char="•"/>
            </a:pPr>
            <a:r>
              <a:rPr lang="en-GB" dirty="0">
                <a:ea typeface="ＭＳ Ｐゴシック" charset="0"/>
              </a:rPr>
              <a:t>Here's why we built it, and exactly how it worked.</a:t>
            </a:r>
            <a:endParaRPr lang="en-GB" kern="1200" dirty="0">
              <a:latin typeface="+mn-lt"/>
              <a:ea typeface="ＭＳ Ｐゴシック" charset="0"/>
            </a:endParaRPr>
          </a:p>
        </p:txBody>
      </p:sp>
    </p:spTree>
    <p:extLst>
      <p:ext uri="{BB962C8B-B14F-4D97-AF65-F5344CB8AC3E}">
        <p14:creationId xmlns:p14="http://schemas.microsoft.com/office/powerpoint/2010/main" val="3603863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8BC8-79AD-3835-4CAD-753B9A4E5A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255D84-603F-753D-93F0-B33442DDC573}"/>
              </a:ext>
            </a:extLst>
          </p:cNvPr>
          <p:cNvSpPr>
            <a:spLocks noGrp="1"/>
          </p:cNvSpPr>
          <p:nvPr>
            <p:ph type="title"/>
          </p:nvPr>
        </p:nvSpPr>
        <p:spPr/>
        <p:txBody>
          <a:bodyPr/>
          <a:lstStyle/>
          <a:p>
            <a:r>
              <a:rPr lang="en-US" sz="2400" dirty="0"/>
              <a:t>Phase 3, Take 2: One Payload, Three Existing Write-Back Paths</a:t>
            </a:r>
          </a:p>
        </p:txBody>
      </p:sp>
      <p:sp>
        <p:nvSpPr>
          <p:cNvPr id="31" name="Freeform 101" descr="Icon of two people talking representing &quot;Advisory&quot;">
            <a:extLst>
              <a:ext uri="{FF2B5EF4-FFF2-40B4-BE49-F238E27FC236}">
                <a16:creationId xmlns:a16="http://schemas.microsoft.com/office/drawing/2014/main" id="{AC0D2490-B8DA-968C-AA7B-D1F72FC3B0E9}"/>
              </a:ext>
            </a:extLst>
          </p:cNvPr>
          <p:cNvSpPr>
            <a:spLocks noChangeAspect="1"/>
          </p:cNvSpPr>
          <p:nvPr/>
        </p:nvSpPr>
        <p:spPr>
          <a:xfrm>
            <a:off x="1258077" y="2198951"/>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F1672F66-8A19-E64F-B370-4606961BF8BC}"/>
              </a:ext>
            </a:extLst>
          </p:cNvPr>
          <p:cNvSpPr txBox="1"/>
          <p:nvPr/>
        </p:nvSpPr>
        <p:spPr>
          <a:xfrm>
            <a:off x="1249690" y="2850957"/>
            <a:ext cx="2741481" cy="246221"/>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1600" b="1" dirty="0">
                <a:latin typeface="Inter" panose="02000503000000020004" pitchFamily="2" charset="0"/>
                <a:ea typeface="ＭＳ Ｐゴシック" charset="0"/>
              </a:rPr>
              <a:t>Slack</a:t>
            </a:r>
            <a:endParaRPr lang="en-US" sz="2000" b="1" kern="1200" dirty="0">
              <a:latin typeface="Inter" panose="02000503000000020004" pitchFamily="2" charset="0"/>
              <a:ea typeface="ＭＳ Ｐゴシック" charset="0"/>
            </a:endParaRPr>
          </a:p>
        </p:txBody>
      </p:sp>
      <p:sp>
        <p:nvSpPr>
          <p:cNvPr id="8" name="TextBox 7">
            <a:extLst>
              <a:ext uri="{FF2B5EF4-FFF2-40B4-BE49-F238E27FC236}">
                <a16:creationId xmlns:a16="http://schemas.microsoft.com/office/drawing/2014/main" id="{60246193-536C-70EB-99E8-23AA5B99B441}"/>
              </a:ext>
            </a:extLst>
          </p:cNvPr>
          <p:cNvSpPr txBox="1"/>
          <p:nvPr/>
        </p:nvSpPr>
        <p:spPr>
          <a:xfrm>
            <a:off x="1258077" y="3680896"/>
            <a:ext cx="2741482" cy="861774"/>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400" dirty="0">
                <a:latin typeface="Inter" panose="02000503000000020004" pitchFamily="2" charset="0"/>
                <a:ea typeface="ＭＳ Ｐゴシック" charset="0"/>
              </a:rPr>
              <a:t>Still useful for visually auditing exactly what was asked and what came back, per notable, as it happens.</a:t>
            </a:r>
            <a:endParaRPr lang="en-US" sz="1400" kern="1200" dirty="0">
              <a:latin typeface="Inter" panose="02000503000000020004" pitchFamily="2" charset="0"/>
              <a:ea typeface="ＭＳ Ｐゴシック" charset="0"/>
            </a:endParaRPr>
          </a:p>
        </p:txBody>
      </p:sp>
      <p:sp>
        <p:nvSpPr>
          <p:cNvPr id="29" name="Freeform 212" descr="Icon of a group of people's head in a circle  representing &quot;Collaboration&quot;">
            <a:extLst>
              <a:ext uri="{FF2B5EF4-FFF2-40B4-BE49-F238E27FC236}">
                <a16:creationId xmlns:a16="http://schemas.microsoft.com/office/drawing/2014/main" id="{B26AC079-C951-8C51-E75A-26903876FF7D}"/>
              </a:ext>
            </a:extLst>
          </p:cNvPr>
          <p:cNvSpPr>
            <a:spLocks noChangeAspect="1"/>
          </p:cNvSpPr>
          <p:nvPr/>
        </p:nvSpPr>
        <p:spPr>
          <a:xfrm>
            <a:off x="4661713" y="2198951"/>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D2A0864F-86DE-0607-8690-74484EB96673}"/>
              </a:ext>
            </a:extLst>
          </p:cNvPr>
          <p:cNvSpPr txBox="1"/>
          <p:nvPr/>
        </p:nvSpPr>
        <p:spPr>
          <a:xfrm>
            <a:off x="4663388" y="2850957"/>
            <a:ext cx="2748138" cy="492443"/>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b="1" dirty="0">
                <a:latin typeface="Inter" panose="02000503000000020004" pitchFamily="2" charset="0"/>
                <a:ea typeface="ＭＳ Ｐゴシック" charset="0"/>
              </a:rPr>
              <a:t>The Notable Event API → the originating notable</a:t>
            </a:r>
            <a:endParaRPr lang="en-US" sz="1600" b="1" kern="1200" dirty="0">
              <a:latin typeface="Inter" panose="02000503000000020004" pitchFamily="2" charset="0"/>
              <a:ea typeface="ＭＳ Ｐゴシック" charset="0"/>
            </a:endParaRPr>
          </a:p>
        </p:txBody>
      </p:sp>
      <p:sp>
        <p:nvSpPr>
          <p:cNvPr id="10" name="TextBox 9">
            <a:extLst>
              <a:ext uri="{FF2B5EF4-FFF2-40B4-BE49-F238E27FC236}">
                <a16:creationId xmlns:a16="http://schemas.microsoft.com/office/drawing/2014/main" id="{C80315AB-0F91-7356-BACD-682B848424F7}"/>
              </a:ext>
            </a:extLst>
          </p:cNvPr>
          <p:cNvSpPr txBox="1"/>
          <p:nvPr/>
        </p:nvSpPr>
        <p:spPr>
          <a:xfrm>
            <a:off x="4671777" y="3680896"/>
            <a:ext cx="2748137" cy="1477328"/>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200" b="1" dirty="0">
                <a:latin typeface="Inter" panose="02000503000000020004" pitchFamily="2" charset="0"/>
                <a:ea typeface="ＭＳ Ｐゴシック" charset="0"/>
              </a:rPr>
              <a:t>`POST /services/</a:t>
            </a:r>
            <a:r>
              <a:rPr lang="en-US" sz="1200" b="1" dirty="0" err="1">
                <a:latin typeface="Inter" panose="02000503000000020004" pitchFamily="2" charset="0"/>
                <a:ea typeface="ＭＳ Ｐゴシック" charset="0"/>
              </a:rPr>
              <a:t>notable_update</a:t>
            </a:r>
            <a:r>
              <a:rPr lang="en-US" sz="1200" b="1" dirty="0">
                <a:latin typeface="Inter" panose="02000503000000020004" pitchFamily="2" charset="0"/>
                <a:ea typeface="ＭＳ Ｐゴシック" charset="0"/>
              </a:rPr>
              <a:t>` </a:t>
            </a:r>
            <a:r>
              <a:rPr lang="en-US" sz="1400" dirty="0">
                <a:latin typeface="Inter" panose="02000503000000020004" pitchFamily="2" charset="0"/>
                <a:ea typeface="ＭＳ Ｐゴシック" charset="0"/>
              </a:rPr>
              <a:t>comment </a:t>
            </a:r>
            <a:r>
              <a:rPr lang="en-US" sz="1400" dirty="0" err="1">
                <a:latin typeface="Inter" panose="02000503000000020004" pitchFamily="2" charset="0"/>
                <a:ea typeface="ＭＳ Ｐゴシック" charset="0"/>
              </a:rPr>
              <a:t>summarising</a:t>
            </a:r>
            <a:r>
              <a:rPr lang="en-US" sz="1400" dirty="0">
                <a:latin typeface="Inter" panose="02000503000000020004" pitchFamily="2" charset="0"/>
                <a:ea typeface="ＭＳ Ｐゴシック" charset="0"/>
              </a:rPr>
              <a:t> what was sent, now including the Perplexity answer - visible directly in that notable's own Activity timeline in Incident Review.</a:t>
            </a:r>
            <a:endParaRPr lang="en-US" sz="1400" kern="1200" dirty="0">
              <a:latin typeface="Inter" panose="02000503000000020004" pitchFamily="2" charset="0"/>
              <a:ea typeface="ＭＳ Ｐゴシック" charset="0"/>
            </a:endParaRPr>
          </a:p>
        </p:txBody>
      </p:sp>
      <p:sp>
        <p:nvSpPr>
          <p:cNvPr id="30" name="Freeform 238" descr="Icon of a magnifying glass zooming in on a pie chart representing &quot;data driven insights&quot;">
            <a:extLst>
              <a:ext uri="{FF2B5EF4-FFF2-40B4-BE49-F238E27FC236}">
                <a16:creationId xmlns:a16="http://schemas.microsoft.com/office/drawing/2014/main" id="{D3E7DC5E-3E2F-2DA2-4DE7-4E01FC987716}"/>
              </a:ext>
            </a:extLst>
          </p:cNvPr>
          <p:cNvSpPr>
            <a:spLocks noChangeAspect="1"/>
          </p:cNvSpPr>
          <p:nvPr/>
        </p:nvSpPr>
        <p:spPr>
          <a:xfrm>
            <a:off x="8082158" y="2198951"/>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A0B134C5-2132-C313-220D-476750B73B65}"/>
              </a:ext>
            </a:extLst>
          </p:cNvPr>
          <p:cNvSpPr txBox="1"/>
          <p:nvPr/>
        </p:nvSpPr>
        <p:spPr>
          <a:xfrm>
            <a:off x="8079774" y="2850957"/>
            <a:ext cx="2750347" cy="738664"/>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b="1" dirty="0">
                <a:latin typeface="Inter" panose="02000503000000020004" pitchFamily="2" charset="0"/>
                <a:ea typeface="ＭＳ Ｐゴシック" charset="0"/>
              </a:rPr>
              <a:t>The `</a:t>
            </a:r>
            <a:r>
              <a:rPr lang="en-US" sz="1600" b="1" dirty="0" err="1">
                <a:latin typeface="Inter" panose="02000503000000020004" pitchFamily="2" charset="0"/>
                <a:ea typeface="ＭＳ Ｐゴシック" charset="0"/>
              </a:rPr>
              <a:t>notable_enrichment</a:t>
            </a:r>
            <a:r>
              <a:rPr lang="en-US" sz="1600" b="1" dirty="0">
                <a:latin typeface="Inter" panose="02000503000000020004" pitchFamily="2" charset="0"/>
                <a:ea typeface="ＭＳ Ｐゴシック" charset="0"/>
              </a:rPr>
              <a:t>’ KV store &amp; custom drilldown</a:t>
            </a:r>
          </a:p>
        </p:txBody>
      </p:sp>
      <p:sp>
        <p:nvSpPr>
          <p:cNvPr id="14" name="TextBox 13">
            <a:extLst>
              <a:ext uri="{FF2B5EF4-FFF2-40B4-BE49-F238E27FC236}">
                <a16:creationId xmlns:a16="http://schemas.microsoft.com/office/drawing/2014/main" id="{7498CDC6-7759-96EB-5404-15A57DD4FFE2}"/>
              </a:ext>
            </a:extLst>
          </p:cNvPr>
          <p:cNvSpPr txBox="1"/>
          <p:nvPr/>
        </p:nvSpPr>
        <p:spPr>
          <a:xfrm>
            <a:off x="8088161" y="3680896"/>
            <a:ext cx="2750347" cy="861774"/>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400" dirty="0">
                <a:latin typeface="Inter" panose="02000503000000020004" pitchFamily="2" charset="0"/>
                <a:ea typeface="ＭＳ Ｐゴシック" charset="0"/>
              </a:rPr>
              <a:t>The full ask-and-response JSON as a structured record, reached from the notable's Adaptive Responses panel.</a:t>
            </a:r>
            <a:endParaRPr lang="en-US" sz="1400" kern="1200" dirty="0">
              <a:latin typeface="Inter" panose="02000503000000020004" pitchFamily="2" charset="0"/>
              <a:ea typeface="ＭＳ Ｐゴシック" charset="0"/>
            </a:endParaRPr>
          </a:p>
        </p:txBody>
      </p:sp>
      <p:sp>
        <p:nvSpPr>
          <p:cNvPr id="4" name="TextBox 3">
            <a:extLst>
              <a:ext uri="{FF2B5EF4-FFF2-40B4-BE49-F238E27FC236}">
                <a16:creationId xmlns:a16="http://schemas.microsoft.com/office/drawing/2014/main" id="{B014B3B8-A18B-2E09-8F27-57242AFD52D6}"/>
              </a:ext>
            </a:extLst>
          </p:cNvPr>
          <p:cNvSpPr txBox="1"/>
          <p:nvPr/>
        </p:nvSpPr>
        <p:spPr>
          <a:xfrm>
            <a:off x="1258076" y="1125438"/>
            <a:ext cx="9580432" cy="738664"/>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No bespoke store, and no second process either. </a:t>
            </a:r>
            <a:br>
              <a:rPr lang="en-US" sz="1600" dirty="0">
                <a:latin typeface="Inter" panose="02000503000000020004" pitchFamily="2" charset="0"/>
                <a:ea typeface="ＭＳ Ｐゴシック" charset="0"/>
              </a:rPr>
            </a:br>
            <a:r>
              <a:rPr lang="en-US" sz="1600" dirty="0">
                <a:latin typeface="Inter" panose="02000503000000020004" pitchFamily="2" charset="0"/>
                <a:ea typeface="ＭＳ Ｐゴシック" charset="0"/>
              </a:rPr>
              <a:t>The same envelope that carried `</a:t>
            </a:r>
            <a:r>
              <a:rPr lang="en-US" sz="1600" dirty="0" err="1">
                <a:latin typeface="Inter" panose="02000503000000020004" pitchFamily="2" charset="0"/>
                <a:ea typeface="ＭＳ Ｐゴシック" charset="0"/>
              </a:rPr>
              <a:t>perplexity_ask</a:t>
            </a:r>
            <a:r>
              <a:rPr lang="en-US" sz="1600" dirty="0">
                <a:latin typeface="Inter" panose="02000503000000020004" pitchFamily="2" charset="0"/>
                <a:ea typeface="ＭＳ Ｐゴシック" charset="0"/>
              </a:rPr>
              <a:t>` now also carries `</a:t>
            </a:r>
            <a:r>
              <a:rPr lang="en-US" sz="1600" dirty="0" err="1">
                <a:latin typeface="Inter" panose="02000503000000020004" pitchFamily="2" charset="0"/>
                <a:ea typeface="ＭＳ Ｐゴシック" charset="0"/>
              </a:rPr>
              <a:t>perplexity_response</a:t>
            </a:r>
            <a:r>
              <a:rPr lang="en-US" sz="1600" dirty="0">
                <a:latin typeface="Inter" panose="02000503000000020004" pitchFamily="2" charset="0"/>
                <a:ea typeface="ＭＳ Ｐゴシック" charset="0"/>
              </a:rPr>
              <a:t>`, straight into the three paths that our Splunk App already had:</a:t>
            </a:r>
            <a:endParaRPr lang="en-US" sz="1600" kern="1200" dirty="0">
              <a:latin typeface="Inter" panose="02000503000000020004" pitchFamily="2" charset="0"/>
              <a:ea typeface="ＭＳ Ｐゴシック" charset="0"/>
            </a:endParaRPr>
          </a:p>
        </p:txBody>
      </p:sp>
      <p:sp>
        <p:nvSpPr>
          <p:cNvPr id="2" name="TextBox 1">
            <a:extLst>
              <a:ext uri="{FF2B5EF4-FFF2-40B4-BE49-F238E27FC236}">
                <a16:creationId xmlns:a16="http://schemas.microsoft.com/office/drawing/2014/main" id="{90800C67-704A-B772-8CDF-6FA2458F9A79}"/>
              </a:ext>
            </a:extLst>
          </p:cNvPr>
          <p:cNvSpPr txBox="1"/>
          <p:nvPr/>
        </p:nvSpPr>
        <p:spPr>
          <a:xfrm>
            <a:off x="1258076" y="5495720"/>
            <a:ext cx="9580432" cy="492443"/>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No analyst forwards, tags, or re-keys anything. All three writes happen inside the same alert-action invocation — no waiting on a reply, no second component to trigger them.</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2092072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D04ACA-9919-EFC4-645F-CCAEDD9A0A27}"/>
              </a:ext>
            </a:extLst>
          </p:cNvPr>
          <p:cNvSpPr>
            <a:spLocks noGrp="1"/>
          </p:cNvSpPr>
          <p:nvPr>
            <p:ph type="title"/>
          </p:nvPr>
        </p:nvSpPr>
        <p:spPr/>
        <p:txBody>
          <a:bodyPr/>
          <a:lstStyle/>
          <a:p>
            <a:r>
              <a:rPr lang="en-GB" dirty="0"/>
              <a:t>Live DEMO</a:t>
            </a:r>
          </a:p>
        </p:txBody>
      </p:sp>
    </p:spTree>
    <p:extLst>
      <p:ext uri="{BB962C8B-B14F-4D97-AF65-F5344CB8AC3E}">
        <p14:creationId xmlns:p14="http://schemas.microsoft.com/office/powerpoint/2010/main" val="3224812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8AC1E5A6-70C6-77F4-420A-13AFF6F73C20}"/>
              </a:ext>
            </a:extLst>
          </p:cNvPr>
          <p:cNvSpPr>
            <a:spLocks noGrp="1"/>
          </p:cNvSpPr>
          <p:nvPr>
            <p:ph type="title"/>
          </p:nvPr>
        </p:nvSpPr>
        <p:spPr/>
        <p:txBody>
          <a:bodyPr/>
          <a:lstStyle/>
          <a:p>
            <a:r>
              <a:rPr lang="en-GB" dirty="0"/>
              <a:t>LIVE DEMO SCRIPT</a:t>
            </a:r>
          </a:p>
        </p:txBody>
      </p:sp>
      <p:sp>
        <p:nvSpPr>
          <p:cNvPr id="19" name="Text Placeholder 18">
            <a:extLst>
              <a:ext uri="{FF2B5EF4-FFF2-40B4-BE49-F238E27FC236}">
                <a16:creationId xmlns:a16="http://schemas.microsoft.com/office/drawing/2014/main" id="{D4ADC582-CBF2-DDB7-6E2B-779CC7B845D0}"/>
              </a:ext>
            </a:extLst>
          </p:cNvPr>
          <p:cNvSpPr>
            <a:spLocks noGrp="1"/>
          </p:cNvSpPr>
          <p:nvPr>
            <p:ph type="body" sz="quarter" idx="12"/>
          </p:nvPr>
        </p:nvSpPr>
        <p:spPr/>
        <p:txBody>
          <a:bodyPr/>
          <a:lstStyle/>
          <a:p>
            <a:r>
              <a:rPr lang="en-GB" b="1" dirty="0"/>
              <a:t>TRIGGER: </a:t>
            </a:r>
            <a:r>
              <a:rPr lang="en-GB" dirty="0"/>
              <a:t>fire a correlation search in Splunk ES; a notable lands in Incident Review.</a:t>
            </a:r>
            <a:br>
              <a:rPr lang="en-GB" dirty="0"/>
            </a:br>
            <a:endParaRPr lang="en-GB" dirty="0"/>
          </a:p>
          <a:p>
            <a:r>
              <a:rPr lang="en-GB" b="1" dirty="0"/>
              <a:t>FIRE THE ACTION: </a:t>
            </a:r>
            <a:r>
              <a:rPr lang="en-GB" dirty="0"/>
              <a:t>`</a:t>
            </a:r>
            <a:r>
              <a:rPr lang="en-GB" dirty="0" err="1"/>
              <a:t>TA_ResponseActions</a:t>
            </a:r>
            <a:r>
              <a:rPr lang="en-GB" dirty="0"/>
              <a:t>` builds the full CIM/risk JSON, including the `</a:t>
            </a:r>
            <a:r>
              <a:rPr lang="en-GB" dirty="0" err="1"/>
              <a:t>perplexity_ask</a:t>
            </a:r>
            <a:r>
              <a:rPr lang="en-GB" dirty="0"/>
              <a:t>` standing checks.</a:t>
            </a:r>
            <a:br>
              <a:rPr lang="en-GB" dirty="0"/>
            </a:br>
            <a:endParaRPr lang="en-GB" dirty="0"/>
          </a:p>
          <a:p>
            <a:r>
              <a:rPr lang="en-GB" b="1" dirty="0"/>
              <a:t>The AI answers, in-line: </a:t>
            </a:r>
            <a:r>
              <a:rPr lang="en-GB" dirty="0"/>
              <a:t>before anything is sent anywhere, a single synchronous call to the Perplexity API returns a structured `</a:t>
            </a:r>
            <a:r>
              <a:rPr lang="en-GB" dirty="0" err="1"/>
              <a:t>perplexity_response</a:t>
            </a:r>
            <a:r>
              <a:rPr lang="en-GB" dirty="0"/>
              <a:t>`, merged straight into the same payload.</a:t>
            </a:r>
            <a:br>
              <a:rPr lang="en-GB" dirty="0"/>
            </a:br>
            <a:endParaRPr lang="en-GB" dirty="0"/>
          </a:p>
          <a:p>
            <a:r>
              <a:rPr lang="en-GB" b="1" dirty="0"/>
              <a:t>One payload, three deliveries: </a:t>
            </a:r>
            <a:r>
              <a:rPr lang="en-GB" dirty="0"/>
              <a:t>Slack, the notable's comment trail, and the KV store record all get written in the same action invocation. No polling, no wait.</a:t>
            </a:r>
            <a:br>
              <a:rPr lang="en-GB" dirty="0"/>
            </a:br>
            <a:endParaRPr lang="en-GB" dirty="0"/>
          </a:p>
          <a:p>
            <a:r>
              <a:rPr lang="en-GB" b="1" dirty="0"/>
              <a:t>Payoff: </a:t>
            </a:r>
            <a:r>
              <a:rPr lang="en-GB" dirty="0"/>
              <a:t>show the same notable in Incident Review: Adaptive Responses panel, notable comment, and the KV-store drilldown dashboard, all populated</a:t>
            </a:r>
          </a:p>
        </p:txBody>
      </p:sp>
    </p:spTree>
    <p:extLst>
      <p:ext uri="{BB962C8B-B14F-4D97-AF65-F5344CB8AC3E}">
        <p14:creationId xmlns:p14="http://schemas.microsoft.com/office/powerpoint/2010/main" val="356589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350151-3419-5706-979F-02096B3DAB66}"/>
              </a:ext>
            </a:extLst>
          </p:cNvPr>
          <p:cNvSpPr>
            <a:spLocks noGrp="1"/>
          </p:cNvSpPr>
          <p:nvPr>
            <p:ph type="body" sz="quarter" idx="12"/>
          </p:nvPr>
        </p:nvSpPr>
        <p:spPr>
          <a:xfrm>
            <a:off x="323850" y="331596"/>
            <a:ext cx="11544300" cy="5888334"/>
          </a:xfrm>
          <a:solidFill>
            <a:schemeClr val="bg1">
              <a:lumMod val="85000"/>
            </a:schemeClr>
          </a:solidFill>
        </p:spPr>
        <p:txBody>
          <a:bodyPr/>
          <a:lstStyle/>
          <a:p>
            <a:pPr marL="0" indent="0">
              <a:spcAft>
                <a:spcPts val="0"/>
              </a:spcAft>
              <a:buNone/>
            </a:pPr>
            <a:r>
              <a:rPr lang="en-GB" sz="1000" dirty="0"/>
              <a:t>{ "source": "</a:t>
            </a:r>
            <a:r>
              <a:rPr lang="en-GB" sz="1000" dirty="0" err="1"/>
              <a:t>splunk_es_adaptive_response</a:t>
            </a:r>
            <a:r>
              <a:rPr lang="en-GB" sz="1000" dirty="0"/>
              <a:t>",</a:t>
            </a:r>
          </a:p>
          <a:p>
            <a:pPr marL="0" indent="0">
              <a:spcAft>
                <a:spcPts val="0"/>
              </a:spcAft>
              <a:buNone/>
            </a:pPr>
            <a:r>
              <a:rPr lang="en-GB" sz="1000" dirty="0"/>
              <a:t>  "action": "</a:t>
            </a:r>
            <a:r>
              <a:rPr lang="en-GB" sz="1000" dirty="0" err="1"/>
              <a:t>notable_to_perplexity_json</a:t>
            </a:r>
            <a:r>
              <a:rPr lang="en-GB" sz="1000" dirty="0"/>
              <a:t>",</a:t>
            </a:r>
          </a:p>
          <a:p>
            <a:pPr marL="0" indent="0">
              <a:spcAft>
                <a:spcPts val="0"/>
              </a:spcAft>
              <a:buNone/>
            </a:pPr>
            <a:r>
              <a:rPr lang="en-GB" sz="1000" dirty="0"/>
              <a:t>  "</a:t>
            </a:r>
            <a:r>
              <a:rPr lang="en-GB" sz="1000" dirty="0" err="1"/>
              <a:t>sent_at</a:t>
            </a:r>
            <a:r>
              <a:rPr lang="en-GB" sz="1000" dirty="0"/>
              <a:t>": "2026-08-03T10:31:36Z",</a:t>
            </a:r>
          </a:p>
          <a:p>
            <a:pPr marL="0" indent="0">
              <a:spcAft>
                <a:spcPts val="0"/>
              </a:spcAft>
              <a:buNone/>
            </a:pPr>
            <a:r>
              <a:rPr lang="en-GB" sz="1000" dirty="0"/>
              <a:t>  "</a:t>
            </a:r>
            <a:r>
              <a:rPr lang="en-GB" sz="1000" dirty="0" err="1"/>
              <a:t>search_name</a:t>
            </a:r>
            <a:r>
              <a:rPr lang="en-GB" sz="1000" dirty="0"/>
              <a:t>": "Test Harness Sample Finding",</a:t>
            </a:r>
          </a:p>
          <a:p>
            <a:pPr marL="0" indent="0">
              <a:spcAft>
                <a:spcPts val="0"/>
              </a:spcAft>
              <a:buNone/>
            </a:pPr>
            <a:r>
              <a:rPr lang="en-GB" sz="1000" dirty="0"/>
              <a:t>  "</a:t>
            </a:r>
            <a:r>
              <a:rPr lang="en-GB" sz="1000" dirty="0" err="1"/>
              <a:t>sid</a:t>
            </a:r>
            <a:r>
              <a:rPr lang="en-GB" sz="1000" dirty="0"/>
              <a:t>": "test-harness-notable_to_perplexity_json-1785753096",</a:t>
            </a:r>
          </a:p>
          <a:p>
            <a:pPr marL="0" indent="0">
              <a:spcAft>
                <a:spcPts val="0"/>
              </a:spcAft>
              <a:buNone/>
            </a:pPr>
            <a:r>
              <a:rPr lang="en-GB" sz="1000" dirty="0"/>
              <a:t>  "app": "search",</a:t>
            </a:r>
          </a:p>
          <a:p>
            <a:pPr marL="0" indent="0">
              <a:spcAft>
                <a:spcPts val="0"/>
              </a:spcAft>
              <a:buNone/>
            </a:pPr>
            <a:r>
              <a:rPr lang="en-GB" sz="1000" dirty="0"/>
              <a:t>  "owner": "admin",</a:t>
            </a:r>
          </a:p>
          <a:p>
            <a:pPr marL="0" indent="0">
              <a:spcAft>
                <a:spcPts val="0"/>
              </a:spcAft>
              <a:buNone/>
            </a:pPr>
            <a:r>
              <a:rPr lang="en-GB" sz="1000" dirty="0"/>
              <a:t>  "</a:t>
            </a:r>
            <a:r>
              <a:rPr lang="en-GB" sz="1000" dirty="0" err="1"/>
              <a:t>results_link</a:t>
            </a:r>
            <a:r>
              <a:rPr lang="en-GB" sz="1000" dirty="0"/>
              <a:t>": "",</a:t>
            </a:r>
          </a:p>
          <a:p>
            <a:pPr marL="0" indent="0">
              <a:spcAft>
                <a:spcPts val="0"/>
              </a:spcAft>
              <a:buNone/>
            </a:pPr>
            <a:r>
              <a:rPr lang="en-GB" sz="1000" dirty="0"/>
              <a:t>  "</a:t>
            </a:r>
            <a:r>
              <a:rPr lang="en-GB" sz="1000" dirty="0" err="1"/>
              <a:t>server_host</a:t>
            </a:r>
            <a:r>
              <a:rPr lang="en-GB" sz="1000" dirty="0"/>
              <a:t>": "localhost",</a:t>
            </a:r>
          </a:p>
          <a:p>
            <a:pPr marL="0" indent="0">
              <a:spcAft>
                <a:spcPts val="0"/>
              </a:spcAft>
              <a:buNone/>
            </a:pPr>
            <a:r>
              <a:rPr lang="en-GB" sz="1000" dirty="0"/>
              <a:t>  "notable": {</a:t>
            </a:r>
          </a:p>
          <a:p>
            <a:pPr marL="0" indent="0">
              <a:spcAft>
                <a:spcPts val="0"/>
              </a:spcAft>
              <a:buNone/>
            </a:pPr>
            <a:r>
              <a:rPr lang="en-GB" sz="1000" dirty="0"/>
              <a:t>    "</a:t>
            </a:r>
            <a:r>
              <a:rPr lang="en-GB" sz="1000" dirty="0" err="1"/>
              <a:t>event_id</a:t>
            </a:r>
            <a:r>
              <a:rPr lang="en-GB" sz="1000" dirty="0"/>
              <a:t>": "5B2F1B0A-0000-0000-0000-TESTHARNESS01",</a:t>
            </a:r>
          </a:p>
          <a:p>
            <a:pPr marL="0" indent="0">
              <a:spcAft>
                <a:spcPts val="0"/>
              </a:spcAft>
              <a:buNone/>
            </a:pPr>
            <a:r>
              <a:rPr lang="en-GB" sz="1000" dirty="0"/>
              <a:t>    "</a:t>
            </a:r>
            <a:r>
              <a:rPr lang="en-GB" sz="1000" dirty="0" err="1"/>
              <a:t>rule_name</a:t>
            </a:r>
            <a:r>
              <a:rPr lang="en-GB" sz="1000" dirty="0"/>
              <a:t>": "Test Harness Sample Finding",</a:t>
            </a:r>
          </a:p>
          <a:p>
            <a:pPr marL="0" indent="0">
              <a:spcAft>
                <a:spcPts val="0"/>
              </a:spcAft>
              <a:buNone/>
            </a:pPr>
            <a:r>
              <a:rPr lang="en-GB" sz="1000" dirty="0"/>
              <a:t>    "</a:t>
            </a:r>
            <a:r>
              <a:rPr lang="en-GB" sz="1000" dirty="0" err="1"/>
              <a:t>search_name</a:t>
            </a:r>
            <a:r>
              <a:rPr lang="en-GB" sz="1000" dirty="0"/>
              <a:t>": "Test Harness Sample Finding",</a:t>
            </a:r>
          </a:p>
          <a:p>
            <a:pPr marL="0" indent="0">
              <a:spcAft>
                <a:spcPts val="0"/>
              </a:spcAft>
              <a:buNone/>
            </a:pPr>
            <a:r>
              <a:rPr lang="en-GB" sz="1000" dirty="0"/>
              <a:t>    "repo": "</a:t>
            </a:r>
            <a:r>
              <a:rPr lang="en-GB" sz="1000" dirty="0" err="1"/>
              <a:t>UnshakeableSaltLtd</a:t>
            </a:r>
            <a:r>
              <a:rPr lang="en-GB" sz="1000" dirty="0"/>
              <a:t>/</a:t>
            </a:r>
            <a:r>
              <a:rPr lang="en-GB" sz="1000" dirty="0" err="1"/>
              <a:t>SplunkConf</a:t>
            </a:r>
            <a:r>
              <a:rPr lang="en-GB" sz="1000" dirty="0"/>
              <a:t>",</a:t>
            </a:r>
          </a:p>
          <a:p>
            <a:pPr marL="0" indent="0">
              <a:spcAft>
                <a:spcPts val="0"/>
              </a:spcAft>
              <a:buNone/>
            </a:pPr>
            <a:r>
              <a:rPr lang="en-GB" sz="1000" dirty="0"/>
              <a:t>    "user": "</a:t>
            </a:r>
            <a:r>
              <a:rPr lang="en-GB" sz="1000" dirty="0" err="1"/>
              <a:t>dpollard</a:t>
            </a:r>
            <a:r>
              <a:rPr lang="en-GB" sz="1000" dirty="0"/>
              <a:t>",</a:t>
            </a:r>
          </a:p>
          <a:p>
            <a:pPr marL="0" indent="0">
              <a:spcAft>
                <a:spcPts val="0"/>
              </a:spcAft>
              <a:buNone/>
            </a:pPr>
            <a:r>
              <a:rPr lang="en-GB" sz="1000" dirty="0"/>
              <a:t>    "</a:t>
            </a:r>
            <a:r>
              <a:rPr lang="en-GB" sz="1000" dirty="0" err="1"/>
              <a:t>src</a:t>
            </a:r>
            <a:r>
              <a:rPr lang="en-GB" sz="1000" dirty="0"/>
              <a:t>": "203.0.113.42",</a:t>
            </a:r>
          </a:p>
          <a:p>
            <a:pPr marL="0" indent="0">
              <a:spcAft>
                <a:spcPts val="0"/>
              </a:spcAft>
              <a:buNone/>
            </a:pPr>
            <a:r>
              <a:rPr lang="en-GB" sz="1000" dirty="0"/>
              <a:t>    "</a:t>
            </a:r>
            <a:r>
              <a:rPr lang="en-GB" sz="1000" dirty="0" err="1"/>
              <a:t>dest</a:t>
            </a:r>
            <a:r>
              <a:rPr lang="en-GB" sz="1000" dirty="0"/>
              <a:t>": "10.0.0.5",</a:t>
            </a:r>
          </a:p>
          <a:p>
            <a:pPr marL="0" indent="0">
              <a:spcAft>
                <a:spcPts val="0"/>
              </a:spcAft>
              <a:buNone/>
            </a:pPr>
            <a:r>
              <a:rPr lang="en-GB" sz="1000" dirty="0"/>
              <a:t>    "signature": "Sample Finding (</a:t>
            </a:r>
            <a:r>
              <a:rPr lang="en-GB" sz="1000" dirty="0" err="1"/>
              <a:t>test_harness.py</a:t>
            </a:r>
            <a:r>
              <a:rPr lang="en-GB" sz="1000" dirty="0"/>
              <a:t>)",</a:t>
            </a:r>
          </a:p>
          <a:p>
            <a:pPr marL="0" indent="0">
              <a:spcAft>
                <a:spcPts val="0"/>
              </a:spcAft>
              <a:buNone/>
            </a:pPr>
            <a:r>
              <a:rPr lang="en-GB" sz="1000" dirty="0"/>
              <a:t>    "urgency": "medium"</a:t>
            </a:r>
          </a:p>
          <a:p>
            <a:pPr marL="0" indent="0">
              <a:spcAft>
                <a:spcPts val="0"/>
              </a:spcAft>
              <a:buNone/>
            </a:pPr>
            <a:r>
              <a:rPr lang="en-GB" sz="1000" dirty="0"/>
              <a:t>  },</a:t>
            </a:r>
          </a:p>
          <a:p>
            <a:pPr marL="0" indent="0">
              <a:spcAft>
                <a:spcPts val="0"/>
              </a:spcAft>
              <a:buNone/>
            </a:pPr>
            <a:r>
              <a:rPr lang="en-GB" sz="1000" dirty="0"/>
              <a:t>  "</a:t>
            </a:r>
            <a:r>
              <a:rPr lang="en-GB" sz="1000" dirty="0" err="1"/>
              <a:t>additional_fields</a:t>
            </a:r>
            <a:r>
              <a:rPr lang="en-GB" sz="1000" dirty="0"/>
              <a:t>": {</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perplexity_ask</a:t>
            </a:r>
            <a:r>
              <a:rPr lang="en-GB" sz="1000" dirty="0">
                <a:solidFill>
                  <a:schemeClr val="accent3">
                    <a:lumMod val="75000"/>
                  </a:schemeClr>
                </a:solidFill>
              </a:rPr>
              <a:t>": {</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repository_check</a:t>
            </a:r>
            <a:r>
              <a:rPr lang="en-GB" sz="1000" dirty="0">
                <a:solidFill>
                  <a:schemeClr val="accent3">
                    <a:lumMod val="75000"/>
                  </a:schemeClr>
                </a:solidFill>
              </a:rPr>
              <a:t>": "Check that </a:t>
            </a:r>
            <a:r>
              <a:rPr lang="en-GB" sz="1000" dirty="0" err="1">
                <a:solidFill>
                  <a:schemeClr val="accent3">
                    <a:lumMod val="75000"/>
                  </a:schemeClr>
                </a:solidFill>
              </a:rPr>
              <a:t>UnshakeableSaltLtd</a:t>
            </a:r>
            <a:r>
              <a:rPr lang="en-GB" sz="1000" dirty="0">
                <a:solidFill>
                  <a:schemeClr val="accent3">
                    <a:lumMod val="75000"/>
                  </a:schemeClr>
                </a:solidFill>
              </a:rPr>
              <a:t>/</a:t>
            </a:r>
            <a:r>
              <a:rPr lang="en-GB" sz="1000" dirty="0" err="1">
                <a:solidFill>
                  <a:schemeClr val="accent3">
                    <a:lumMod val="75000"/>
                  </a:schemeClr>
                </a:solidFill>
              </a:rPr>
              <a:t>SplunkConf</a:t>
            </a:r>
            <a:r>
              <a:rPr lang="en-GB" sz="1000" dirty="0">
                <a:solidFill>
                  <a:schemeClr val="accent3">
                    <a:lumMod val="75000"/>
                  </a:schemeClr>
                </a:solidFill>
              </a:rPr>
              <a:t> is a repository we commonly see associated with this type of finding.",</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user_check</a:t>
            </a:r>
            <a:r>
              <a:rPr lang="en-GB" sz="1000" dirty="0">
                <a:solidFill>
                  <a:schemeClr val="accent3">
                    <a:lumMod val="75000"/>
                  </a:schemeClr>
                </a:solidFill>
              </a:rPr>
              <a:t>": "Check that </a:t>
            </a:r>
            <a:r>
              <a:rPr lang="en-GB" sz="1000" dirty="0" err="1">
                <a:solidFill>
                  <a:schemeClr val="accent3">
                    <a:lumMod val="75000"/>
                  </a:schemeClr>
                </a:solidFill>
              </a:rPr>
              <a:t>dpollard</a:t>
            </a:r>
            <a:r>
              <a:rPr lang="en-GB" sz="1000" dirty="0">
                <a:solidFill>
                  <a:schemeClr val="accent3">
                    <a:lumMod val="75000"/>
                  </a:schemeClr>
                </a:solidFill>
              </a:rPr>
              <a:t> is an expected/authorized user for this kind of activity.",</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source_ip_check</a:t>
            </a:r>
            <a:r>
              <a:rPr lang="en-GB" sz="1000" dirty="0">
                <a:solidFill>
                  <a:schemeClr val="accent3">
                    <a:lumMod val="75000"/>
                  </a:schemeClr>
                </a:solidFill>
              </a:rPr>
              <a:t>": "Check that source IP 203.0.113.42 is low threat (not on any known malicious/blocklist sources)."</a:t>
            </a:r>
          </a:p>
          <a:p>
            <a:pPr marL="0" indent="0">
              <a:spcAft>
                <a:spcPts val="0"/>
              </a:spcAft>
              <a:buNone/>
            </a:pPr>
            <a:r>
              <a:rPr lang="en-GB" sz="1000" dirty="0">
                <a:solidFill>
                  <a:schemeClr val="accent3">
                    <a:lumMod val="75000"/>
                  </a:schemeClr>
                </a:solidFill>
              </a:rPr>
              <a:t>    },</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perplexity_response</a:t>
            </a:r>
            <a:r>
              <a:rPr lang="en-GB" sz="1000" dirty="0">
                <a:solidFill>
                  <a:schemeClr val="accent3">
                    <a:lumMod val="75000"/>
                  </a:schemeClr>
                </a:solidFill>
              </a:rPr>
              <a:t>": {</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repository_check</a:t>
            </a:r>
            <a:r>
              <a:rPr lang="en-GB" sz="1000" dirty="0">
                <a:solidFill>
                  <a:schemeClr val="accent3">
                    <a:lumMod val="75000"/>
                  </a:schemeClr>
                </a:solidFill>
              </a:rPr>
              <a:t>": "</a:t>
            </a:r>
            <a:r>
              <a:rPr lang="en-GB" sz="1000" dirty="0" err="1">
                <a:solidFill>
                  <a:schemeClr val="accent3">
                    <a:lumMod val="75000"/>
                  </a:schemeClr>
                </a:solidFill>
              </a:rPr>
              <a:t>UnshakeableSaltLtd</a:t>
            </a:r>
            <a:r>
              <a:rPr lang="en-GB" sz="1000" dirty="0">
                <a:solidFill>
                  <a:schemeClr val="accent3">
                    <a:lumMod val="75000"/>
                  </a:schemeClr>
                </a:solidFill>
              </a:rPr>
              <a:t>/</a:t>
            </a:r>
            <a:r>
              <a:rPr lang="en-GB" sz="1000" dirty="0" err="1">
                <a:solidFill>
                  <a:schemeClr val="accent3">
                    <a:lumMod val="75000"/>
                  </a:schemeClr>
                </a:solidFill>
              </a:rPr>
              <a:t>SplunkConf</a:t>
            </a:r>
            <a:r>
              <a:rPr lang="en-GB" sz="1000" dirty="0">
                <a:solidFill>
                  <a:schemeClr val="accent3">
                    <a:lumMod val="75000"/>
                  </a:schemeClr>
                </a:solidFill>
              </a:rPr>
              <a:t> is a private internal repo owned by the organization, not a public/third-party repo commonly linked to this finding type; no reputation concerns found.",</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user_check</a:t>
            </a:r>
            <a:r>
              <a:rPr lang="en-GB" sz="1000" dirty="0">
                <a:solidFill>
                  <a:schemeClr val="accent3">
                    <a:lumMod val="75000"/>
                  </a:schemeClr>
                </a:solidFill>
              </a:rPr>
              <a:t>": "</a:t>
            </a:r>
            <a:r>
              <a:rPr lang="en-GB" sz="1000" dirty="0" err="1">
                <a:solidFill>
                  <a:schemeClr val="accent3">
                    <a:lumMod val="75000"/>
                  </a:schemeClr>
                </a:solidFill>
              </a:rPr>
              <a:t>dpollard</a:t>
            </a:r>
            <a:r>
              <a:rPr lang="en-GB" sz="1000" dirty="0">
                <a:solidFill>
                  <a:schemeClr val="accent3">
                    <a:lumMod val="75000"/>
                  </a:schemeClr>
                </a:solidFill>
              </a:rPr>
              <a:t> is a recognized internal user with prior legitimate activity against this repository; no anomaly detected for this action type.",</a:t>
            </a:r>
          </a:p>
          <a:p>
            <a:pPr marL="0" indent="0">
              <a:spcAft>
                <a:spcPts val="0"/>
              </a:spcAft>
              <a:buNone/>
            </a:pPr>
            <a:r>
              <a:rPr lang="en-GB" sz="1000" dirty="0">
                <a:solidFill>
                  <a:schemeClr val="accent3">
                    <a:lumMod val="75000"/>
                  </a:schemeClr>
                </a:solidFill>
              </a:rPr>
              <a:t>      "</a:t>
            </a:r>
            <a:r>
              <a:rPr lang="en-GB" sz="1000" dirty="0" err="1">
                <a:solidFill>
                  <a:schemeClr val="accent3">
                    <a:lumMod val="75000"/>
                  </a:schemeClr>
                </a:solidFill>
              </a:rPr>
              <a:t>source_ip_check</a:t>
            </a:r>
            <a:r>
              <a:rPr lang="en-GB" sz="1000" dirty="0">
                <a:solidFill>
                  <a:schemeClr val="accent3">
                    <a:lumMod val="75000"/>
                  </a:schemeClr>
                </a:solidFill>
              </a:rPr>
              <a:t>": "203.0.113.42 falls in the TEST-NET-3 documentation range (RFC 5737) and is not a real routable/malicious address; treat as low threat only because it is a non-production placeholder IP.",</a:t>
            </a:r>
          </a:p>
          <a:p>
            <a:pPr marL="0" indent="0">
              <a:spcAft>
                <a:spcPts val="0"/>
              </a:spcAft>
              <a:buNone/>
            </a:pPr>
            <a:r>
              <a:rPr lang="en-GB" sz="1000" dirty="0">
                <a:solidFill>
                  <a:schemeClr val="accent3">
                    <a:lumMod val="75000"/>
                  </a:schemeClr>
                </a:solidFill>
              </a:rPr>
              <a:t>      "overall": "No indicators of compromise: the repo and user are both expected/authorized, and the source IP is a benign documentation-range placeholder rather than a real threat source. Low risk overall; no analyst follow-up required beyond routine review."</a:t>
            </a:r>
          </a:p>
          <a:p>
            <a:pPr marL="0" indent="0">
              <a:spcAft>
                <a:spcPts val="0"/>
              </a:spcAft>
              <a:buNone/>
            </a:pPr>
            <a:r>
              <a:rPr lang="en-GB" sz="1000" dirty="0">
                <a:solidFill>
                  <a:schemeClr val="accent3">
                    <a:lumMod val="75000"/>
                  </a:schemeClr>
                </a:solidFill>
              </a:rPr>
              <a:t>    }</a:t>
            </a:r>
          </a:p>
          <a:p>
            <a:pPr marL="0" indent="0">
              <a:spcAft>
                <a:spcPts val="0"/>
              </a:spcAft>
              <a:buNone/>
            </a:pPr>
            <a:r>
              <a:rPr lang="en-GB" sz="1000" dirty="0"/>
              <a:t>  }</a:t>
            </a:r>
          </a:p>
          <a:p>
            <a:pPr marL="0" indent="0">
              <a:spcAft>
                <a:spcPts val="0"/>
              </a:spcAft>
              <a:buNone/>
            </a:pPr>
            <a:r>
              <a:rPr lang="en-GB" sz="1000" dirty="0"/>
              <a:t>}</a:t>
            </a:r>
          </a:p>
        </p:txBody>
      </p:sp>
    </p:spTree>
    <p:extLst>
      <p:ext uri="{BB962C8B-B14F-4D97-AF65-F5344CB8AC3E}">
        <p14:creationId xmlns:p14="http://schemas.microsoft.com/office/powerpoint/2010/main" val="162471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DE18A9B3-4A54-8217-6F8D-CF4EDEE30C1F}"/>
              </a:ext>
            </a:extLst>
          </p:cNvPr>
          <p:cNvSpPr>
            <a:spLocks noGrp="1"/>
          </p:cNvSpPr>
          <p:nvPr>
            <p:ph type="title"/>
          </p:nvPr>
        </p:nvSpPr>
        <p:spPr>
          <a:xfrm>
            <a:off x="323850" y="679378"/>
            <a:ext cx="11544300" cy="492443"/>
          </a:xfrm>
        </p:spPr>
        <p:txBody>
          <a:bodyPr/>
          <a:lstStyle/>
          <a:p>
            <a:r>
              <a:rPr lang="en-GB" dirty="0"/>
              <a:t>Pitfalls We Hit</a:t>
            </a:r>
          </a:p>
        </p:txBody>
      </p:sp>
      <p:sp>
        <p:nvSpPr>
          <p:cNvPr id="19" name="Text Placeholder 18">
            <a:extLst>
              <a:ext uri="{FF2B5EF4-FFF2-40B4-BE49-F238E27FC236}">
                <a16:creationId xmlns:a16="http://schemas.microsoft.com/office/drawing/2014/main" id="{3BDF618D-3814-7949-908B-7DB11662A19D}"/>
              </a:ext>
            </a:extLst>
          </p:cNvPr>
          <p:cNvSpPr>
            <a:spLocks noGrp="1"/>
          </p:cNvSpPr>
          <p:nvPr>
            <p:ph type="body" sz="quarter" idx="14"/>
          </p:nvPr>
        </p:nvSpPr>
        <p:spPr/>
        <p:txBody>
          <a:bodyPr/>
          <a:lstStyle/>
          <a:p>
            <a:pPr marL="0" indent="0">
              <a:buNone/>
            </a:pPr>
            <a:r>
              <a:rPr lang="en-GB" dirty="0"/>
              <a:t>`/services/</a:t>
            </a:r>
            <a:r>
              <a:rPr lang="en-GB" dirty="0" err="1"/>
              <a:t>notable_update</a:t>
            </a:r>
            <a:r>
              <a:rPr lang="en-GB" dirty="0"/>
              <a:t>` </a:t>
            </a:r>
            <a:br>
              <a:rPr lang="en-GB" dirty="0"/>
            </a:br>
            <a:r>
              <a:rPr lang="en-GB" dirty="0"/>
              <a:t>only accepts `comment` / `status` / `urgency` / `</a:t>
            </a:r>
            <a:r>
              <a:rPr lang="en-GB" dirty="0" err="1"/>
              <a:t>newOwner</a:t>
            </a:r>
            <a:r>
              <a:rPr lang="en-GB" dirty="0"/>
              <a:t>` / `disposition`. </a:t>
            </a:r>
            <a:br>
              <a:rPr lang="en-GB" dirty="0"/>
            </a:br>
            <a:br>
              <a:rPr lang="en-GB" dirty="0"/>
            </a:br>
            <a:r>
              <a:rPr lang="en-GB" dirty="0"/>
              <a:t>There is no REST call that attaches a new indexed field to an existing notable after the fact — "notable enrichment" has to fall back to a KV-store + custom-drilldown pattern, plus a plain-text comment for anything visible directly in Incident Review.</a:t>
            </a:r>
          </a:p>
          <a:p>
            <a:endParaRPr lang="en-GB" dirty="0"/>
          </a:p>
        </p:txBody>
      </p:sp>
      <p:sp>
        <p:nvSpPr>
          <p:cNvPr id="20" name="Text Placeholder 19">
            <a:extLst>
              <a:ext uri="{FF2B5EF4-FFF2-40B4-BE49-F238E27FC236}">
                <a16:creationId xmlns:a16="http://schemas.microsoft.com/office/drawing/2014/main" id="{EBE6F815-444B-4C2D-BBE4-1CD19583F892}"/>
              </a:ext>
            </a:extLst>
          </p:cNvPr>
          <p:cNvSpPr>
            <a:spLocks noGrp="1"/>
          </p:cNvSpPr>
          <p:nvPr>
            <p:ph type="body" sz="quarter" idx="15"/>
          </p:nvPr>
        </p:nvSpPr>
        <p:spPr/>
        <p:txBody>
          <a:bodyPr/>
          <a:lstStyle/>
          <a:p>
            <a:pPr marL="0" indent="0">
              <a:buNone/>
            </a:pPr>
            <a:r>
              <a:rPr lang="en-GB" dirty="0"/>
              <a:t>Our first designs had to read a reply back out of Slack, and Incoming Webhooks carry no bot token to do that with — a correlation search wired to `</a:t>
            </a:r>
            <a:r>
              <a:rPr lang="en-GB" dirty="0" err="1"/>
              <a:t>delivery_method</a:t>
            </a:r>
            <a:r>
              <a:rPr lang="en-GB" dirty="0"/>
              <a:t>=webhook` still delivered fine, it just never got a verdict, and nothing errored to tell you.</a:t>
            </a:r>
          </a:p>
          <a:p>
            <a:pPr marL="0" indent="0">
              <a:buNone/>
            </a:pPr>
            <a:r>
              <a:rPr lang="en-GB" dirty="0"/>
              <a:t>Current designs don’t read anything back out of Slack at all, so this entire failure class is gone (not fixed, but removed), by trusting the alert action's own synchronous context instead of a second read path.</a:t>
            </a:r>
          </a:p>
        </p:txBody>
      </p:sp>
      <p:sp>
        <p:nvSpPr>
          <p:cNvPr id="21" name="Snip Single Corner of Rectangle 20">
            <a:extLst>
              <a:ext uri="{FF2B5EF4-FFF2-40B4-BE49-F238E27FC236}">
                <a16:creationId xmlns:a16="http://schemas.microsoft.com/office/drawing/2014/main" id="{363995FB-54F1-0A3B-8FBC-8C8C91E6AC13}"/>
              </a:ext>
            </a:extLst>
          </p:cNvPr>
          <p:cNvSpPr/>
          <p:nvPr/>
        </p:nvSpPr>
        <p:spPr>
          <a:xfrm>
            <a:off x="1" y="1"/>
            <a:ext cx="1617784" cy="343708"/>
          </a:xfrm>
          <a:prstGeom prst="snip1Rect">
            <a:avLst/>
          </a:prstGeom>
          <a:ln/>
        </p:spPr>
        <p:style>
          <a:lnRef idx="0">
            <a:schemeClr val="accent3"/>
          </a:lnRef>
          <a:fillRef idx="3">
            <a:schemeClr val="accent3"/>
          </a:fillRef>
          <a:effectRef idx="3">
            <a:schemeClr val="accent3"/>
          </a:effectRef>
          <a:fontRef idx="minor">
            <a:schemeClr val="lt1"/>
          </a:fontRef>
        </p:style>
        <p:txBody>
          <a:bodyPr wrap="square" lIns="182880" tIns="182880" rIns="182880" bIns="182880" rtlCol="0" anchor="ctr" anchorCtr="0">
            <a:noAutofit/>
          </a:bodyPr>
          <a:lstStyle/>
          <a:p>
            <a:pPr algn="ctr"/>
            <a:r>
              <a:rPr lang="en-GB" sz="1200" dirty="0">
                <a:solidFill>
                  <a:schemeClr val="bg1"/>
                </a:solidFill>
              </a:rPr>
              <a:t>Takeaway #3</a:t>
            </a:r>
          </a:p>
        </p:txBody>
      </p:sp>
      <p:sp>
        <p:nvSpPr>
          <p:cNvPr id="24" name="TextBox 23">
            <a:extLst>
              <a:ext uri="{FF2B5EF4-FFF2-40B4-BE49-F238E27FC236}">
                <a16:creationId xmlns:a16="http://schemas.microsoft.com/office/drawing/2014/main" id="{FF6ECC44-BB1E-89CD-9712-696E6B9AD588}"/>
              </a:ext>
            </a:extLst>
          </p:cNvPr>
          <p:cNvSpPr txBox="1"/>
          <p:nvPr/>
        </p:nvSpPr>
        <p:spPr>
          <a:xfrm>
            <a:off x="160774" y="1949948"/>
            <a:ext cx="5649477" cy="461471"/>
          </a:xfrm>
          <a:prstGeom prst="rect">
            <a:avLst/>
          </a:prstGeom>
          <a:noFill/>
        </p:spPr>
        <p:txBody>
          <a:bodyPr wrap="non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2000" b="1" dirty="0">
                <a:ea typeface="ＭＳ Ｐゴシック" charset="0"/>
              </a:rPr>
              <a:t>Pitfall 1: Notable fields</a:t>
            </a:r>
            <a:endParaRPr lang="en-GB" sz="2000" b="1" kern="1200" dirty="0">
              <a:latin typeface="+mn-lt"/>
              <a:ea typeface="ＭＳ Ｐゴシック" charset="0"/>
            </a:endParaRPr>
          </a:p>
        </p:txBody>
      </p:sp>
      <p:sp>
        <p:nvSpPr>
          <p:cNvPr id="25" name="TextBox 24">
            <a:extLst>
              <a:ext uri="{FF2B5EF4-FFF2-40B4-BE49-F238E27FC236}">
                <a16:creationId xmlns:a16="http://schemas.microsoft.com/office/drawing/2014/main" id="{533234B7-7801-D4BA-4910-0BD2E2DCF653}"/>
              </a:ext>
            </a:extLst>
          </p:cNvPr>
          <p:cNvSpPr txBox="1"/>
          <p:nvPr/>
        </p:nvSpPr>
        <p:spPr>
          <a:xfrm>
            <a:off x="6218673" y="1949947"/>
            <a:ext cx="5649477" cy="461471"/>
          </a:xfrm>
          <a:prstGeom prst="rect">
            <a:avLst/>
          </a:prstGeom>
          <a:noFill/>
        </p:spPr>
        <p:txBody>
          <a:bodyPr wrap="non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2000" b="1" dirty="0">
                <a:ea typeface="ＭＳ Ｐゴシック" charset="0"/>
              </a:rPr>
              <a:t>Pitfall 2: Silent Failures</a:t>
            </a:r>
            <a:endParaRPr lang="en-GB" sz="2000" b="1" kern="1200" dirty="0">
              <a:latin typeface="+mn-lt"/>
              <a:ea typeface="ＭＳ Ｐゴシック" charset="0"/>
            </a:endParaRPr>
          </a:p>
        </p:txBody>
      </p:sp>
    </p:spTree>
    <p:extLst>
      <p:ext uri="{BB962C8B-B14F-4D97-AF65-F5344CB8AC3E}">
        <p14:creationId xmlns:p14="http://schemas.microsoft.com/office/powerpoint/2010/main" val="141613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587A1-4C66-F418-7AC0-1C477E87ABB8}"/>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DD129A9F-0ADC-5350-B16B-11EB0075BF0F}"/>
              </a:ext>
            </a:extLst>
          </p:cNvPr>
          <p:cNvSpPr>
            <a:spLocks noGrp="1"/>
          </p:cNvSpPr>
          <p:nvPr>
            <p:ph type="body" sz="quarter" idx="4294967295"/>
          </p:nvPr>
        </p:nvSpPr>
        <p:spPr>
          <a:xfrm>
            <a:off x="323848" y="2492375"/>
            <a:ext cx="11544301" cy="1868488"/>
          </a:xfrm>
        </p:spPr>
        <p:txBody>
          <a:bodyPr/>
          <a:lstStyle/>
          <a:p>
            <a:pPr marL="0" indent="0">
              <a:buNone/>
            </a:pPr>
            <a:r>
              <a:rPr lang="en-GB" dirty="0"/>
              <a:t>Free-text answers to the original standing checks were </a:t>
            </a:r>
            <a:r>
              <a:rPr lang="en-GB" dirty="0" err="1"/>
              <a:t>unparseable</a:t>
            </a:r>
            <a:r>
              <a:rPr lang="en-GB" dirty="0"/>
              <a:t>. </a:t>
            </a:r>
          </a:p>
          <a:p>
            <a:pPr marL="0" indent="0">
              <a:buNone/>
            </a:pPr>
            <a:r>
              <a:rPr lang="en-GB" dirty="0"/>
              <a:t>The first fix: pin the required JSON shape into the </a:t>
            </a:r>
            <a:r>
              <a:rPr lang="en-GB" b="1" dirty="0"/>
              <a:t>prompt itself</a:t>
            </a:r>
            <a:r>
              <a:rPr lang="en-GB" dirty="0"/>
              <a:t> (`</a:t>
            </a:r>
            <a:r>
              <a:rPr lang="en-GB" dirty="0" err="1"/>
              <a:t>perplexity_ask.reply_format</a:t>
            </a:r>
            <a:r>
              <a:rPr lang="en-GB" dirty="0"/>
              <a:t>`) and have the bridge </a:t>
            </a:r>
            <a:r>
              <a:rPr lang="en-GB" b="1" dirty="0"/>
              <a:t>log-and-skip, not crash</a:t>
            </a:r>
            <a:r>
              <a:rPr lang="en-GB" dirty="0"/>
              <a:t>, on anything that still didn't parse. </a:t>
            </a:r>
          </a:p>
          <a:p>
            <a:pPr marL="0" indent="0">
              <a:buNone/>
            </a:pPr>
            <a:r>
              <a:rPr lang="en-GB" dirty="0"/>
              <a:t>It worked, but it was still prose the model </a:t>
            </a:r>
            <a:r>
              <a:rPr lang="en-GB" b="1" dirty="0"/>
              <a:t>chose </a:t>
            </a:r>
            <a:r>
              <a:rPr lang="en-GB" dirty="0"/>
              <a:t>to format correctly. </a:t>
            </a:r>
          </a:p>
          <a:p>
            <a:pPr marL="0" indent="0">
              <a:buNone/>
            </a:pPr>
            <a:r>
              <a:rPr lang="en-GB" dirty="0"/>
              <a:t>Later fixes go one layer deeper: the Perplexity API's own `</a:t>
            </a:r>
            <a:r>
              <a:rPr lang="en-GB" dirty="0" err="1"/>
              <a:t>response_format</a:t>
            </a:r>
            <a:r>
              <a:rPr lang="en-GB" dirty="0"/>
              <a:t>` (JSON Schema) constrains the output structurally - there's no prose to parse, and no reply-format instruction competing for prompt space with the actual questions.</a:t>
            </a:r>
          </a:p>
        </p:txBody>
      </p:sp>
      <p:sp>
        <p:nvSpPr>
          <p:cNvPr id="4" name="TextBox 3">
            <a:extLst>
              <a:ext uri="{FF2B5EF4-FFF2-40B4-BE49-F238E27FC236}">
                <a16:creationId xmlns:a16="http://schemas.microsoft.com/office/drawing/2014/main" id="{FC3C5367-FD35-26AA-2F41-B3B371C952C7}"/>
              </a:ext>
            </a:extLst>
          </p:cNvPr>
          <p:cNvSpPr txBox="1"/>
          <p:nvPr/>
        </p:nvSpPr>
        <p:spPr>
          <a:xfrm>
            <a:off x="160774" y="1949948"/>
            <a:ext cx="8922936" cy="461471"/>
          </a:xfrm>
          <a:prstGeom prst="rect">
            <a:avLst/>
          </a:prstGeom>
          <a:noFill/>
        </p:spPr>
        <p:txBody>
          <a:bodyPr wrap="non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2000" b="1" dirty="0">
                <a:ea typeface="ＭＳ Ｐゴシック" charset="0"/>
              </a:rPr>
              <a:t>Pitfall 3: Solved once, then solved properly: LLM reply-format drift.</a:t>
            </a:r>
            <a:endParaRPr lang="en-GB" sz="2000" b="1" kern="1200" dirty="0">
              <a:latin typeface="+mn-lt"/>
              <a:ea typeface="ＭＳ Ｐゴシック" charset="0"/>
            </a:endParaRPr>
          </a:p>
        </p:txBody>
      </p:sp>
      <p:sp>
        <p:nvSpPr>
          <p:cNvPr id="5" name="Snip Single Corner of Rectangle 4">
            <a:extLst>
              <a:ext uri="{FF2B5EF4-FFF2-40B4-BE49-F238E27FC236}">
                <a16:creationId xmlns:a16="http://schemas.microsoft.com/office/drawing/2014/main" id="{06B847FE-AFEC-B000-F26E-0A4E4C0B4777}"/>
              </a:ext>
            </a:extLst>
          </p:cNvPr>
          <p:cNvSpPr/>
          <p:nvPr/>
        </p:nvSpPr>
        <p:spPr>
          <a:xfrm>
            <a:off x="1" y="1"/>
            <a:ext cx="1617784" cy="343708"/>
          </a:xfrm>
          <a:prstGeom prst="snip1Rect">
            <a:avLst/>
          </a:prstGeom>
          <a:ln/>
        </p:spPr>
        <p:style>
          <a:lnRef idx="0">
            <a:schemeClr val="accent3"/>
          </a:lnRef>
          <a:fillRef idx="3">
            <a:schemeClr val="accent3"/>
          </a:fillRef>
          <a:effectRef idx="3">
            <a:schemeClr val="accent3"/>
          </a:effectRef>
          <a:fontRef idx="minor">
            <a:schemeClr val="lt1"/>
          </a:fontRef>
        </p:style>
        <p:txBody>
          <a:bodyPr wrap="square" lIns="182880" tIns="182880" rIns="182880" bIns="182880" rtlCol="0" anchor="ctr" anchorCtr="0">
            <a:noAutofit/>
          </a:bodyPr>
          <a:lstStyle/>
          <a:p>
            <a:pPr algn="ctr"/>
            <a:r>
              <a:rPr lang="en-GB" sz="1200" dirty="0">
                <a:solidFill>
                  <a:schemeClr val="bg1"/>
                </a:solidFill>
              </a:rPr>
              <a:t>Takeaway #3</a:t>
            </a:r>
          </a:p>
        </p:txBody>
      </p:sp>
      <p:sp>
        <p:nvSpPr>
          <p:cNvPr id="6" name="Title 14">
            <a:extLst>
              <a:ext uri="{FF2B5EF4-FFF2-40B4-BE49-F238E27FC236}">
                <a16:creationId xmlns:a16="http://schemas.microsoft.com/office/drawing/2014/main" id="{D7478A6C-DA98-CD21-E05F-B9F9071277D8}"/>
              </a:ext>
            </a:extLst>
          </p:cNvPr>
          <p:cNvSpPr txBox="1">
            <a:spLocks/>
          </p:cNvSpPr>
          <p:nvPr/>
        </p:nvSpPr>
        <p:spPr>
          <a:xfrm>
            <a:off x="323850" y="679378"/>
            <a:ext cx="11544300" cy="492443"/>
          </a:xfrm>
          <a:prstGeom prst="rect">
            <a:avLst/>
          </a:prstGeom>
          <a:noFill/>
        </p:spPr>
        <p:txBody>
          <a:bodyPr vert="horz" lIns="0" tIns="0" rIns="0" bIns="0" rtlCol="0" anchor="t">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GB"/>
              <a:t>Pitfalls We Hit</a:t>
            </a:r>
            <a:endParaRPr lang="en-GB" dirty="0"/>
          </a:p>
        </p:txBody>
      </p:sp>
    </p:spTree>
    <p:extLst>
      <p:ext uri="{BB962C8B-B14F-4D97-AF65-F5344CB8AC3E}">
        <p14:creationId xmlns:p14="http://schemas.microsoft.com/office/powerpoint/2010/main" val="345604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2FBA9-76B0-086E-D9F8-BA1C50E4D677}"/>
            </a:ext>
          </a:extLst>
        </p:cNvPr>
        <p:cNvGrpSpPr/>
        <p:nvPr/>
      </p:nvGrpSpPr>
      <p:grpSpPr>
        <a:xfrm>
          <a:off x="0" y="0"/>
          <a:ext cx="0" cy="0"/>
          <a:chOff x="0" y="0"/>
          <a:chExt cx="0" cy="0"/>
        </a:xfrm>
      </p:grpSpPr>
      <p:sp>
        <p:nvSpPr>
          <p:cNvPr id="19" name="Text Placeholder 18">
            <a:extLst>
              <a:ext uri="{FF2B5EF4-FFF2-40B4-BE49-F238E27FC236}">
                <a16:creationId xmlns:a16="http://schemas.microsoft.com/office/drawing/2014/main" id="{E63DCBEF-762C-1054-41A0-A3711884703B}"/>
              </a:ext>
            </a:extLst>
          </p:cNvPr>
          <p:cNvSpPr>
            <a:spLocks noGrp="1"/>
          </p:cNvSpPr>
          <p:nvPr>
            <p:ph type="body" sz="quarter" idx="4294967295"/>
          </p:nvPr>
        </p:nvSpPr>
        <p:spPr>
          <a:xfrm>
            <a:off x="323848" y="2492375"/>
            <a:ext cx="11544301" cy="3124654"/>
          </a:xfrm>
        </p:spPr>
        <p:txBody>
          <a:bodyPr/>
          <a:lstStyle/>
          <a:p>
            <a:pPr marL="0" indent="0">
              <a:buNone/>
            </a:pPr>
            <a:r>
              <a:rPr lang="en-GB" dirty="0"/>
              <a:t>Our initial build used a plain classic scripted input, </a:t>
            </a:r>
          </a:p>
          <a:p>
            <a:pPr>
              <a:spcAft>
                <a:spcPts val="0"/>
              </a:spcAft>
            </a:pPr>
            <a:r>
              <a:rPr lang="en-GB" dirty="0"/>
              <a:t>Not a full `</a:t>
            </a:r>
            <a:r>
              <a:rPr lang="en-GB" dirty="0" err="1"/>
              <a:t>splunklib.modularinput</a:t>
            </a:r>
            <a:r>
              <a:rPr lang="en-GB" dirty="0"/>
              <a:t>` scheme </a:t>
            </a:r>
          </a:p>
          <a:p>
            <a:pPr>
              <a:spcAft>
                <a:spcPts val="0"/>
              </a:spcAft>
            </a:pPr>
            <a:r>
              <a:rPr lang="en-GB" dirty="0"/>
              <a:t>No auto-generated Splunk Web settings page for its custom keys</a:t>
            </a:r>
          </a:p>
          <a:p>
            <a:pPr>
              <a:spcAft>
                <a:spcPts val="0"/>
              </a:spcAft>
            </a:pPr>
            <a:r>
              <a:rPr lang="en-GB" dirty="0"/>
              <a:t>Required a hand-edited `local/</a:t>
            </a:r>
            <a:r>
              <a:rPr lang="en-GB" dirty="0" err="1"/>
              <a:t>inputs.conf</a:t>
            </a:r>
            <a:r>
              <a:rPr lang="en-GB" dirty="0"/>
              <a:t>`</a:t>
            </a:r>
          </a:p>
          <a:p>
            <a:pPr>
              <a:spcAft>
                <a:spcPts val="0"/>
              </a:spcAft>
            </a:pPr>
            <a:endParaRPr lang="en-GB" dirty="0"/>
          </a:p>
          <a:p>
            <a:pPr marL="0" indent="0">
              <a:buNone/>
            </a:pPr>
            <a:r>
              <a:rPr lang="en-GB" dirty="0"/>
              <a:t>That trade-off didn't get fixed with a better input scheme; the team looked at the whole component and decided the </a:t>
            </a:r>
            <a:r>
              <a:rPr lang="en-GB" dirty="0" err="1"/>
              <a:t>poller</a:t>
            </a:r>
            <a:r>
              <a:rPr lang="en-GB" dirty="0"/>
              <a:t> itself wasn’t earning its keep.</a:t>
            </a:r>
            <a:br>
              <a:rPr lang="en-GB" dirty="0"/>
            </a:br>
            <a:br>
              <a:rPr lang="en-GB" dirty="0"/>
            </a:br>
            <a:r>
              <a:rPr lang="en-GB" dirty="0"/>
              <a:t>This is the single clearest "we reacted fast once we saw the operational cost" moment in the whole build.  Go back to Takeaway #2 and see what Splunk provides for you ‘out of the box’.</a:t>
            </a:r>
          </a:p>
        </p:txBody>
      </p:sp>
      <p:sp>
        <p:nvSpPr>
          <p:cNvPr id="4" name="TextBox 3">
            <a:extLst>
              <a:ext uri="{FF2B5EF4-FFF2-40B4-BE49-F238E27FC236}">
                <a16:creationId xmlns:a16="http://schemas.microsoft.com/office/drawing/2014/main" id="{7BBD0D8B-9FBB-B1F4-2AA5-13869D110EB0}"/>
              </a:ext>
            </a:extLst>
          </p:cNvPr>
          <p:cNvSpPr txBox="1"/>
          <p:nvPr/>
        </p:nvSpPr>
        <p:spPr>
          <a:xfrm>
            <a:off x="160774" y="1949948"/>
            <a:ext cx="8922936" cy="461471"/>
          </a:xfrm>
          <a:prstGeom prst="rect">
            <a:avLst/>
          </a:prstGeom>
          <a:noFill/>
        </p:spPr>
        <p:txBody>
          <a:bodyPr wrap="none" lIns="0" tIns="0" rIns="0" bIns="0" rtlCol="0">
            <a:noAutofit/>
          </a:bodyPr>
          <a:lstStyle/>
          <a:p>
            <a:pPr marL="182880" indent="-182880" defTabSz="912276" fontAlgn="base">
              <a:spcAft>
                <a:spcPts val="1000"/>
              </a:spcAft>
              <a:buClr>
                <a:schemeClr val="bg1"/>
              </a:buClr>
              <a:buSzPct val="100000"/>
              <a:buFont typeface="Arial" panose="020B0604020202020204" pitchFamily="34" charset="0"/>
              <a:buChar char="•"/>
            </a:pPr>
            <a:r>
              <a:rPr lang="en-GB" sz="2000" b="1" dirty="0">
                <a:ea typeface="ＭＳ Ｐゴシック" charset="0"/>
              </a:rPr>
              <a:t>Pitfall 4: Scripted Input overheads</a:t>
            </a:r>
            <a:endParaRPr lang="en-GB" sz="2000" b="1" kern="1200" dirty="0">
              <a:latin typeface="+mn-lt"/>
              <a:ea typeface="ＭＳ Ｐゴシック" charset="0"/>
            </a:endParaRPr>
          </a:p>
        </p:txBody>
      </p:sp>
      <p:sp>
        <p:nvSpPr>
          <p:cNvPr id="5" name="Snip Single Corner of Rectangle 4">
            <a:extLst>
              <a:ext uri="{FF2B5EF4-FFF2-40B4-BE49-F238E27FC236}">
                <a16:creationId xmlns:a16="http://schemas.microsoft.com/office/drawing/2014/main" id="{DD6C20C1-52E1-D941-00E4-7A36BD8395CF}"/>
              </a:ext>
            </a:extLst>
          </p:cNvPr>
          <p:cNvSpPr/>
          <p:nvPr/>
        </p:nvSpPr>
        <p:spPr>
          <a:xfrm>
            <a:off x="1" y="1"/>
            <a:ext cx="1617784" cy="343708"/>
          </a:xfrm>
          <a:prstGeom prst="snip1Rect">
            <a:avLst/>
          </a:prstGeom>
          <a:ln/>
        </p:spPr>
        <p:style>
          <a:lnRef idx="0">
            <a:schemeClr val="accent3"/>
          </a:lnRef>
          <a:fillRef idx="3">
            <a:schemeClr val="accent3"/>
          </a:fillRef>
          <a:effectRef idx="3">
            <a:schemeClr val="accent3"/>
          </a:effectRef>
          <a:fontRef idx="minor">
            <a:schemeClr val="lt1"/>
          </a:fontRef>
        </p:style>
        <p:txBody>
          <a:bodyPr wrap="square" lIns="182880" tIns="182880" rIns="182880" bIns="182880" rtlCol="0" anchor="ctr" anchorCtr="0">
            <a:noAutofit/>
          </a:bodyPr>
          <a:lstStyle/>
          <a:p>
            <a:pPr algn="ctr"/>
            <a:r>
              <a:rPr lang="en-GB" sz="1200" dirty="0">
                <a:solidFill>
                  <a:schemeClr val="bg1"/>
                </a:solidFill>
              </a:rPr>
              <a:t>Takeaway #3</a:t>
            </a:r>
          </a:p>
        </p:txBody>
      </p:sp>
      <p:sp>
        <p:nvSpPr>
          <p:cNvPr id="2" name="Title 14">
            <a:extLst>
              <a:ext uri="{FF2B5EF4-FFF2-40B4-BE49-F238E27FC236}">
                <a16:creationId xmlns:a16="http://schemas.microsoft.com/office/drawing/2014/main" id="{773BB3D8-B2DA-102F-E546-EED15B5D6055}"/>
              </a:ext>
            </a:extLst>
          </p:cNvPr>
          <p:cNvSpPr txBox="1">
            <a:spLocks/>
          </p:cNvSpPr>
          <p:nvPr/>
        </p:nvSpPr>
        <p:spPr>
          <a:xfrm>
            <a:off x="323850" y="679378"/>
            <a:ext cx="11544300" cy="492443"/>
          </a:xfrm>
          <a:prstGeom prst="rect">
            <a:avLst/>
          </a:prstGeom>
          <a:noFill/>
        </p:spPr>
        <p:txBody>
          <a:bodyPr vert="horz" lIns="0" tIns="0" rIns="0" bIns="0" rtlCol="0" anchor="t">
            <a:noAutofit/>
          </a:bodyPr>
          <a:lstStyle>
            <a:lvl1pPr marL="0" indent="0" algn="l" defTabSz="912276" rtl="0" eaLnBrk="1" fontAlgn="base" hangingPunct="1">
              <a:lnSpc>
                <a:spcPct val="90000"/>
              </a:lnSpc>
              <a:spcBef>
                <a:spcPct val="0"/>
              </a:spcBef>
              <a:spcAft>
                <a:spcPct val="0"/>
              </a:spcAft>
              <a:buClrTx/>
              <a:buSzPct val="70000"/>
              <a:buFont typeface="Arial" panose="020B0604020202020204" pitchFamily="34" charset="0"/>
              <a:buNone/>
              <a:defRPr lang="en-US" sz="3200" b="0" i="0" u="none" kern="1200">
                <a:solidFill>
                  <a:schemeClr val="tx1"/>
                </a:solidFill>
                <a:latin typeface="+mj-lt"/>
                <a:ea typeface="Inter Light" panose="02000503000000020004" pitchFamily="2" charset="0"/>
                <a:cs typeface="CiscoSansTT Thin" charset="0"/>
              </a:defRPr>
            </a:lvl1pPr>
            <a:lvl2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2pPr>
            <a:lvl3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3pPr>
            <a:lvl4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4pPr>
            <a:lvl5pPr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5pPr>
            <a:lvl6pPr marL="60959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6pPr>
            <a:lvl7pPr marL="1219190"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7pPr>
            <a:lvl8pPr marL="1828785"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8pPr>
            <a:lvl9pPr marL="2438379" algn="l" defTabSz="912276" rtl="0" eaLnBrk="1" fontAlgn="base" hangingPunct="1">
              <a:lnSpc>
                <a:spcPct val="80000"/>
              </a:lnSpc>
              <a:spcBef>
                <a:spcPct val="0"/>
              </a:spcBef>
              <a:spcAft>
                <a:spcPct val="0"/>
              </a:spcAft>
              <a:defRPr sz="4267">
                <a:solidFill>
                  <a:srgbClr val="676767"/>
                </a:solidFill>
                <a:latin typeface="Arial" charset="0"/>
                <a:ea typeface="ＭＳ Ｐゴシック" charset="0"/>
              </a:defRPr>
            </a:lvl9pPr>
          </a:lstStyle>
          <a:p>
            <a:r>
              <a:rPr lang="en-GB"/>
              <a:t>Pitfalls We Hit</a:t>
            </a:r>
            <a:endParaRPr lang="en-GB" dirty="0"/>
          </a:p>
        </p:txBody>
      </p:sp>
    </p:spTree>
    <p:extLst>
      <p:ext uri="{BB962C8B-B14F-4D97-AF65-F5344CB8AC3E}">
        <p14:creationId xmlns:p14="http://schemas.microsoft.com/office/powerpoint/2010/main" val="3626131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20F37-534A-0E39-E6D7-62008E00BE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602243-4198-B829-5762-E8B24B44D90D}"/>
              </a:ext>
            </a:extLst>
          </p:cNvPr>
          <p:cNvSpPr>
            <a:spLocks noGrp="1"/>
          </p:cNvSpPr>
          <p:nvPr>
            <p:ph type="title"/>
          </p:nvPr>
        </p:nvSpPr>
        <p:spPr/>
        <p:txBody>
          <a:bodyPr/>
          <a:lstStyle/>
          <a:p>
            <a:r>
              <a:rPr lang="en-US" sz="2400" dirty="0"/>
              <a:t>From Zero to Agentic: Building Your First AI-Driven Threat Investigation in Splunk Enterprise Security</a:t>
            </a:r>
          </a:p>
        </p:txBody>
      </p:sp>
      <p:sp>
        <p:nvSpPr>
          <p:cNvPr id="31" name="Freeform 101" descr="Icon of two people talking representing &quot;Advisory&quot;">
            <a:extLst>
              <a:ext uri="{FF2B5EF4-FFF2-40B4-BE49-F238E27FC236}">
                <a16:creationId xmlns:a16="http://schemas.microsoft.com/office/drawing/2014/main" id="{9B8D24EE-B4E5-7391-3AB3-56A56591412A}"/>
              </a:ext>
            </a:extLst>
          </p:cNvPr>
          <p:cNvSpPr>
            <a:spLocks noChangeAspect="1"/>
          </p:cNvSpPr>
          <p:nvPr/>
        </p:nvSpPr>
        <p:spPr>
          <a:xfrm>
            <a:off x="1316620" y="2183005"/>
            <a:ext cx="448808" cy="457200"/>
          </a:xfrm>
          <a:custGeom>
            <a:avLst/>
            <a:gdLst>
              <a:gd name="connsiteX0" fmla="*/ 381762 w 585787"/>
              <a:gd name="connsiteY0" fmla="*/ 339566 h 596741"/>
              <a:gd name="connsiteX1" fmla="*/ 454724 w 585787"/>
              <a:gd name="connsiteY1" fmla="*/ 413385 h 596741"/>
              <a:gd name="connsiteX2" fmla="*/ 527685 w 585787"/>
              <a:gd name="connsiteY2" fmla="*/ 339566 h 596741"/>
              <a:gd name="connsiteX3" fmla="*/ 454724 w 585787"/>
              <a:gd name="connsiteY3" fmla="*/ 265748 h 596741"/>
              <a:gd name="connsiteX4" fmla="*/ 381762 w 585787"/>
              <a:gd name="connsiteY4" fmla="*/ 339566 h 596741"/>
              <a:gd name="connsiteX5" fmla="*/ 513493 w 585787"/>
              <a:gd name="connsiteY5" fmla="*/ 339566 h 596741"/>
              <a:gd name="connsiteX6" fmla="*/ 454819 w 585787"/>
              <a:gd name="connsiteY6" fmla="*/ 399098 h 596741"/>
              <a:gd name="connsiteX7" fmla="*/ 396145 w 585787"/>
              <a:gd name="connsiteY7" fmla="*/ 339566 h 596741"/>
              <a:gd name="connsiteX8" fmla="*/ 454819 w 585787"/>
              <a:gd name="connsiteY8" fmla="*/ 280035 h 596741"/>
              <a:gd name="connsiteX9" fmla="*/ 513493 w 585787"/>
              <a:gd name="connsiteY9" fmla="*/ 339566 h 596741"/>
              <a:gd name="connsiteX10" fmla="*/ 571500 w 585787"/>
              <a:gd name="connsiteY10" fmla="*/ 596741 h 596741"/>
              <a:gd name="connsiteX11" fmla="*/ 571500 w 585787"/>
              <a:gd name="connsiteY11" fmla="*/ 501491 h 596741"/>
              <a:gd name="connsiteX12" fmla="*/ 516731 w 585787"/>
              <a:gd name="connsiteY12" fmla="*/ 451485 h 596741"/>
              <a:gd name="connsiteX13" fmla="*/ 392906 w 585787"/>
              <a:gd name="connsiteY13" fmla="*/ 451485 h 596741"/>
              <a:gd name="connsiteX14" fmla="*/ 338137 w 585787"/>
              <a:gd name="connsiteY14" fmla="*/ 501491 h 596741"/>
              <a:gd name="connsiteX15" fmla="*/ 338137 w 585787"/>
              <a:gd name="connsiteY15" fmla="*/ 596741 h 596741"/>
              <a:gd name="connsiteX16" fmla="*/ 323850 w 585787"/>
              <a:gd name="connsiteY16" fmla="*/ 596741 h 596741"/>
              <a:gd name="connsiteX17" fmla="*/ 323850 w 585787"/>
              <a:gd name="connsiteY17" fmla="*/ 501491 h 596741"/>
              <a:gd name="connsiteX18" fmla="*/ 392906 w 585787"/>
              <a:gd name="connsiteY18" fmla="*/ 437198 h 596741"/>
              <a:gd name="connsiteX19" fmla="*/ 516731 w 585787"/>
              <a:gd name="connsiteY19" fmla="*/ 437198 h 596741"/>
              <a:gd name="connsiteX20" fmla="*/ 585788 w 585787"/>
              <a:gd name="connsiteY20" fmla="*/ 501491 h 596741"/>
              <a:gd name="connsiteX21" fmla="*/ 585788 w 585787"/>
              <a:gd name="connsiteY21" fmla="*/ 596741 h 596741"/>
              <a:gd name="connsiteX22" fmla="*/ 571500 w 585787"/>
              <a:gd name="connsiteY22" fmla="*/ 596741 h 596741"/>
              <a:gd name="connsiteX23" fmla="*/ 130969 w 585787"/>
              <a:gd name="connsiteY23" fmla="*/ 413385 h 596741"/>
              <a:gd name="connsiteX24" fmla="*/ 203930 w 585787"/>
              <a:gd name="connsiteY24" fmla="*/ 339566 h 596741"/>
              <a:gd name="connsiteX25" fmla="*/ 130969 w 585787"/>
              <a:gd name="connsiteY25" fmla="*/ 265748 h 596741"/>
              <a:gd name="connsiteX26" fmla="*/ 58007 w 585787"/>
              <a:gd name="connsiteY26" fmla="*/ 339566 h 596741"/>
              <a:gd name="connsiteX27" fmla="*/ 130969 w 585787"/>
              <a:gd name="connsiteY27" fmla="*/ 413385 h 596741"/>
              <a:gd name="connsiteX28" fmla="*/ 130969 w 585787"/>
              <a:gd name="connsiteY28" fmla="*/ 280035 h 596741"/>
              <a:gd name="connsiteX29" fmla="*/ 189643 w 585787"/>
              <a:gd name="connsiteY29" fmla="*/ 339566 h 596741"/>
              <a:gd name="connsiteX30" fmla="*/ 130969 w 585787"/>
              <a:gd name="connsiteY30" fmla="*/ 399098 h 596741"/>
              <a:gd name="connsiteX31" fmla="*/ 72295 w 585787"/>
              <a:gd name="connsiteY31" fmla="*/ 339566 h 596741"/>
              <a:gd name="connsiteX32" fmla="*/ 130969 w 585787"/>
              <a:gd name="connsiteY32" fmla="*/ 280035 h 596741"/>
              <a:gd name="connsiteX33" fmla="*/ 14288 w 585787"/>
              <a:gd name="connsiteY33" fmla="*/ 596741 h 596741"/>
              <a:gd name="connsiteX34" fmla="*/ 0 w 585787"/>
              <a:gd name="connsiteY34" fmla="*/ 596741 h 596741"/>
              <a:gd name="connsiteX35" fmla="*/ 0 w 585787"/>
              <a:gd name="connsiteY35" fmla="*/ 501491 h 596741"/>
              <a:gd name="connsiteX36" fmla="*/ 69056 w 585787"/>
              <a:gd name="connsiteY36" fmla="*/ 437198 h 596741"/>
              <a:gd name="connsiteX37" fmla="*/ 192881 w 585787"/>
              <a:gd name="connsiteY37" fmla="*/ 437198 h 596741"/>
              <a:gd name="connsiteX38" fmla="*/ 261937 w 585787"/>
              <a:gd name="connsiteY38" fmla="*/ 501491 h 596741"/>
              <a:gd name="connsiteX39" fmla="*/ 261937 w 585787"/>
              <a:gd name="connsiteY39" fmla="*/ 596741 h 596741"/>
              <a:gd name="connsiteX40" fmla="*/ 247650 w 585787"/>
              <a:gd name="connsiteY40" fmla="*/ 596741 h 596741"/>
              <a:gd name="connsiteX41" fmla="*/ 247650 w 585787"/>
              <a:gd name="connsiteY41" fmla="*/ 501491 h 596741"/>
              <a:gd name="connsiteX42" fmla="*/ 192881 w 585787"/>
              <a:gd name="connsiteY42" fmla="*/ 451485 h 596741"/>
              <a:gd name="connsiteX43" fmla="*/ 69056 w 585787"/>
              <a:gd name="connsiteY43" fmla="*/ 451485 h 596741"/>
              <a:gd name="connsiteX44" fmla="*/ 14288 w 585787"/>
              <a:gd name="connsiteY44" fmla="*/ 501491 h 596741"/>
              <a:gd name="connsiteX45" fmla="*/ 14288 w 585787"/>
              <a:gd name="connsiteY45" fmla="*/ 596741 h 596741"/>
              <a:gd name="connsiteX46" fmla="*/ 213931 w 585787"/>
              <a:gd name="connsiteY46" fmla="*/ 259461 h 596741"/>
              <a:gd name="connsiteX47" fmla="*/ 216694 w 585787"/>
              <a:gd name="connsiteY47" fmla="*/ 260128 h 596741"/>
              <a:gd name="connsiteX48" fmla="*/ 220504 w 585787"/>
              <a:gd name="connsiteY48" fmla="*/ 258889 h 596741"/>
              <a:gd name="connsiteX49" fmla="*/ 294989 w 585787"/>
              <a:gd name="connsiteY49" fmla="*/ 202978 h 596741"/>
              <a:gd name="connsiteX50" fmla="*/ 403003 w 585787"/>
              <a:gd name="connsiteY50" fmla="*/ 202978 h 596741"/>
              <a:gd name="connsiteX51" fmla="*/ 451580 w 585787"/>
              <a:gd name="connsiteY51" fmla="*/ 157067 h 596741"/>
              <a:gd name="connsiteX52" fmla="*/ 451580 w 585787"/>
              <a:gd name="connsiteY52" fmla="*/ 45910 h 596741"/>
              <a:gd name="connsiteX53" fmla="*/ 403003 w 585787"/>
              <a:gd name="connsiteY53" fmla="*/ 0 h 596741"/>
              <a:gd name="connsiteX54" fmla="*/ 182880 w 585787"/>
              <a:gd name="connsiteY54" fmla="*/ 0 h 596741"/>
              <a:gd name="connsiteX55" fmla="*/ 134303 w 585787"/>
              <a:gd name="connsiteY55" fmla="*/ 45910 h 596741"/>
              <a:gd name="connsiteX56" fmla="*/ 134303 w 585787"/>
              <a:gd name="connsiteY56" fmla="*/ 157067 h 596741"/>
              <a:gd name="connsiteX57" fmla="*/ 182880 w 585787"/>
              <a:gd name="connsiteY57" fmla="*/ 202978 h 596741"/>
              <a:gd name="connsiteX58" fmla="*/ 210503 w 585787"/>
              <a:gd name="connsiteY58" fmla="*/ 202978 h 596741"/>
              <a:gd name="connsiteX59" fmla="*/ 210503 w 585787"/>
              <a:gd name="connsiteY59" fmla="*/ 253841 h 596741"/>
              <a:gd name="connsiteX60" fmla="*/ 213931 w 585787"/>
              <a:gd name="connsiteY60" fmla="*/ 259461 h 596741"/>
              <a:gd name="connsiteX61" fmla="*/ 182880 w 585787"/>
              <a:gd name="connsiteY61" fmla="*/ 190405 h 596741"/>
              <a:gd name="connsiteX62" fmla="*/ 146780 w 585787"/>
              <a:gd name="connsiteY62" fmla="*/ 156972 h 596741"/>
              <a:gd name="connsiteX63" fmla="*/ 146780 w 585787"/>
              <a:gd name="connsiteY63" fmla="*/ 45815 h 596741"/>
              <a:gd name="connsiteX64" fmla="*/ 182880 w 585787"/>
              <a:gd name="connsiteY64" fmla="*/ 12382 h 596741"/>
              <a:gd name="connsiteX65" fmla="*/ 403003 w 585787"/>
              <a:gd name="connsiteY65" fmla="*/ 12382 h 596741"/>
              <a:gd name="connsiteX66" fmla="*/ 439103 w 585787"/>
              <a:gd name="connsiteY66" fmla="*/ 45815 h 596741"/>
              <a:gd name="connsiteX67" fmla="*/ 439103 w 585787"/>
              <a:gd name="connsiteY67" fmla="*/ 156972 h 596741"/>
              <a:gd name="connsiteX68" fmla="*/ 403003 w 585787"/>
              <a:gd name="connsiteY68" fmla="*/ 190405 h 596741"/>
              <a:gd name="connsiteX69" fmla="*/ 292894 w 585787"/>
              <a:gd name="connsiteY69" fmla="*/ 190405 h 596741"/>
              <a:gd name="connsiteX70" fmla="*/ 289084 w 585787"/>
              <a:gd name="connsiteY70" fmla="*/ 191643 h 596741"/>
              <a:gd name="connsiteX71" fmla="*/ 222885 w 585787"/>
              <a:gd name="connsiteY71" fmla="*/ 241268 h 596741"/>
              <a:gd name="connsiteX72" fmla="*/ 222885 w 585787"/>
              <a:gd name="connsiteY72" fmla="*/ 196691 h 596741"/>
              <a:gd name="connsiteX73" fmla="*/ 216599 w 585787"/>
              <a:gd name="connsiteY73" fmla="*/ 190405 h 596741"/>
              <a:gd name="connsiteX74" fmla="*/ 182690 w 585787"/>
              <a:gd name="connsiteY74" fmla="*/ 190405 h 59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85787" h="596741">
                <a:moveTo>
                  <a:pt x="381762" y="339566"/>
                </a:moveTo>
                <a:cubicBezTo>
                  <a:pt x="381762" y="380238"/>
                  <a:pt x="414528" y="413385"/>
                  <a:pt x="454724" y="413385"/>
                </a:cubicBezTo>
                <a:cubicBezTo>
                  <a:pt x="494919" y="413385"/>
                  <a:pt x="527685" y="380238"/>
                  <a:pt x="527685" y="339566"/>
                </a:cubicBezTo>
                <a:cubicBezTo>
                  <a:pt x="527685" y="298895"/>
                  <a:pt x="494919" y="265748"/>
                  <a:pt x="454724" y="265748"/>
                </a:cubicBezTo>
                <a:cubicBezTo>
                  <a:pt x="414528" y="265748"/>
                  <a:pt x="381762" y="298895"/>
                  <a:pt x="381762" y="339566"/>
                </a:cubicBezTo>
                <a:close/>
                <a:moveTo>
                  <a:pt x="513493" y="339566"/>
                </a:moveTo>
                <a:cubicBezTo>
                  <a:pt x="513493" y="372428"/>
                  <a:pt x="487109" y="399098"/>
                  <a:pt x="454819" y="399098"/>
                </a:cubicBezTo>
                <a:cubicBezTo>
                  <a:pt x="422529" y="399098"/>
                  <a:pt x="396145" y="372428"/>
                  <a:pt x="396145" y="339566"/>
                </a:cubicBezTo>
                <a:cubicBezTo>
                  <a:pt x="396145" y="306705"/>
                  <a:pt x="422529" y="280035"/>
                  <a:pt x="454819" y="280035"/>
                </a:cubicBezTo>
                <a:cubicBezTo>
                  <a:pt x="487109" y="280035"/>
                  <a:pt x="513493" y="306705"/>
                  <a:pt x="513493" y="339566"/>
                </a:cubicBezTo>
                <a:close/>
                <a:moveTo>
                  <a:pt x="571500" y="596741"/>
                </a:moveTo>
                <a:lnTo>
                  <a:pt x="571500" y="501491"/>
                </a:lnTo>
                <a:cubicBezTo>
                  <a:pt x="571500" y="473869"/>
                  <a:pt x="546926" y="451485"/>
                  <a:pt x="516731" y="451485"/>
                </a:cubicBezTo>
                <a:lnTo>
                  <a:pt x="392906" y="451485"/>
                </a:lnTo>
                <a:cubicBezTo>
                  <a:pt x="362712" y="451485"/>
                  <a:pt x="338137" y="473869"/>
                  <a:pt x="338137" y="501491"/>
                </a:cubicBezTo>
                <a:lnTo>
                  <a:pt x="338137" y="596741"/>
                </a:lnTo>
                <a:lnTo>
                  <a:pt x="323850" y="596741"/>
                </a:lnTo>
                <a:lnTo>
                  <a:pt x="323850" y="501491"/>
                </a:lnTo>
                <a:cubicBezTo>
                  <a:pt x="323850" y="466058"/>
                  <a:pt x="354806" y="437198"/>
                  <a:pt x="392906" y="437198"/>
                </a:cubicBezTo>
                <a:lnTo>
                  <a:pt x="516731" y="437198"/>
                </a:lnTo>
                <a:cubicBezTo>
                  <a:pt x="554831" y="437198"/>
                  <a:pt x="585788" y="466058"/>
                  <a:pt x="585788" y="501491"/>
                </a:cubicBezTo>
                <a:lnTo>
                  <a:pt x="585788" y="596741"/>
                </a:lnTo>
                <a:lnTo>
                  <a:pt x="571500" y="596741"/>
                </a:lnTo>
                <a:close/>
                <a:moveTo>
                  <a:pt x="130969" y="413385"/>
                </a:moveTo>
                <a:cubicBezTo>
                  <a:pt x="171260" y="413385"/>
                  <a:pt x="203930" y="380238"/>
                  <a:pt x="203930" y="339566"/>
                </a:cubicBezTo>
                <a:cubicBezTo>
                  <a:pt x="203930" y="298895"/>
                  <a:pt x="171164" y="265748"/>
                  <a:pt x="130969" y="265748"/>
                </a:cubicBezTo>
                <a:cubicBezTo>
                  <a:pt x="90773" y="265748"/>
                  <a:pt x="58007" y="298895"/>
                  <a:pt x="58007" y="339566"/>
                </a:cubicBezTo>
                <a:cubicBezTo>
                  <a:pt x="58007" y="380238"/>
                  <a:pt x="90773" y="413385"/>
                  <a:pt x="130969" y="413385"/>
                </a:cubicBezTo>
                <a:close/>
                <a:moveTo>
                  <a:pt x="130969" y="280035"/>
                </a:moveTo>
                <a:cubicBezTo>
                  <a:pt x="163354" y="280035"/>
                  <a:pt x="189643" y="306705"/>
                  <a:pt x="189643" y="339566"/>
                </a:cubicBezTo>
                <a:cubicBezTo>
                  <a:pt x="189643" y="372428"/>
                  <a:pt x="163259" y="399098"/>
                  <a:pt x="130969" y="399098"/>
                </a:cubicBezTo>
                <a:cubicBezTo>
                  <a:pt x="98679" y="399098"/>
                  <a:pt x="72295" y="372428"/>
                  <a:pt x="72295" y="339566"/>
                </a:cubicBezTo>
                <a:cubicBezTo>
                  <a:pt x="72295" y="306705"/>
                  <a:pt x="98679" y="280035"/>
                  <a:pt x="130969" y="280035"/>
                </a:cubicBezTo>
                <a:close/>
                <a:moveTo>
                  <a:pt x="14288" y="596741"/>
                </a:moveTo>
                <a:lnTo>
                  <a:pt x="0" y="596741"/>
                </a:lnTo>
                <a:lnTo>
                  <a:pt x="0" y="501491"/>
                </a:lnTo>
                <a:cubicBezTo>
                  <a:pt x="0" y="466058"/>
                  <a:pt x="30956" y="437198"/>
                  <a:pt x="69056" y="437198"/>
                </a:cubicBezTo>
                <a:lnTo>
                  <a:pt x="192881" y="437198"/>
                </a:lnTo>
                <a:cubicBezTo>
                  <a:pt x="230981" y="437198"/>
                  <a:pt x="261937" y="466058"/>
                  <a:pt x="261937" y="501491"/>
                </a:cubicBezTo>
                <a:lnTo>
                  <a:pt x="261937" y="596741"/>
                </a:lnTo>
                <a:lnTo>
                  <a:pt x="247650" y="596741"/>
                </a:lnTo>
                <a:lnTo>
                  <a:pt x="247650" y="501491"/>
                </a:lnTo>
                <a:cubicBezTo>
                  <a:pt x="247650" y="473869"/>
                  <a:pt x="223076" y="451485"/>
                  <a:pt x="192881" y="451485"/>
                </a:cubicBezTo>
                <a:lnTo>
                  <a:pt x="69056" y="451485"/>
                </a:lnTo>
                <a:cubicBezTo>
                  <a:pt x="38862" y="451485"/>
                  <a:pt x="14288" y="473869"/>
                  <a:pt x="14288" y="501491"/>
                </a:cubicBezTo>
                <a:lnTo>
                  <a:pt x="14288" y="596741"/>
                </a:lnTo>
                <a:close/>
                <a:moveTo>
                  <a:pt x="213931" y="259461"/>
                </a:moveTo>
                <a:cubicBezTo>
                  <a:pt x="214789" y="259937"/>
                  <a:pt x="215741" y="260128"/>
                  <a:pt x="216694" y="260128"/>
                </a:cubicBezTo>
                <a:cubicBezTo>
                  <a:pt x="218027" y="260128"/>
                  <a:pt x="219361" y="259747"/>
                  <a:pt x="220504" y="258889"/>
                </a:cubicBezTo>
                <a:lnTo>
                  <a:pt x="294989" y="202978"/>
                </a:lnTo>
                <a:lnTo>
                  <a:pt x="403003" y="202978"/>
                </a:lnTo>
                <a:cubicBezTo>
                  <a:pt x="429768" y="202978"/>
                  <a:pt x="451580" y="182404"/>
                  <a:pt x="451580" y="157067"/>
                </a:cubicBezTo>
                <a:lnTo>
                  <a:pt x="451580" y="45910"/>
                </a:lnTo>
                <a:cubicBezTo>
                  <a:pt x="451580" y="20574"/>
                  <a:pt x="429768" y="0"/>
                  <a:pt x="403003" y="0"/>
                </a:cubicBezTo>
                <a:lnTo>
                  <a:pt x="182880" y="0"/>
                </a:lnTo>
                <a:cubicBezTo>
                  <a:pt x="156115" y="0"/>
                  <a:pt x="134303" y="20574"/>
                  <a:pt x="134303" y="45910"/>
                </a:cubicBezTo>
                <a:lnTo>
                  <a:pt x="134303" y="157067"/>
                </a:lnTo>
                <a:cubicBezTo>
                  <a:pt x="134303" y="182404"/>
                  <a:pt x="156115" y="202978"/>
                  <a:pt x="182880" y="202978"/>
                </a:cubicBezTo>
                <a:lnTo>
                  <a:pt x="210503" y="202978"/>
                </a:lnTo>
                <a:lnTo>
                  <a:pt x="210503" y="253841"/>
                </a:lnTo>
                <a:cubicBezTo>
                  <a:pt x="210503" y="256223"/>
                  <a:pt x="211836" y="258413"/>
                  <a:pt x="213931" y="259461"/>
                </a:cubicBezTo>
                <a:close/>
                <a:moveTo>
                  <a:pt x="182880" y="190405"/>
                </a:moveTo>
                <a:cubicBezTo>
                  <a:pt x="162973" y="190405"/>
                  <a:pt x="146780" y="175451"/>
                  <a:pt x="146780" y="156972"/>
                </a:cubicBezTo>
                <a:lnTo>
                  <a:pt x="146780" y="45815"/>
                </a:lnTo>
                <a:cubicBezTo>
                  <a:pt x="146780" y="27432"/>
                  <a:pt x="162973" y="12382"/>
                  <a:pt x="182880" y="12382"/>
                </a:cubicBezTo>
                <a:lnTo>
                  <a:pt x="403003" y="12382"/>
                </a:lnTo>
                <a:cubicBezTo>
                  <a:pt x="422910" y="12382"/>
                  <a:pt x="439103" y="27337"/>
                  <a:pt x="439103" y="45815"/>
                </a:cubicBezTo>
                <a:lnTo>
                  <a:pt x="439103" y="156972"/>
                </a:lnTo>
                <a:cubicBezTo>
                  <a:pt x="439103" y="175355"/>
                  <a:pt x="422910" y="190405"/>
                  <a:pt x="403003" y="190405"/>
                </a:cubicBezTo>
                <a:lnTo>
                  <a:pt x="292894" y="190405"/>
                </a:lnTo>
                <a:cubicBezTo>
                  <a:pt x="291560" y="190405"/>
                  <a:pt x="290227" y="190881"/>
                  <a:pt x="289084" y="191643"/>
                </a:cubicBezTo>
                <a:lnTo>
                  <a:pt x="222885" y="241268"/>
                </a:lnTo>
                <a:lnTo>
                  <a:pt x="222885" y="196691"/>
                </a:lnTo>
                <a:cubicBezTo>
                  <a:pt x="222885" y="193262"/>
                  <a:pt x="220123" y="190405"/>
                  <a:pt x="216599" y="190405"/>
                </a:cubicBezTo>
                <a:lnTo>
                  <a:pt x="182690" y="190405"/>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9" name="TextBox 8">
            <a:extLst>
              <a:ext uri="{FF2B5EF4-FFF2-40B4-BE49-F238E27FC236}">
                <a16:creationId xmlns:a16="http://schemas.microsoft.com/office/drawing/2014/main" id="{131C8A89-45AD-A0CD-436F-168C33F0881E}"/>
              </a:ext>
            </a:extLst>
          </p:cNvPr>
          <p:cNvSpPr txBox="1"/>
          <p:nvPr/>
        </p:nvSpPr>
        <p:spPr>
          <a:xfrm>
            <a:off x="1308233" y="2835011"/>
            <a:ext cx="2741481" cy="307777"/>
          </a:xfrm>
          <a:prstGeom prst="rect">
            <a:avLst/>
          </a:prstGeom>
          <a:noFill/>
        </p:spPr>
        <p:txBody>
          <a:bodyPr wrap="square" lIns="0" tIns="0" rIns="0" bIns="0" rtlCol="0">
            <a:spAutoFit/>
          </a:bodyPr>
          <a:lstStyle/>
          <a:p>
            <a:pPr algn="l" defTabSz="912276" rtl="0" eaLnBrk="1" fontAlgn="base" hangingPunct="1">
              <a:lnSpc>
                <a:spcPct val="100000"/>
              </a:lnSpc>
              <a:spcBef>
                <a:spcPts val="0"/>
              </a:spcBef>
              <a:spcAft>
                <a:spcPts val="1000"/>
              </a:spcAft>
              <a:buClr>
                <a:schemeClr val="bg1"/>
              </a:buClr>
              <a:buSzPct val="100000"/>
            </a:pPr>
            <a:r>
              <a:rPr lang="en-US" sz="2000" kern="1200" dirty="0">
                <a:latin typeface="Inter" panose="02000503000000020004" pitchFamily="2" charset="0"/>
                <a:ea typeface="ＭＳ Ｐゴシック" charset="0"/>
              </a:rPr>
              <a:t>Takeaway #1</a:t>
            </a:r>
          </a:p>
        </p:txBody>
      </p:sp>
      <p:sp>
        <p:nvSpPr>
          <p:cNvPr id="8" name="TextBox 7">
            <a:extLst>
              <a:ext uri="{FF2B5EF4-FFF2-40B4-BE49-F238E27FC236}">
                <a16:creationId xmlns:a16="http://schemas.microsoft.com/office/drawing/2014/main" id="{D577D841-EE9D-EFFC-7624-6E2D3FB0448C}"/>
              </a:ext>
            </a:extLst>
          </p:cNvPr>
          <p:cNvSpPr txBox="1"/>
          <p:nvPr/>
        </p:nvSpPr>
        <p:spPr>
          <a:xfrm>
            <a:off x="1308232" y="3301082"/>
            <a:ext cx="2741482" cy="1359346"/>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Theres no such thing as being capable, quick, private and cheap.</a:t>
            </a:r>
            <a:endParaRPr lang="en-US" sz="1600" kern="1200" dirty="0">
              <a:latin typeface="Inter" panose="02000503000000020004" pitchFamily="2" charset="0"/>
              <a:ea typeface="ＭＳ Ｐゴシック" charset="0"/>
            </a:endParaRPr>
          </a:p>
          <a:p>
            <a:pPr defTabSz="912276" fontAlgn="base">
              <a:spcAft>
                <a:spcPts val="1000"/>
              </a:spcAft>
              <a:buClr>
                <a:schemeClr val="bg1"/>
              </a:buClr>
              <a:buSzPct val="100000"/>
            </a:pPr>
            <a:r>
              <a:rPr lang="en-US" sz="1600" dirty="0">
                <a:latin typeface="Inter" panose="02000503000000020004" pitchFamily="2" charset="0"/>
                <a:ea typeface="ＭＳ Ｐゴシック" charset="0"/>
              </a:rPr>
              <a:t>Leverage what you have and what you know.</a:t>
            </a:r>
            <a:endParaRPr lang="en-US" sz="1600" kern="1200" dirty="0">
              <a:latin typeface="Inter" panose="02000503000000020004" pitchFamily="2" charset="0"/>
              <a:ea typeface="ＭＳ Ｐゴシック" charset="0"/>
            </a:endParaRPr>
          </a:p>
        </p:txBody>
      </p:sp>
      <p:sp>
        <p:nvSpPr>
          <p:cNvPr id="29" name="Freeform 212" descr="Icon of a group of people's head in a circle  representing &quot;Collaboration&quot;">
            <a:extLst>
              <a:ext uri="{FF2B5EF4-FFF2-40B4-BE49-F238E27FC236}">
                <a16:creationId xmlns:a16="http://schemas.microsoft.com/office/drawing/2014/main" id="{EEC7B9F1-303A-E975-8DB3-E662C3279576}"/>
              </a:ext>
            </a:extLst>
          </p:cNvPr>
          <p:cNvSpPr>
            <a:spLocks noChangeAspect="1"/>
          </p:cNvSpPr>
          <p:nvPr/>
        </p:nvSpPr>
        <p:spPr>
          <a:xfrm>
            <a:off x="4720256" y="2183005"/>
            <a:ext cx="457200" cy="457200"/>
          </a:xfrm>
          <a:custGeom>
            <a:avLst/>
            <a:gdLst>
              <a:gd name="connsiteX0" fmla="*/ 152400 w 609600"/>
              <a:gd name="connsiteY0" fmla="*/ 259556 h 609600"/>
              <a:gd name="connsiteX1" fmla="*/ 107156 w 609600"/>
              <a:gd name="connsiteY1" fmla="*/ 304800 h 609600"/>
              <a:gd name="connsiteX2" fmla="*/ 152400 w 609600"/>
              <a:gd name="connsiteY2" fmla="*/ 350044 h 609600"/>
              <a:gd name="connsiteX3" fmla="*/ 197644 w 609600"/>
              <a:gd name="connsiteY3" fmla="*/ 304800 h 609600"/>
              <a:gd name="connsiteX4" fmla="*/ 152400 w 609600"/>
              <a:gd name="connsiteY4" fmla="*/ 259556 h 609600"/>
              <a:gd name="connsiteX5" fmla="*/ 152400 w 609600"/>
              <a:gd name="connsiteY5" fmla="*/ 335756 h 609600"/>
              <a:gd name="connsiteX6" fmla="*/ 121444 w 609600"/>
              <a:gd name="connsiteY6" fmla="*/ 304800 h 609600"/>
              <a:gd name="connsiteX7" fmla="*/ 152400 w 609600"/>
              <a:gd name="connsiteY7" fmla="*/ 273844 h 609600"/>
              <a:gd name="connsiteX8" fmla="*/ 183356 w 609600"/>
              <a:gd name="connsiteY8" fmla="*/ 304800 h 609600"/>
              <a:gd name="connsiteX9" fmla="*/ 152400 w 609600"/>
              <a:gd name="connsiteY9" fmla="*/ 335756 h 609600"/>
              <a:gd name="connsiteX10" fmla="*/ 411956 w 609600"/>
              <a:gd name="connsiteY10" fmla="*/ 304800 h 609600"/>
              <a:gd name="connsiteX11" fmla="*/ 457200 w 609600"/>
              <a:gd name="connsiteY11" fmla="*/ 350044 h 609600"/>
              <a:gd name="connsiteX12" fmla="*/ 502444 w 609600"/>
              <a:gd name="connsiteY12" fmla="*/ 304800 h 609600"/>
              <a:gd name="connsiteX13" fmla="*/ 457200 w 609600"/>
              <a:gd name="connsiteY13" fmla="*/ 259556 h 609600"/>
              <a:gd name="connsiteX14" fmla="*/ 411956 w 609600"/>
              <a:gd name="connsiteY14" fmla="*/ 304800 h 609600"/>
              <a:gd name="connsiteX15" fmla="*/ 457200 w 609600"/>
              <a:gd name="connsiteY15" fmla="*/ 273844 h 609600"/>
              <a:gd name="connsiteX16" fmla="*/ 488156 w 609600"/>
              <a:gd name="connsiteY16" fmla="*/ 304800 h 609600"/>
              <a:gd name="connsiteX17" fmla="*/ 457200 w 609600"/>
              <a:gd name="connsiteY17" fmla="*/ 335756 h 609600"/>
              <a:gd name="connsiteX18" fmla="*/ 426244 w 609600"/>
              <a:gd name="connsiteY18" fmla="*/ 304800 h 609600"/>
              <a:gd name="connsiteX19" fmla="*/ 457200 w 609600"/>
              <a:gd name="connsiteY19" fmla="*/ 273844 h 609600"/>
              <a:gd name="connsiteX20" fmla="*/ 304800 w 609600"/>
              <a:gd name="connsiteY20" fmla="*/ 411956 h 609600"/>
              <a:gd name="connsiteX21" fmla="*/ 259556 w 609600"/>
              <a:gd name="connsiteY21" fmla="*/ 457200 h 609600"/>
              <a:gd name="connsiteX22" fmla="*/ 304800 w 609600"/>
              <a:gd name="connsiteY22" fmla="*/ 502444 h 609600"/>
              <a:gd name="connsiteX23" fmla="*/ 350044 w 609600"/>
              <a:gd name="connsiteY23" fmla="*/ 457200 h 609600"/>
              <a:gd name="connsiteX24" fmla="*/ 304800 w 609600"/>
              <a:gd name="connsiteY24" fmla="*/ 411956 h 609600"/>
              <a:gd name="connsiteX25" fmla="*/ 304800 w 609600"/>
              <a:gd name="connsiteY25" fmla="*/ 488156 h 609600"/>
              <a:gd name="connsiteX26" fmla="*/ 273844 w 609600"/>
              <a:gd name="connsiteY26" fmla="*/ 457200 h 609600"/>
              <a:gd name="connsiteX27" fmla="*/ 304800 w 609600"/>
              <a:gd name="connsiteY27" fmla="*/ 426244 h 609600"/>
              <a:gd name="connsiteX28" fmla="*/ 335756 w 609600"/>
              <a:gd name="connsiteY28" fmla="*/ 457200 h 609600"/>
              <a:gd name="connsiteX29" fmla="*/ 304800 w 609600"/>
              <a:gd name="connsiteY29" fmla="*/ 488156 h 609600"/>
              <a:gd name="connsiteX30" fmla="*/ 304800 w 609600"/>
              <a:gd name="connsiteY30" fmla="*/ 107156 h 609600"/>
              <a:gd name="connsiteX31" fmla="*/ 259556 w 609600"/>
              <a:gd name="connsiteY31" fmla="*/ 152400 h 609600"/>
              <a:gd name="connsiteX32" fmla="*/ 304800 w 609600"/>
              <a:gd name="connsiteY32" fmla="*/ 197644 h 609600"/>
              <a:gd name="connsiteX33" fmla="*/ 350044 w 609600"/>
              <a:gd name="connsiteY33" fmla="*/ 152400 h 609600"/>
              <a:gd name="connsiteX34" fmla="*/ 304800 w 609600"/>
              <a:gd name="connsiteY34" fmla="*/ 107156 h 609600"/>
              <a:gd name="connsiteX35" fmla="*/ 304800 w 609600"/>
              <a:gd name="connsiteY35" fmla="*/ 183356 h 609600"/>
              <a:gd name="connsiteX36" fmla="*/ 273844 w 609600"/>
              <a:gd name="connsiteY36" fmla="*/ 152400 h 609600"/>
              <a:gd name="connsiteX37" fmla="*/ 304800 w 609600"/>
              <a:gd name="connsiteY37" fmla="*/ 121444 h 609600"/>
              <a:gd name="connsiteX38" fmla="*/ 335756 w 609600"/>
              <a:gd name="connsiteY38" fmla="*/ 152400 h 609600"/>
              <a:gd name="connsiteX39" fmla="*/ 304800 w 609600"/>
              <a:gd name="connsiteY39" fmla="*/ 183356 h 609600"/>
              <a:gd name="connsiteX40" fmla="*/ 444532 w 609600"/>
              <a:gd name="connsiteY40" fmla="*/ 444532 h 609600"/>
              <a:gd name="connsiteX41" fmla="*/ 444532 w 609600"/>
              <a:gd name="connsiteY41" fmla="*/ 380524 h 609600"/>
              <a:gd name="connsiteX42" fmla="*/ 380524 w 609600"/>
              <a:gd name="connsiteY42" fmla="*/ 380524 h 609600"/>
              <a:gd name="connsiteX43" fmla="*/ 367284 w 609600"/>
              <a:gd name="connsiteY43" fmla="*/ 412528 h 609600"/>
              <a:gd name="connsiteX44" fmla="*/ 380524 w 609600"/>
              <a:gd name="connsiteY44" fmla="*/ 444532 h 609600"/>
              <a:gd name="connsiteX45" fmla="*/ 412528 w 609600"/>
              <a:gd name="connsiteY45" fmla="*/ 457772 h 609600"/>
              <a:gd name="connsiteX46" fmla="*/ 444532 w 609600"/>
              <a:gd name="connsiteY46" fmla="*/ 444532 h 609600"/>
              <a:gd name="connsiteX47" fmla="*/ 390620 w 609600"/>
              <a:gd name="connsiteY47" fmla="*/ 434435 h 609600"/>
              <a:gd name="connsiteX48" fmla="*/ 381572 w 609600"/>
              <a:gd name="connsiteY48" fmla="*/ 412528 h 609600"/>
              <a:gd name="connsiteX49" fmla="*/ 390620 w 609600"/>
              <a:gd name="connsiteY49" fmla="*/ 390620 h 609600"/>
              <a:gd name="connsiteX50" fmla="*/ 412528 w 609600"/>
              <a:gd name="connsiteY50" fmla="*/ 381572 h 609600"/>
              <a:gd name="connsiteX51" fmla="*/ 434435 w 609600"/>
              <a:gd name="connsiteY51" fmla="*/ 390620 h 609600"/>
              <a:gd name="connsiteX52" fmla="*/ 434435 w 609600"/>
              <a:gd name="connsiteY52" fmla="*/ 434435 h 609600"/>
              <a:gd name="connsiteX53" fmla="*/ 390620 w 609600"/>
              <a:gd name="connsiteY53" fmla="*/ 434435 h 609600"/>
              <a:gd name="connsiteX54" fmla="*/ 242221 w 609600"/>
              <a:gd name="connsiteY54" fmla="*/ 196977 h 609600"/>
              <a:gd name="connsiteX55" fmla="*/ 228981 w 609600"/>
              <a:gd name="connsiteY55" fmla="*/ 164973 h 609600"/>
              <a:gd name="connsiteX56" fmla="*/ 164973 w 609600"/>
              <a:gd name="connsiteY56" fmla="*/ 164973 h 609600"/>
              <a:gd name="connsiteX57" fmla="*/ 164973 w 609600"/>
              <a:gd name="connsiteY57" fmla="*/ 228981 h 609600"/>
              <a:gd name="connsiteX58" fmla="*/ 196977 w 609600"/>
              <a:gd name="connsiteY58" fmla="*/ 242221 h 609600"/>
              <a:gd name="connsiteX59" fmla="*/ 228981 w 609600"/>
              <a:gd name="connsiteY59" fmla="*/ 228981 h 609600"/>
              <a:gd name="connsiteX60" fmla="*/ 242221 w 609600"/>
              <a:gd name="connsiteY60" fmla="*/ 196977 h 609600"/>
              <a:gd name="connsiteX61" fmla="*/ 218885 w 609600"/>
              <a:gd name="connsiteY61" fmla="*/ 218885 h 609600"/>
              <a:gd name="connsiteX62" fmla="*/ 175069 w 609600"/>
              <a:gd name="connsiteY62" fmla="*/ 218885 h 609600"/>
              <a:gd name="connsiteX63" fmla="*/ 175069 w 609600"/>
              <a:gd name="connsiteY63" fmla="*/ 175069 h 609600"/>
              <a:gd name="connsiteX64" fmla="*/ 196977 w 609600"/>
              <a:gd name="connsiteY64" fmla="*/ 166021 h 609600"/>
              <a:gd name="connsiteX65" fmla="*/ 218885 w 609600"/>
              <a:gd name="connsiteY65" fmla="*/ 175069 h 609600"/>
              <a:gd name="connsiteX66" fmla="*/ 227933 w 609600"/>
              <a:gd name="connsiteY66" fmla="*/ 196977 h 609600"/>
              <a:gd name="connsiteX67" fmla="*/ 218885 w 609600"/>
              <a:gd name="connsiteY67" fmla="*/ 218885 h 609600"/>
              <a:gd name="connsiteX68" fmla="*/ 228981 w 609600"/>
              <a:gd name="connsiteY68" fmla="*/ 444532 h 609600"/>
              <a:gd name="connsiteX69" fmla="*/ 242221 w 609600"/>
              <a:gd name="connsiteY69" fmla="*/ 412528 h 609600"/>
              <a:gd name="connsiteX70" fmla="*/ 228981 w 609600"/>
              <a:gd name="connsiteY70" fmla="*/ 380524 h 609600"/>
              <a:gd name="connsiteX71" fmla="*/ 164973 w 609600"/>
              <a:gd name="connsiteY71" fmla="*/ 380524 h 609600"/>
              <a:gd name="connsiteX72" fmla="*/ 164973 w 609600"/>
              <a:gd name="connsiteY72" fmla="*/ 444532 h 609600"/>
              <a:gd name="connsiteX73" fmla="*/ 196977 w 609600"/>
              <a:gd name="connsiteY73" fmla="*/ 457772 h 609600"/>
              <a:gd name="connsiteX74" fmla="*/ 228981 w 609600"/>
              <a:gd name="connsiteY74" fmla="*/ 444532 h 609600"/>
              <a:gd name="connsiteX75" fmla="*/ 175069 w 609600"/>
              <a:gd name="connsiteY75" fmla="*/ 390620 h 609600"/>
              <a:gd name="connsiteX76" fmla="*/ 196977 w 609600"/>
              <a:gd name="connsiteY76" fmla="*/ 381572 h 609600"/>
              <a:gd name="connsiteX77" fmla="*/ 218885 w 609600"/>
              <a:gd name="connsiteY77" fmla="*/ 390620 h 609600"/>
              <a:gd name="connsiteX78" fmla="*/ 227933 w 609600"/>
              <a:gd name="connsiteY78" fmla="*/ 412528 h 609600"/>
              <a:gd name="connsiteX79" fmla="*/ 218885 w 609600"/>
              <a:gd name="connsiteY79" fmla="*/ 434435 h 609600"/>
              <a:gd name="connsiteX80" fmla="*/ 175069 w 609600"/>
              <a:gd name="connsiteY80" fmla="*/ 434435 h 609600"/>
              <a:gd name="connsiteX81" fmla="*/ 175069 w 609600"/>
              <a:gd name="connsiteY81" fmla="*/ 390620 h 609600"/>
              <a:gd name="connsiteX82" fmla="*/ 380524 w 609600"/>
              <a:gd name="connsiteY82" fmla="*/ 164973 h 609600"/>
              <a:gd name="connsiteX83" fmla="*/ 367284 w 609600"/>
              <a:gd name="connsiteY83" fmla="*/ 196977 h 609600"/>
              <a:gd name="connsiteX84" fmla="*/ 380524 w 609600"/>
              <a:gd name="connsiteY84" fmla="*/ 228981 h 609600"/>
              <a:gd name="connsiteX85" fmla="*/ 412528 w 609600"/>
              <a:gd name="connsiteY85" fmla="*/ 242221 h 609600"/>
              <a:gd name="connsiteX86" fmla="*/ 444532 w 609600"/>
              <a:gd name="connsiteY86" fmla="*/ 228981 h 609600"/>
              <a:gd name="connsiteX87" fmla="*/ 444532 w 609600"/>
              <a:gd name="connsiteY87" fmla="*/ 164973 h 609600"/>
              <a:gd name="connsiteX88" fmla="*/ 380524 w 609600"/>
              <a:gd name="connsiteY88" fmla="*/ 164973 h 609600"/>
              <a:gd name="connsiteX89" fmla="*/ 434435 w 609600"/>
              <a:gd name="connsiteY89" fmla="*/ 218885 h 609600"/>
              <a:gd name="connsiteX90" fmla="*/ 390620 w 609600"/>
              <a:gd name="connsiteY90" fmla="*/ 218885 h 609600"/>
              <a:gd name="connsiteX91" fmla="*/ 381572 w 609600"/>
              <a:gd name="connsiteY91" fmla="*/ 196977 h 609600"/>
              <a:gd name="connsiteX92" fmla="*/ 390620 w 609600"/>
              <a:gd name="connsiteY92" fmla="*/ 175069 h 609600"/>
              <a:gd name="connsiteX93" fmla="*/ 412528 w 609600"/>
              <a:gd name="connsiteY93" fmla="*/ 166021 h 609600"/>
              <a:gd name="connsiteX94" fmla="*/ 434435 w 609600"/>
              <a:gd name="connsiteY94" fmla="*/ 175069 h 609600"/>
              <a:gd name="connsiteX95" fmla="*/ 434435 w 609600"/>
              <a:gd name="connsiteY95" fmla="*/ 218885 h 609600"/>
              <a:gd name="connsiteX96" fmla="*/ 590550 w 609600"/>
              <a:gd name="connsiteY96" fmla="*/ 221456 h 609600"/>
              <a:gd name="connsiteX97" fmla="*/ 609600 w 609600"/>
              <a:gd name="connsiteY97" fmla="*/ 221456 h 609600"/>
              <a:gd name="connsiteX98" fmla="*/ 609600 w 609600"/>
              <a:gd name="connsiteY98" fmla="*/ 235744 h 609600"/>
              <a:gd name="connsiteX99" fmla="*/ 590550 w 609600"/>
              <a:gd name="connsiteY99" fmla="*/ 235744 h 609600"/>
              <a:gd name="connsiteX100" fmla="*/ 540544 w 609600"/>
              <a:gd name="connsiteY100" fmla="*/ 285750 h 609600"/>
              <a:gd name="connsiteX101" fmla="*/ 540544 w 609600"/>
              <a:gd name="connsiteY101" fmla="*/ 323850 h 609600"/>
              <a:gd name="connsiteX102" fmla="*/ 590550 w 609600"/>
              <a:gd name="connsiteY102" fmla="*/ 373856 h 609600"/>
              <a:gd name="connsiteX103" fmla="*/ 609600 w 609600"/>
              <a:gd name="connsiteY103" fmla="*/ 373856 h 609600"/>
              <a:gd name="connsiteX104" fmla="*/ 609600 w 609600"/>
              <a:gd name="connsiteY104" fmla="*/ 388144 h 609600"/>
              <a:gd name="connsiteX105" fmla="*/ 590550 w 609600"/>
              <a:gd name="connsiteY105" fmla="*/ 388144 h 609600"/>
              <a:gd name="connsiteX106" fmla="*/ 526256 w 609600"/>
              <a:gd name="connsiteY106" fmla="*/ 323850 h 609600"/>
              <a:gd name="connsiteX107" fmla="*/ 526256 w 609600"/>
              <a:gd name="connsiteY107" fmla="*/ 285750 h 609600"/>
              <a:gd name="connsiteX108" fmla="*/ 590550 w 609600"/>
              <a:gd name="connsiteY108" fmla="*/ 221456 h 609600"/>
              <a:gd name="connsiteX109" fmla="*/ 19050 w 609600"/>
              <a:gd name="connsiteY109" fmla="*/ 388144 h 609600"/>
              <a:gd name="connsiteX110" fmla="*/ 0 w 609600"/>
              <a:gd name="connsiteY110" fmla="*/ 388144 h 609600"/>
              <a:gd name="connsiteX111" fmla="*/ 0 w 609600"/>
              <a:gd name="connsiteY111" fmla="*/ 373856 h 609600"/>
              <a:gd name="connsiteX112" fmla="*/ 19050 w 609600"/>
              <a:gd name="connsiteY112" fmla="*/ 373856 h 609600"/>
              <a:gd name="connsiteX113" fmla="*/ 69056 w 609600"/>
              <a:gd name="connsiteY113" fmla="*/ 323850 h 609600"/>
              <a:gd name="connsiteX114" fmla="*/ 69056 w 609600"/>
              <a:gd name="connsiteY114" fmla="*/ 285750 h 609600"/>
              <a:gd name="connsiteX115" fmla="*/ 19050 w 609600"/>
              <a:gd name="connsiteY115" fmla="*/ 235744 h 609600"/>
              <a:gd name="connsiteX116" fmla="*/ 0 w 609600"/>
              <a:gd name="connsiteY116" fmla="*/ 235744 h 609600"/>
              <a:gd name="connsiteX117" fmla="*/ 0 w 609600"/>
              <a:gd name="connsiteY117" fmla="*/ 221456 h 609600"/>
              <a:gd name="connsiteX118" fmla="*/ 19050 w 609600"/>
              <a:gd name="connsiteY118" fmla="*/ 221456 h 609600"/>
              <a:gd name="connsiteX119" fmla="*/ 83344 w 609600"/>
              <a:gd name="connsiteY119" fmla="*/ 285750 h 609600"/>
              <a:gd name="connsiteX120" fmla="*/ 83344 w 609600"/>
              <a:gd name="connsiteY120" fmla="*/ 323850 h 609600"/>
              <a:gd name="connsiteX121" fmla="*/ 19050 w 609600"/>
              <a:gd name="connsiteY121" fmla="*/ 388144 h 609600"/>
              <a:gd name="connsiteX122" fmla="*/ 373856 w 609600"/>
              <a:gd name="connsiteY122" fmla="*/ 609600 h 609600"/>
              <a:gd name="connsiteX123" fmla="*/ 373856 w 609600"/>
              <a:gd name="connsiteY123" fmla="*/ 590550 h 609600"/>
              <a:gd name="connsiteX124" fmla="*/ 323850 w 609600"/>
              <a:gd name="connsiteY124" fmla="*/ 540544 h 609600"/>
              <a:gd name="connsiteX125" fmla="*/ 285750 w 609600"/>
              <a:gd name="connsiteY125" fmla="*/ 540544 h 609600"/>
              <a:gd name="connsiteX126" fmla="*/ 235744 w 609600"/>
              <a:gd name="connsiteY126" fmla="*/ 590550 h 609600"/>
              <a:gd name="connsiteX127" fmla="*/ 235744 w 609600"/>
              <a:gd name="connsiteY127" fmla="*/ 609600 h 609600"/>
              <a:gd name="connsiteX128" fmla="*/ 221456 w 609600"/>
              <a:gd name="connsiteY128" fmla="*/ 609600 h 609600"/>
              <a:gd name="connsiteX129" fmla="*/ 221456 w 609600"/>
              <a:gd name="connsiteY129" fmla="*/ 590550 h 609600"/>
              <a:gd name="connsiteX130" fmla="*/ 285750 w 609600"/>
              <a:gd name="connsiteY130" fmla="*/ 526256 h 609600"/>
              <a:gd name="connsiteX131" fmla="*/ 323850 w 609600"/>
              <a:gd name="connsiteY131" fmla="*/ 526256 h 609600"/>
              <a:gd name="connsiteX132" fmla="*/ 388144 w 609600"/>
              <a:gd name="connsiteY132" fmla="*/ 590550 h 609600"/>
              <a:gd name="connsiteX133" fmla="*/ 388144 w 609600"/>
              <a:gd name="connsiteY133" fmla="*/ 609600 h 609600"/>
              <a:gd name="connsiteX134" fmla="*/ 373856 w 609600"/>
              <a:gd name="connsiteY134" fmla="*/ 609600 h 609600"/>
              <a:gd name="connsiteX135" fmla="*/ 323850 w 609600"/>
              <a:gd name="connsiteY135" fmla="*/ 83344 h 609600"/>
              <a:gd name="connsiteX136" fmla="*/ 285750 w 609600"/>
              <a:gd name="connsiteY136" fmla="*/ 83344 h 609600"/>
              <a:gd name="connsiteX137" fmla="*/ 221456 w 609600"/>
              <a:gd name="connsiteY137" fmla="*/ 19050 h 609600"/>
              <a:gd name="connsiteX138" fmla="*/ 221456 w 609600"/>
              <a:gd name="connsiteY138" fmla="*/ 0 h 609600"/>
              <a:gd name="connsiteX139" fmla="*/ 235744 w 609600"/>
              <a:gd name="connsiteY139" fmla="*/ 0 h 609600"/>
              <a:gd name="connsiteX140" fmla="*/ 235744 w 609600"/>
              <a:gd name="connsiteY140" fmla="*/ 19050 h 609600"/>
              <a:gd name="connsiteX141" fmla="*/ 285750 w 609600"/>
              <a:gd name="connsiteY141" fmla="*/ 69056 h 609600"/>
              <a:gd name="connsiteX142" fmla="*/ 323850 w 609600"/>
              <a:gd name="connsiteY142" fmla="*/ 69056 h 609600"/>
              <a:gd name="connsiteX143" fmla="*/ 373856 w 609600"/>
              <a:gd name="connsiteY143" fmla="*/ 19050 h 609600"/>
              <a:gd name="connsiteX144" fmla="*/ 373856 w 609600"/>
              <a:gd name="connsiteY144" fmla="*/ 0 h 609600"/>
              <a:gd name="connsiteX145" fmla="*/ 388144 w 609600"/>
              <a:gd name="connsiteY145" fmla="*/ 0 h 609600"/>
              <a:gd name="connsiteX146" fmla="*/ 388144 w 609600"/>
              <a:gd name="connsiteY146" fmla="*/ 19050 h 609600"/>
              <a:gd name="connsiteX147" fmla="*/ 323850 w 609600"/>
              <a:gd name="connsiteY147" fmla="*/ 83344 h 609600"/>
              <a:gd name="connsiteX148" fmla="*/ 53912 w 609600"/>
              <a:gd name="connsiteY148" fmla="*/ 151543 h 609600"/>
              <a:gd name="connsiteX149" fmla="*/ 124587 w 609600"/>
              <a:gd name="connsiteY149" fmla="*/ 151543 h 609600"/>
              <a:gd name="connsiteX150" fmla="*/ 151543 w 609600"/>
              <a:gd name="connsiteY150" fmla="*/ 124587 h 609600"/>
              <a:gd name="connsiteX151" fmla="*/ 166211 w 609600"/>
              <a:gd name="connsiteY151" fmla="*/ 89249 h 609600"/>
              <a:gd name="connsiteX152" fmla="*/ 151543 w 609600"/>
              <a:gd name="connsiteY152" fmla="*/ 53912 h 609600"/>
              <a:gd name="connsiteX153" fmla="*/ 138113 w 609600"/>
              <a:gd name="connsiteY153" fmla="*/ 40481 h 609600"/>
              <a:gd name="connsiteX154" fmla="*/ 148209 w 609600"/>
              <a:gd name="connsiteY154" fmla="*/ 30385 h 609600"/>
              <a:gd name="connsiteX155" fmla="*/ 161639 w 609600"/>
              <a:gd name="connsiteY155" fmla="*/ 43815 h 609600"/>
              <a:gd name="connsiteX156" fmla="*/ 180499 w 609600"/>
              <a:gd name="connsiteY156" fmla="*/ 89249 h 609600"/>
              <a:gd name="connsiteX157" fmla="*/ 161639 w 609600"/>
              <a:gd name="connsiteY157" fmla="*/ 134684 h 609600"/>
              <a:gd name="connsiteX158" fmla="*/ 134684 w 609600"/>
              <a:gd name="connsiteY158" fmla="*/ 161639 h 609600"/>
              <a:gd name="connsiteX159" fmla="*/ 89249 w 609600"/>
              <a:gd name="connsiteY159" fmla="*/ 180404 h 609600"/>
              <a:gd name="connsiteX160" fmla="*/ 43815 w 609600"/>
              <a:gd name="connsiteY160" fmla="*/ 161639 h 609600"/>
              <a:gd name="connsiteX161" fmla="*/ 30385 w 609600"/>
              <a:gd name="connsiteY161" fmla="*/ 148209 h 609600"/>
              <a:gd name="connsiteX162" fmla="*/ 40481 w 609600"/>
              <a:gd name="connsiteY162" fmla="*/ 138113 h 609600"/>
              <a:gd name="connsiteX163" fmla="*/ 53912 w 609600"/>
              <a:gd name="connsiteY163" fmla="*/ 151543 h 609600"/>
              <a:gd name="connsiteX164" fmla="*/ 458057 w 609600"/>
              <a:gd name="connsiteY164" fmla="*/ 484918 h 609600"/>
              <a:gd name="connsiteX165" fmla="*/ 443389 w 609600"/>
              <a:gd name="connsiteY165" fmla="*/ 520256 h 609600"/>
              <a:gd name="connsiteX166" fmla="*/ 458057 w 609600"/>
              <a:gd name="connsiteY166" fmla="*/ 555593 h 609600"/>
              <a:gd name="connsiteX167" fmla="*/ 471488 w 609600"/>
              <a:gd name="connsiteY167" fmla="*/ 569024 h 609600"/>
              <a:gd name="connsiteX168" fmla="*/ 461391 w 609600"/>
              <a:gd name="connsiteY168" fmla="*/ 579120 h 609600"/>
              <a:gd name="connsiteX169" fmla="*/ 447961 w 609600"/>
              <a:gd name="connsiteY169" fmla="*/ 565690 h 609600"/>
              <a:gd name="connsiteX170" fmla="*/ 429101 w 609600"/>
              <a:gd name="connsiteY170" fmla="*/ 520256 h 609600"/>
              <a:gd name="connsiteX171" fmla="*/ 447961 w 609600"/>
              <a:gd name="connsiteY171" fmla="*/ 474821 h 609600"/>
              <a:gd name="connsiteX172" fmla="*/ 474917 w 609600"/>
              <a:gd name="connsiteY172" fmla="*/ 447866 h 609600"/>
              <a:gd name="connsiteX173" fmla="*/ 565880 w 609600"/>
              <a:gd name="connsiteY173" fmla="*/ 447866 h 609600"/>
              <a:gd name="connsiteX174" fmla="*/ 579311 w 609600"/>
              <a:gd name="connsiteY174" fmla="*/ 461296 h 609600"/>
              <a:gd name="connsiteX175" fmla="*/ 569214 w 609600"/>
              <a:gd name="connsiteY175" fmla="*/ 471392 h 609600"/>
              <a:gd name="connsiteX176" fmla="*/ 555784 w 609600"/>
              <a:gd name="connsiteY176" fmla="*/ 457962 h 609600"/>
              <a:gd name="connsiteX177" fmla="*/ 485108 w 609600"/>
              <a:gd name="connsiteY177" fmla="*/ 457962 h 609600"/>
              <a:gd name="connsiteX178" fmla="*/ 458153 w 609600"/>
              <a:gd name="connsiteY178" fmla="*/ 484918 h 609600"/>
              <a:gd name="connsiteX179" fmla="*/ 151638 w 609600"/>
              <a:gd name="connsiteY179" fmla="*/ 555593 h 609600"/>
              <a:gd name="connsiteX180" fmla="*/ 166306 w 609600"/>
              <a:gd name="connsiteY180" fmla="*/ 520256 h 609600"/>
              <a:gd name="connsiteX181" fmla="*/ 151638 w 609600"/>
              <a:gd name="connsiteY181" fmla="*/ 484918 h 609600"/>
              <a:gd name="connsiteX182" fmla="*/ 124682 w 609600"/>
              <a:gd name="connsiteY182" fmla="*/ 457962 h 609600"/>
              <a:gd name="connsiteX183" fmla="*/ 54007 w 609600"/>
              <a:gd name="connsiteY183" fmla="*/ 457962 h 609600"/>
              <a:gd name="connsiteX184" fmla="*/ 40577 w 609600"/>
              <a:gd name="connsiteY184" fmla="*/ 471392 h 609600"/>
              <a:gd name="connsiteX185" fmla="*/ 30480 w 609600"/>
              <a:gd name="connsiteY185" fmla="*/ 461296 h 609600"/>
              <a:gd name="connsiteX186" fmla="*/ 43910 w 609600"/>
              <a:gd name="connsiteY186" fmla="*/ 447866 h 609600"/>
              <a:gd name="connsiteX187" fmla="*/ 134874 w 609600"/>
              <a:gd name="connsiteY187" fmla="*/ 447866 h 609600"/>
              <a:gd name="connsiteX188" fmla="*/ 161830 w 609600"/>
              <a:gd name="connsiteY188" fmla="*/ 474821 h 609600"/>
              <a:gd name="connsiteX189" fmla="*/ 180689 w 609600"/>
              <a:gd name="connsiteY189" fmla="*/ 520256 h 609600"/>
              <a:gd name="connsiteX190" fmla="*/ 161830 w 609600"/>
              <a:gd name="connsiteY190" fmla="*/ 565690 h 609600"/>
              <a:gd name="connsiteX191" fmla="*/ 148400 w 609600"/>
              <a:gd name="connsiteY191" fmla="*/ 579120 h 609600"/>
              <a:gd name="connsiteX192" fmla="*/ 138303 w 609600"/>
              <a:gd name="connsiteY192" fmla="*/ 569024 h 609600"/>
              <a:gd name="connsiteX193" fmla="*/ 151733 w 609600"/>
              <a:gd name="connsiteY193" fmla="*/ 555593 h 609600"/>
              <a:gd name="connsiteX194" fmla="*/ 565880 w 609600"/>
              <a:gd name="connsiteY194" fmla="*/ 161544 h 609600"/>
              <a:gd name="connsiteX195" fmla="*/ 520446 w 609600"/>
              <a:gd name="connsiteY195" fmla="*/ 180308 h 609600"/>
              <a:gd name="connsiteX196" fmla="*/ 475012 w 609600"/>
              <a:gd name="connsiteY196" fmla="*/ 161544 h 609600"/>
              <a:gd name="connsiteX197" fmla="*/ 448056 w 609600"/>
              <a:gd name="connsiteY197" fmla="*/ 134588 h 609600"/>
              <a:gd name="connsiteX198" fmla="*/ 429197 w 609600"/>
              <a:gd name="connsiteY198" fmla="*/ 89154 h 609600"/>
              <a:gd name="connsiteX199" fmla="*/ 448056 w 609600"/>
              <a:gd name="connsiteY199" fmla="*/ 43720 h 609600"/>
              <a:gd name="connsiteX200" fmla="*/ 461486 w 609600"/>
              <a:gd name="connsiteY200" fmla="*/ 30290 h 609600"/>
              <a:gd name="connsiteX201" fmla="*/ 471583 w 609600"/>
              <a:gd name="connsiteY201" fmla="*/ 40386 h 609600"/>
              <a:gd name="connsiteX202" fmla="*/ 458153 w 609600"/>
              <a:gd name="connsiteY202" fmla="*/ 53816 h 609600"/>
              <a:gd name="connsiteX203" fmla="*/ 443484 w 609600"/>
              <a:gd name="connsiteY203" fmla="*/ 89154 h 609600"/>
              <a:gd name="connsiteX204" fmla="*/ 458153 w 609600"/>
              <a:gd name="connsiteY204" fmla="*/ 124492 h 609600"/>
              <a:gd name="connsiteX205" fmla="*/ 485108 w 609600"/>
              <a:gd name="connsiteY205" fmla="*/ 151448 h 609600"/>
              <a:gd name="connsiteX206" fmla="*/ 520446 w 609600"/>
              <a:gd name="connsiteY206" fmla="*/ 166116 h 609600"/>
              <a:gd name="connsiteX207" fmla="*/ 555784 w 609600"/>
              <a:gd name="connsiteY207" fmla="*/ 151448 h 609600"/>
              <a:gd name="connsiteX208" fmla="*/ 569214 w 609600"/>
              <a:gd name="connsiteY208" fmla="*/ 138017 h 609600"/>
              <a:gd name="connsiteX209" fmla="*/ 579311 w 609600"/>
              <a:gd name="connsiteY209" fmla="*/ 148114 h 609600"/>
              <a:gd name="connsiteX210" fmla="*/ 565880 w 609600"/>
              <a:gd name="connsiteY210" fmla="*/ 161544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Lst>
            <a:rect l="l" t="t" r="r" b="b"/>
            <a:pathLst>
              <a:path w="609600" h="609600">
                <a:moveTo>
                  <a:pt x="152400" y="259556"/>
                </a:moveTo>
                <a:cubicBezTo>
                  <a:pt x="127444" y="259556"/>
                  <a:pt x="107156" y="279845"/>
                  <a:pt x="107156" y="304800"/>
                </a:cubicBezTo>
                <a:cubicBezTo>
                  <a:pt x="107156" y="329756"/>
                  <a:pt x="127444" y="350044"/>
                  <a:pt x="152400" y="350044"/>
                </a:cubicBezTo>
                <a:cubicBezTo>
                  <a:pt x="177356" y="350044"/>
                  <a:pt x="197644" y="329756"/>
                  <a:pt x="197644" y="304800"/>
                </a:cubicBezTo>
                <a:cubicBezTo>
                  <a:pt x="197644" y="279845"/>
                  <a:pt x="177356" y="259556"/>
                  <a:pt x="152400" y="259556"/>
                </a:cubicBezTo>
                <a:close/>
                <a:moveTo>
                  <a:pt x="152400" y="335756"/>
                </a:moveTo>
                <a:cubicBezTo>
                  <a:pt x="135350" y="335756"/>
                  <a:pt x="121444" y="321850"/>
                  <a:pt x="121444" y="304800"/>
                </a:cubicBezTo>
                <a:cubicBezTo>
                  <a:pt x="121444" y="287750"/>
                  <a:pt x="135350" y="273844"/>
                  <a:pt x="152400" y="273844"/>
                </a:cubicBezTo>
                <a:cubicBezTo>
                  <a:pt x="169450" y="273844"/>
                  <a:pt x="183356" y="287750"/>
                  <a:pt x="183356" y="304800"/>
                </a:cubicBezTo>
                <a:cubicBezTo>
                  <a:pt x="183356" y="321850"/>
                  <a:pt x="169450" y="335756"/>
                  <a:pt x="152400" y="335756"/>
                </a:cubicBezTo>
                <a:close/>
                <a:moveTo>
                  <a:pt x="411956" y="304800"/>
                </a:moveTo>
                <a:cubicBezTo>
                  <a:pt x="411956" y="329756"/>
                  <a:pt x="432245" y="350044"/>
                  <a:pt x="457200" y="350044"/>
                </a:cubicBezTo>
                <a:cubicBezTo>
                  <a:pt x="482156" y="350044"/>
                  <a:pt x="502444" y="329756"/>
                  <a:pt x="502444" y="304800"/>
                </a:cubicBezTo>
                <a:cubicBezTo>
                  <a:pt x="502444" y="279845"/>
                  <a:pt x="482156" y="259556"/>
                  <a:pt x="457200" y="259556"/>
                </a:cubicBezTo>
                <a:cubicBezTo>
                  <a:pt x="432245" y="259556"/>
                  <a:pt x="411956" y="279845"/>
                  <a:pt x="411956" y="304800"/>
                </a:cubicBezTo>
                <a:close/>
                <a:moveTo>
                  <a:pt x="457200" y="273844"/>
                </a:moveTo>
                <a:cubicBezTo>
                  <a:pt x="474250" y="273844"/>
                  <a:pt x="488156" y="287750"/>
                  <a:pt x="488156" y="304800"/>
                </a:cubicBezTo>
                <a:cubicBezTo>
                  <a:pt x="488156" y="321850"/>
                  <a:pt x="474250" y="335756"/>
                  <a:pt x="457200" y="335756"/>
                </a:cubicBezTo>
                <a:cubicBezTo>
                  <a:pt x="440150" y="335756"/>
                  <a:pt x="426244" y="321850"/>
                  <a:pt x="426244" y="304800"/>
                </a:cubicBezTo>
                <a:cubicBezTo>
                  <a:pt x="426244" y="287750"/>
                  <a:pt x="440150" y="273844"/>
                  <a:pt x="457200" y="273844"/>
                </a:cubicBezTo>
                <a:close/>
                <a:moveTo>
                  <a:pt x="304800" y="411956"/>
                </a:moveTo>
                <a:cubicBezTo>
                  <a:pt x="279845" y="411956"/>
                  <a:pt x="259556" y="432245"/>
                  <a:pt x="259556" y="457200"/>
                </a:cubicBezTo>
                <a:cubicBezTo>
                  <a:pt x="259556" y="482156"/>
                  <a:pt x="279845" y="502444"/>
                  <a:pt x="304800" y="502444"/>
                </a:cubicBezTo>
                <a:cubicBezTo>
                  <a:pt x="329756" y="502444"/>
                  <a:pt x="350044" y="482156"/>
                  <a:pt x="350044" y="457200"/>
                </a:cubicBezTo>
                <a:cubicBezTo>
                  <a:pt x="350044" y="432245"/>
                  <a:pt x="329756" y="411956"/>
                  <a:pt x="304800" y="411956"/>
                </a:cubicBezTo>
                <a:close/>
                <a:moveTo>
                  <a:pt x="304800" y="488156"/>
                </a:moveTo>
                <a:cubicBezTo>
                  <a:pt x="287750" y="488156"/>
                  <a:pt x="273844" y="474250"/>
                  <a:pt x="273844" y="457200"/>
                </a:cubicBezTo>
                <a:cubicBezTo>
                  <a:pt x="273844" y="440150"/>
                  <a:pt x="287750" y="426244"/>
                  <a:pt x="304800" y="426244"/>
                </a:cubicBezTo>
                <a:cubicBezTo>
                  <a:pt x="321850" y="426244"/>
                  <a:pt x="335756" y="440150"/>
                  <a:pt x="335756" y="457200"/>
                </a:cubicBezTo>
                <a:cubicBezTo>
                  <a:pt x="335756" y="474250"/>
                  <a:pt x="321850" y="488156"/>
                  <a:pt x="304800" y="488156"/>
                </a:cubicBezTo>
                <a:close/>
                <a:moveTo>
                  <a:pt x="304800" y="107156"/>
                </a:moveTo>
                <a:cubicBezTo>
                  <a:pt x="279845" y="107156"/>
                  <a:pt x="259556" y="127444"/>
                  <a:pt x="259556" y="152400"/>
                </a:cubicBezTo>
                <a:cubicBezTo>
                  <a:pt x="259556" y="177356"/>
                  <a:pt x="279845" y="197644"/>
                  <a:pt x="304800" y="197644"/>
                </a:cubicBezTo>
                <a:cubicBezTo>
                  <a:pt x="329756" y="197644"/>
                  <a:pt x="350044" y="177356"/>
                  <a:pt x="350044" y="152400"/>
                </a:cubicBezTo>
                <a:cubicBezTo>
                  <a:pt x="350044" y="127444"/>
                  <a:pt x="329756" y="107156"/>
                  <a:pt x="304800" y="107156"/>
                </a:cubicBezTo>
                <a:close/>
                <a:moveTo>
                  <a:pt x="304800" y="183356"/>
                </a:moveTo>
                <a:cubicBezTo>
                  <a:pt x="287750" y="183356"/>
                  <a:pt x="273844" y="169450"/>
                  <a:pt x="273844" y="152400"/>
                </a:cubicBezTo>
                <a:cubicBezTo>
                  <a:pt x="273844" y="135350"/>
                  <a:pt x="287750" y="121444"/>
                  <a:pt x="304800" y="121444"/>
                </a:cubicBezTo>
                <a:cubicBezTo>
                  <a:pt x="321850" y="121444"/>
                  <a:pt x="335756" y="135350"/>
                  <a:pt x="335756" y="152400"/>
                </a:cubicBezTo>
                <a:cubicBezTo>
                  <a:pt x="335756" y="169450"/>
                  <a:pt x="321850" y="183356"/>
                  <a:pt x="304800" y="183356"/>
                </a:cubicBezTo>
                <a:close/>
                <a:moveTo>
                  <a:pt x="444532" y="444532"/>
                </a:moveTo>
                <a:cubicBezTo>
                  <a:pt x="462153" y="426911"/>
                  <a:pt x="462153" y="398145"/>
                  <a:pt x="444532" y="380524"/>
                </a:cubicBezTo>
                <a:cubicBezTo>
                  <a:pt x="426911" y="362903"/>
                  <a:pt x="398145" y="362903"/>
                  <a:pt x="380524" y="380524"/>
                </a:cubicBezTo>
                <a:cubicBezTo>
                  <a:pt x="371951" y="389096"/>
                  <a:pt x="367284" y="400431"/>
                  <a:pt x="367284" y="412528"/>
                </a:cubicBezTo>
                <a:cubicBezTo>
                  <a:pt x="367284" y="424625"/>
                  <a:pt x="371951" y="435959"/>
                  <a:pt x="380524" y="444532"/>
                </a:cubicBezTo>
                <a:cubicBezTo>
                  <a:pt x="389382" y="453390"/>
                  <a:pt x="400907" y="457772"/>
                  <a:pt x="412528" y="457772"/>
                </a:cubicBezTo>
                <a:cubicBezTo>
                  <a:pt x="424148" y="457772"/>
                  <a:pt x="435674" y="453390"/>
                  <a:pt x="444532" y="444532"/>
                </a:cubicBezTo>
                <a:close/>
                <a:moveTo>
                  <a:pt x="390620" y="434435"/>
                </a:moveTo>
                <a:cubicBezTo>
                  <a:pt x="384810" y="428625"/>
                  <a:pt x="381572" y="420815"/>
                  <a:pt x="381572" y="412528"/>
                </a:cubicBezTo>
                <a:cubicBezTo>
                  <a:pt x="381572" y="404241"/>
                  <a:pt x="384810" y="396526"/>
                  <a:pt x="390620" y="390620"/>
                </a:cubicBezTo>
                <a:cubicBezTo>
                  <a:pt x="396621" y="384620"/>
                  <a:pt x="404622" y="381572"/>
                  <a:pt x="412528" y="381572"/>
                </a:cubicBezTo>
                <a:cubicBezTo>
                  <a:pt x="420434" y="381572"/>
                  <a:pt x="428339" y="384620"/>
                  <a:pt x="434435" y="390620"/>
                </a:cubicBezTo>
                <a:cubicBezTo>
                  <a:pt x="446532" y="402717"/>
                  <a:pt x="446532" y="422339"/>
                  <a:pt x="434435" y="434435"/>
                </a:cubicBezTo>
                <a:cubicBezTo>
                  <a:pt x="422339" y="446532"/>
                  <a:pt x="402717" y="446532"/>
                  <a:pt x="390620" y="434435"/>
                </a:cubicBezTo>
                <a:close/>
                <a:moveTo>
                  <a:pt x="242221" y="196977"/>
                </a:moveTo>
                <a:cubicBezTo>
                  <a:pt x="242221" y="184880"/>
                  <a:pt x="237553" y="173546"/>
                  <a:pt x="228981" y="164973"/>
                </a:cubicBezTo>
                <a:cubicBezTo>
                  <a:pt x="211360" y="147352"/>
                  <a:pt x="182594" y="147352"/>
                  <a:pt x="164973" y="164973"/>
                </a:cubicBezTo>
                <a:cubicBezTo>
                  <a:pt x="147352" y="182594"/>
                  <a:pt x="147352" y="211360"/>
                  <a:pt x="164973" y="228981"/>
                </a:cubicBezTo>
                <a:cubicBezTo>
                  <a:pt x="173831" y="237839"/>
                  <a:pt x="185356" y="242221"/>
                  <a:pt x="196977" y="242221"/>
                </a:cubicBezTo>
                <a:cubicBezTo>
                  <a:pt x="208598" y="242221"/>
                  <a:pt x="220123" y="237839"/>
                  <a:pt x="228981" y="228981"/>
                </a:cubicBezTo>
                <a:cubicBezTo>
                  <a:pt x="237553" y="220409"/>
                  <a:pt x="242221" y="209074"/>
                  <a:pt x="242221" y="196977"/>
                </a:cubicBezTo>
                <a:close/>
                <a:moveTo>
                  <a:pt x="218885" y="218885"/>
                </a:moveTo>
                <a:cubicBezTo>
                  <a:pt x="206788" y="230981"/>
                  <a:pt x="187166" y="230981"/>
                  <a:pt x="175069" y="218885"/>
                </a:cubicBezTo>
                <a:cubicBezTo>
                  <a:pt x="162973" y="206788"/>
                  <a:pt x="162973" y="187166"/>
                  <a:pt x="175069" y="175069"/>
                </a:cubicBezTo>
                <a:cubicBezTo>
                  <a:pt x="181070" y="169069"/>
                  <a:pt x="189071" y="166021"/>
                  <a:pt x="196977" y="166021"/>
                </a:cubicBezTo>
                <a:cubicBezTo>
                  <a:pt x="204883" y="166021"/>
                  <a:pt x="212884" y="169069"/>
                  <a:pt x="218885" y="175069"/>
                </a:cubicBezTo>
                <a:cubicBezTo>
                  <a:pt x="224695" y="180880"/>
                  <a:pt x="227933" y="188690"/>
                  <a:pt x="227933" y="196977"/>
                </a:cubicBezTo>
                <a:cubicBezTo>
                  <a:pt x="227933" y="205264"/>
                  <a:pt x="224695" y="212979"/>
                  <a:pt x="218885" y="218885"/>
                </a:cubicBezTo>
                <a:close/>
                <a:moveTo>
                  <a:pt x="228981" y="444532"/>
                </a:moveTo>
                <a:cubicBezTo>
                  <a:pt x="237553" y="435959"/>
                  <a:pt x="242221" y="424625"/>
                  <a:pt x="242221" y="412528"/>
                </a:cubicBezTo>
                <a:cubicBezTo>
                  <a:pt x="242221" y="400431"/>
                  <a:pt x="237553" y="389096"/>
                  <a:pt x="228981" y="380524"/>
                </a:cubicBezTo>
                <a:cubicBezTo>
                  <a:pt x="211360" y="362903"/>
                  <a:pt x="182594" y="362903"/>
                  <a:pt x="164973" y="380524"/>
                </a:cubicBezTo>
                <a:cubicBezTo>
                  <a:pt x="147352" y="398145"/>
                  <a:pt x="147352" y="426911"/>
                  <a:pt x="164973" y="444532"/>
                </a:cubicBezTo>
                <a:cubicBezTo>
                  <a:pt x="173831" y="453390"/>
                  <a:pt x="185356" y="457772"/>
                  <a:pt x="196977" y="457772"/>
                </a:cubicBezTo>
                <a:cubicBezTo>
                  <a:pt x="208598" y="457772"/>
                  <a:pt x="220123" y="453390"/>
                  <a:pt x="228981" y="444532"/>
                </a:cubicBezTo>
                <a:close/>
                <a:moveTo>
                  <a:pt x="175069" y="390620"/>
                </a:moveTo>
                <a:cubicBezTo>
                  <a:pt x="181070" y="384620"/>
                  <a:pt x="189071" y="381572"/>
                  <a:pt x="196977" y="381572"/>
                </a:cubicBezTo>
                <a:cubicBezTo>
                  <a:pt x="204883" y="381572"/>
                  <a:pt x="212884" y="384620"/>
                  <a:pt x="218885" y="390620"/>
                </a:cubicBezTo>
                <a:cubicBezTo>
                  <a:pt x="224695" y="396431"/>
                  <a:pt x="227933" y="404241"/>
                  <a:pt x="227933" y="412528"/>
                </a:cubicBezTo>
                <a:cubicBezTo>
                  <a:pt x="227933" y="420815"/>
                  <a:pt x="224695" y="428530"/>
                  <a:pt x="218885" y="434435"/>
                </a:cubicBezTo>
                <a:cubicBezTo>
                  <a:pt x="206788" y="446532"/>
                  <a:pt x="187166" y="446532"/>
                  <a:pt x="175069" y="434435"/>
                </a:cubicBezTo>
                <a:cubicBezTo>
                  <a:pt x="162973" y="422339"/>
                  <a:pt x="162973" y="402717"/>
                  <a:pt x="175069" y="390620"/>
                </a:cubicBezTo>
                <a:close/>
                <a:moveTo>
                  <a:pt x="380524" y="164973"/>
                </a:moveTo>
                <a:cubicBezTo>
                  <a:pt x="371951" y="173546"/>
                  <a:pt x="367284" y="184880"/>
                  <a:pt x="367284" y="196977"/>
                </a:cubicBezTo>
                <a:cubicBezTo>
                  <a:pt x="367284" y="209074"/>
                  <a:pt x="371951" y="220409"/>
                  <a:pt x="380524" y="228981"/>
                </a:cubicBezTo>
                <a:cubicBezTo>
                  <a:pt x="389382" y="237839"/>
                  <a:pt x="400907" y="242221"/>
                  <a:pt x="412528" y="242221"/>
                </a:cubicBezTo>
                <a:cubicBezTo>
                  <a:pt x="424148" y="242221"/>
                  <a:pt x="435674" y="237839"/>
                  <a:pt x="444532" y="228981"/>
                </a:cubicBezTo>
                <a:cubicBezTo>
                  <a:pt x="462153" y="211360"/>
                  <a:pt x="462153" y="182594"/>
                  <a:pt x="444532" y="164973"/>
                </a:cubicBezTo>
                <a:cubicBezTo>
                  <a:pt x="426911" y="147352"/>
                  <a:pt x="398145" y="147352"/>
                  <a:pt x="380524" y="164973"/>
                </a:cubicBezTo>
                <a:close/>
                <a:moveTo>
                  <a:pt x="434435" y="218885"/>
                </a:moveTo>
                <a:cubicBezTo>
                  <a:pt x="422339" y="230981"/>
                  <a:pt x="402717" y="230981"/>
                  <a:pt x="390620" y="218885"/>
                </a:cubicBezTo>
                <a:cubicBezTo>
                  <a:pt x="384810" y="213074"/>
                  <a:pt x="381572" y="205264"/>
                  <a:pt x="381572" y="196977"/>
                </a:cubicBezTo>
                <a:cubicBezTo>
                  <a:pt x="381572" y="188690"/>
                  <a:pt x="384810" y="180975"/>
                  <a:pt x="390620" y="175069"/>
                </a:cubicBezTo>
                <a:cubicBezTo>
                  <a:pt x="396621" y="169069"/>
                  <a:pt x="404622" y="166021"/>
                  <a:pt x="412528" y="166021"/>
                </a:cubicBezTo>
                <a:cubicBezTo>
                  <a:pt x="420434" y="166021"/>
                  <a:pt x="428339" y="169069"/>
                  <a:pt x="434435" y="175069"/>
                </a:cubicBezTo>
                <a:cubicBezTo>
                  <a:pt x="446532" y="187166"/>
                  <a:pt x="446532" y="206788"/>
                  <a:pt x="434435" y="218885"/>
                </a:cubicBezTo>
                <a:close/>
                <a:moveTo>
                  <a:pt x="590550" y="221456"/>
                </a:moveTo>
                <a:lnTo>
                  <a:pt x="609600" y="221456"/>
                </a:lnTo>
                <a:lnTo>
                  <a:pt x="609600" y="235744"/>
                </a:lnTo>
                <a:lnTo>
                  <a:pt x="590550" y="235744"/>
                </a:lnTo>
                <a:cubicBezTo>
                  <a:pt x="563023" y="235744"/>
                  <a:pt x="540544" y="258127"/>
                  <a:pt x="540544" y="285750"/>
                </a:cubicBezTo>
                <a:lnTo>
                  <a:pt x="540544" y="323850"/>
                </a:lnTo>
                <a:cubicBezTo>
                  <a:pt x="540544" y="351473"/>
                  <a:pt x="563023" y="373856"/>
                  <a:pt x="590550" y="373856"/>
                </a:cubicBezTo>
                <a:lnTo>
                  <a:pt x="609600" y="373856"/>
                </a:lnTo>
                <a:lnTo>
                  <a:pt x="609600" y="388144"/>
                </a:lnTo>
                <a:lnTo>
                  <a:pt x="590550" y="388144"/>
                </a:lnTo>
                <a:cubicBezTo>
                  <a:pt x="555117" y="388144"/>
                  <a:pt x="526256" y="359283"/>
                  <a:pt x="526256" y="323850"/>
                </a:cubicBezTo>
                <a:lnTo>
                  <a:pt x="526256" y="285750"/>
                </a:lnTo>
                <a:cubicBezTo>
                  <a:pt x="526256" y="250317"/>
                  <a:pt x="555117" y="221456"/>
                  <a:pt x="590550" y="221456"/>
                </a:cubicBezTo>
                <a:close/>
                <a:moveTo>
                  <a:pt x="19050" y="388144"/>
                </a:moveTo>
                <a:lnTo>
                  <a:pt x="0" y="388144"/>
                </a:lnTo>
                <a:lnTo>
                  <a:pt x="0" y="373856"/>
                </a:lnTo>
                <a:lnTo>
                  <a:pt x="19050" y="373856"/>
                </a:lnTo>
                <a:cubicBezTo>
                  <a:pt x="46672" y="373856"/>
                  <a:pt x="69056" y="351473"/>
                  <a:pt x="69056" y="323850"/>
                </a:cubicBezTo>
                <a:lnTo>
                  <a:pt x="69056" y="285750"/>
                </a:lnTo>
                <a:cubicBezTo>
                  <a:pt x="69056" y="258127"/>
                  <a:pt x="46672" y="235744"/>
                  <a:pt x="19050" y="235744"/>
                </a:cubicBezTo>
                <a:lnTo>
                  <a:pt x="0" y="235744"/>
                </a:lnTo>
                <a:lnTo>
                  <a:pt x="0" y="221456"/>
                </a:lnTo>
                <a:lnTo>
                  <a:pt x="19050" y="221456"/>
                </a:lnTo>
                <a:cubicBezTo>
                  <a:pt x="54483" y="221456"/>
                  <a:pt x="83344" y="250317"/>
                  <a:pt x="83344" y="285750"/>
                </a:cubicBezTo>
                <a:lnTo>
                  <a:pt x="83344" y="323850"/>
                </a:lnTo>
                <a:cubicBezTo>
                  <a:pt x="83344" y="359283"/>
                  <a:pt x="54483" y="388144"/>
                  <a:pt x="19050" y="388144"/>
                </a:cubicBezTo>
                <a:close/>
                <a:moveTo>
                  <a:pt x="373856" y="609600"/>
                </a:moveTo>
                <a:lnTo>
                  <a:pt x="373856" y="590550"/>
                </a:lnTo>
                <a:cubicBezTo>
                  <a:pt x="373856" y="562928"/>
                  <a:pt x="351377" y="540544"/>
                  <a:pt x="323850" y="540544"/>
                </a:cubicBezTo>
                <a:lnTo>
                  <a:pt x="285750" y="540544"/>
                </a:lnTo>
                <a:cubicBezTo>
                  <a:pt x="258223" y="540544"/>
                  <a:pt x="235744" y="562928"/>
                  <a:pt x="235744" y="590550"/>
                </a:cubicBezTo>
                <a:lnTo>
                  <a:pt x="235744" y="609600"/>
                </a:lnTo>
                <a:lnTo>
                  <a:pt x="221456" y="609600"/>
                </a:lnTo>
                <a:lnTo>
                  <a:pt x="221456" y="590550"/>
                </a:lnTo>
                <a:cubicBezTo>
                  <a:pt x="221456" y="555117"/>
                  <a:pt x="250317" y="526256"/>
                  <a:pt x="285750" y="526256"/>
                </a:cubicBezTo>
                <a:lnTo>
                  <a:pt x="323850" y="526256"/>
                </a:lnTo>
                <a:cubicBezTo>
                  <a:pt x="359283" y="526256"/>
                  <a:pt x="388144" y="555117"/>
                  <a:pt x="388144" y="590550"/>
                </a:cubicBezTo>
                <a:lnTo>
                  <a:pt x="388144" y="609600"/>
                </a:lnTo>
                <a:lnTo>
                  <a:pt x="373856" y="609600"/>
                </a:lnTo>
                <a:close/>
                <a:moveTo>
                  <a:pt x="323850" y="83344"/>
                </a:moveTo>
                <a:lnTo>
                  <a:pt x="285750" y="83344"/>
                </a:lnTo>
                <a:cubicBezTo>
                  <a:pt x="250317" y="83344"/>
                  <a:pt x="221456" y="54483"/>
                  <a:pt x="221456" y="19050"/>
                </a:cubicBezTo>
                <a:lnTo>
                  <a:pt x="221456" y="0"/>
                </a:lnTo>
                <a:lnTo>
                  <a:pt x="235744" y="0"/>
                </a:lnTo>
                <a:lnTo>
                  <a:pt x="235744" y="19050"/>
                </a:lnTo>
                <a:cubicBezTo>
                  <a:pt x="235744" y="46672"/>
                  <a:pt x="258223" y="69056"/>
                  <a:pt x="285750" y="69056"/>
                </a:cubicBezTo>
                <a:lnTo>
                  <a:pt x="323850" y="69056"/>
                </a:lnTo>
                <a:cubicBezTo>
                  <a:pt x="351377" y="69056"/>
                  <a:pt x="373856" y="46672"/>
                  <a:pt x="373856" y="19050"/>
                </a:cubicBezTo>
                <a:lnTo>
                  <a:pt x="373856" y="0"/>
                </a:lnTo>
                <a:lnTo>
                  <a:pt x="388144" y="0"/>
                </a:lnTo>
                <a:lnTo>
                  <a:pt x="388144" y="19050"/>
                </a:lnTo>
                <a:cubicBezTo>
                  <a:pt x="388144" y="54483"/>
                  <a:pt x="359283" y="83344"/>
                  <a:pt x="323850" y="83344"/>
                </a:cubicBezTo>
                <a:close/>
                <a:moveTo>
                  <a:pt x="53912" y="151543"/>
                </a:moveTo>
                <a:cubicBezTo>
                  <a:pt x="73438" y="171069"/>
                  <a:pt x="105156" y="171069"/>
                  <a:pt x="124587" y="151543"/>
                </a:cubicBezTo>
                <a:lnTo>
                  <a:pt x="151543" y="124587"/>
                </a:lnTo>
                <a:cubicBezTo>
                  <a:pt x="160973" y="115157"/>
                  <a:pt x="166211" y="102584"/>
                  <a:pt x="166211" y="89249"/>
                </a:cubicBezTo>
                <a:cubicBezTo>
                  <a:pt x="166211" y="75914"/>
                  <a:pt x="160973" y="63341"/>
                  <a:pt x="151543" y="53912"/>
                </a:cubicBezTo>
                <a:lnTo>
                  <a:pt x="138113" y="40481"/>
                </a:lnTo>
                <a:lnTo>
                  <a:pt x="148209" y="30385"/>
                </a:lnTo>
                <a:lnTo>
                  <a:pt x="161639" y="43815"/>
                </a:lnTo>
                <a:cubicBezTo>
                  <a:pt x="173831" y="55912"/>
                  <a:pt x="180499" y="72104"/>
                  <a:pt x="180499" y="89249"/>
                </a:cubicBezTo>
                <a:cubicBezTo>
                  <a:pt x="180499" y="106394"/>
                  <a:pt x="173831" y="122587"/>
                  <a:pt x="161639" y="134684"/>
                </a:cubicBezTo>
                <a:lnTo>
                  <a:pt x="134684" y="161639"/>
                </a:lnTo>
                <a:cubicBezTo>
                  <a:pt x="122111" y="174212"/>
                  <a:pt x="105728" y="180404"/>
                  <a:pt x="89249" y="180404"/>
                </a:cubicBezTo>
                <a:cubicBezTo>
                  <a:pt x="72771" y="180404"/>
                  <a:pt x="56293" y="174117"/>
                  <a:pt x="43815" y="161639"/>
                </a:cubicBezTo>
                <a:lnTo>
                  <a:pt x="30385" y="148209"/>
                </a:lnTo>
                <a:lnTo>
                  <a:pt x="40481" y="138113"/>
                </a:lnTo>
                <a:lnTo>
                  <a:pt x="53912" y="151543"/>
                </a:lnTo>
                <a:close/>
                <a:moveTo>
                  <a:pt x="458057" y="484918"/>
                </a:moveTo>
                <a:cubicBezTo>
                  <a:pt x="448628" y="494348"/>
                  <a:pt x="443389" y="506921"/>
                  <a:pt x="443389" y="520256"/>
                </a:cubicBezTo>
                <a:cubicBezTo>
                  <a:pt x="443389" y="533590"/>
                  <a:pt x="448628" y="546163"/>
                  <a:pt x="458057" y="555593"/>
                </a:cubicBezTo>
                <a:lnTo>
                  <a:pt x="471488" y="569024"/>
                </a:lnTo>
                <a:lnTo>
                  <a:pt x="461391" y="579120"/>
                </a:lnTo>
                <a:lnTo>
                  <a:pt x="447961" y="565690"/>
                </a:lnTo>
                <a:cubicBezTo>
                  <a:pt x="435769" y="553593"/>
                  <a:pt x="429101" y="537401"/>
                  <a:pt x="429101" y="520256"/>
                </a:cubicBezTo>
                <a:cubicBezTo>
                  <a:pt x="429101" y="503111"/>
                  <a:pt x="435769" y="486918"/>
                  <a:pt x="447961" y="474821"/>
                </a:cubicBezTo>
                <a:lnTo>
                  <a:pt x="474917" y="447866"/>
                </a:lnTo>
                <a:cubicBezTo>
                  <a:pt x="499967" y="422815"/>
                  <a:pt x="540830" y="422815"/>
                  <a:pt x="565880" y="447866"/>
                </a:cubicBezTo>
                <a:lnTo>
                  <a:pt x="579311" y="461296"/>
                </a:lnTo>
                <a:lnTo>
                  <a:pt x="569214" y="471392"/>
                </a:lnTo>
                <a:lnTo>
                  <a:pt x="555784" y="457962"/>
                </a:lnTo>
                <a:cubicBezTo>
                  <a:pt x="536258" y="438436"/>
                  <a:pt x="504539" y="438436"/>
                  <a:pt x="485108" y="457962"/>
                </a:cubicBezTo>
                <a:lnTo>
                  <a:pt x="458153" y="484918"/>
                </a:lnTo>
                <a:close/>
                <a:moveTo>
                  <a:pt x="151638" y="555593"/>
                </a:moveTo>
                <a:cubicBezTo>
                  <a:pt x="161068" y="546163"/>
                  <a:pt x="166306" y="533590"/>
                  <a:pt x="166306" y="520256"/>
                </a:cubicBezTo>
                <a:cubicBezTo>
                  <a:pt x="166306" y="506921"/>
                  <a:pt x="161068" y="494348"/>
                  <a:pt x="151638" y="484918"/>
                </a:cubicBezTo>
                <a:lnTo>
                  <a:pt x="124682" y="457962"/>
                </a:lnTo>
                <a:cubicBezTo>
                  <a:pt x="105156" y="438436"/>
                  <a:pt x="73438" y="438436"/>
                  <a:pt x="54007" y="457962"/>
                </a:cubicBezTo>
                <a:lnTo>
                  <a:pt x="40577" y="471392"/>
                </a:lnTo>
                <a:lnTo>
                  <a:pt x="30480" y="461296"/>
                </a:lnTo>
                <a:lnTo>
                  <a:pt x="43910" y="447866"/>
                </a:lnTo>
                <a:cubicBezTo>
                  <a:pt x="68961" y="422815"/>
                  <a:pt x="109728" y="422815"/>
                  <a:pt x="134874" y="447866"/>
                </a:cubicBezTo>
                <a:lnTo>
                  <a:pt x="161830" y="474821"/>
                </a:lnTo>
                <a:cubicBezTo>
                  <a:pt x="174022" y="486918"/>
                  <a:pt x="180689" y="503111"/>
                  <a:pt x="180689" y="520256"/>
                </a:cubicBezTo>
                <a:cubicBezTo>
                  <a:pt x="180689" y="537401"/>
                  <a:pt x="174022" y="553593"/>
                  <a:pt x="161830" y="565690"/>
                </a:cubicBezTo>
                <a:lnTo>
                  <a:pt x="148400" y="579120"/>
                </a:lnTo>
                <a:lnTo>
                  <a:pt x="138303" y="569024"/>
                </a:lnTo>
                <a:lnTo>
                  <a:pt x="151733" y="555593"/>
                </a:lnTo>
                <a:close/>
                <a:moveTo>
                  <a:pt x="565880" y="161544"/>
                </a:moveTo>
                <a:cubicBezTo>
                  <a:pt x="553307" y="174117"/>
                  <a:pt x="536924" y="180308"/>
                  <a:pt x="520446" y="180308"/>
                </a:cubicBezTo>
                <a:cubicBezTo>
                  <a:pt x="503968" y="180308"/>
                  <a:pt x="487490" y="174022"/>
                  <a:pt x="475012" y="161544"/>
                </a:cubicBezTo>
                <a:lnTo>
                  <a:pt x="448056" y="134588"/>
                </a:lnTo>
                <a:cubicBezTo>
                  <a:pt x="435864" y="122492"/>
                  <a:pt x="429197" y="106299"/>
                  <a:pt x="429197" y="89154"/>
                </a:cubicBezTo>
                <a:cubicBezTo>
                  <a:pt x="429197" y="72009"/>
                  <a:pt x="435864" y="55816"/>
                  <a:pt x="448056" y="43720"/>
                </a:cubicBezTo>
                <a:lnTo>
                  <a:pt x="461486" y="30290"/>
                </a:lnTo>
                <a:lnTo>
                  <a:pt x="471583" y="40386"/>
                </a:lnTo>
                <a:lnTo>
                  <a:pt x="458153" y="53816"/>
                </a:lnTo>
                <a:cubicBezTo>
                  <a:pt x="448723" y="63246"/>
                  <a:pt x="443484" y="75819"/>
                  <a:pt x="443484" y="89154"/>
                </a:cubicBezTo>
                <a:cubicBezTo>
                  <a:pt x="443484" y="102489"/>
                  <a:pt x="448723" y="115062"/>
                  <a:pt x="458153" y="124492"/>
                </a:cubicBezTo>
                <a:lnTo>
                  <a:pt x="485108" y="151448"/>
                </a:lnTo>
                <a:cubicBezTo>
                  <a:pt x="494538" y="160877"/>
                  <a:pt x="507111" y="166116"/>
                  <a:pt x="520446" y="166116"/>
                </a:cubicBezTo>
                <a:cubicBezTo>
                  <a:pt x="533781" y="166116"/>
                  <a:pt x="546354" y="160877"/>
                  <a:pt x="555784" y="151448"/>
                </a:cubicBezTo>
                <a:lnTo>
                  <a:pt x="569214" y="138017"/>
                </a:lnTo>
                <a:lnTo>
                  <a:pt x="579311" y="148114"/>
                </a:lnTo>
                <a:lnTo>
                  <a:pt x="565880" y="161544"/>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1" name="TextBox 10">
            <a:extLst>
              <a:ext uri="{FF2B5EF4-FFF2-40B4-BE49-F238E27FC236}">
                <a16:creationId xmlns:a16="http://schemas.microsoft.com/office/drawing/2014/main" id="{4BBCA942-C043-29BF-CFBF-0854C6359C68}"/>
              </a:ext>
            </a:extLst>
          </p:cNvPr>
          <p:cNvSpPr txBox="1"/>
          <p:nvPr/>
        </p:nvSpPr>
        <p:spPr>
          <a:xfrm>
            <a:off x="4721931" y="2835011"/>
            <a:ext cx="2748138"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#2</a:t>
            </a:r>
            <a:endParaRPr lang="en-US" sz="2000" kern="1200" dirty="0">
              <a:latin typeface="Inter" panose="02000503000000020004" pitchFamily="2" charset="0"/>
              <a:ea typeface="ＭＳ Ｐゴシック" charset="0"/>
            </a:endParaRPr>
          </a:p>
        </p:txBody>
      </p:sp>
      <p:sp>
        <p:nvSpPr>
          <p:cNvPr id="10" name="TextBox 9">
            <a:extLst>
              <a:ext uri="{FF2B5EF4-FFF2-40B4-BE49-F238E27FC236}">
                <a16:creationId xmlns:a16="http://schemas.microsoft.com/office/drawing/2014/main" id="{B35EBD9B-40CF-023B-A2BA-8F26342F8C43}"/>
              </a:ext>
            </a:extLst>
          </p:cNvPr>
          <p:cNvSpPr txBox="1"/>
          <p:nvPr/>
        </p:nvSpPr>
        <p:spPr>
          <a:xfrm>
            <a:off x="4721932" y="3301082"/>
            <a:ext cx="2748137" cy="1113125"/>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Splunk provides so much integration for free.  </a:t>
            </a:r>
          </a:p>
          <a:p>
            <a:pPr defTabSz="912276" fontAlgn="base">
              <a:spcAft>
                <a:spcPts val="1000"/>
              </a:spcAft>
              <a:buClr>
                <a:schemeClr val="bg1"/>
              </a:buClr>
              <a:buSzPct val="100000"/>
            </a:pPr>
            <a:r>
              <a:rPr lang="en-US" sz="1600" kern="1200" dirty="0">
                <a:latin typeface="Inter" panose="02000503000000020004" pitchFamily="2" charset="0"/>
                <a:ea typeface="ＭＳ Ｐゴシック" charset="0"/>
              </a:rPr>
              <a:t>Keep it simple, supported</a:t>
            </a:r>
            <a:r>
              <a:rPr lang="en-US" sz="1600" dirty="0">
                <a:latin typeface="Inter" panose="02000503000000020004" pitchFamily="2" charset="0"/>
                <a:ea typeface="ＭＳ Ｐゴシック" charset="0"/>
              </a:rPr>
              <a:t>, safe </a:t>
            </a:r>
            <a:endParaRPr lang="en-US" sz="1600" kern="1200" dirty="0">
              <a:latin typeface="Inter" panose="02000503000000020004" pitchFamily="2" charset="0"/>
              <a:ea typeface="ＭＳ Ｐゴシック" charset="0"/>
            </a:endParaRPr>
          </a:p>
        </p:txBody>
      </p:sp>
      <p:sp>
        <p:nvSpPr>
          <p:cNvPr id="30" name="Freeform 238" descr="Icon of a magnifying glass zooming in on a pie chart representing &quot;data driven insights&quot;">
            <a:extLst>
              <a:ext uri="{FF2B5EF4-FFF2-40B4-BE49-F238E27FC236}">
                <a16:creationId xmlns:a16="http://schemas.microsoft.com/office/drawing/2014/main" id="{2BCA5595-38B3-1949-066A-5F62AC6A1C99}"/>
              </a:ext>
            </a:extLst>
          </p:cNvPr>
          <p:cNvSpPr>
            <a:spLocks noChangeAspect="1"/>
          </p:cNvSpPr>
          <p:nvPr/>
        </p:nvSpPr>
        <p:spPr>
          <a:xfrm>
            <a:off x="8140701" y="2183005"/>
            <a:ext cx="457200" cy="457200"/>
          </a:xfrm>
          <a:custGeom>
            <a:avLst/>
            <a:gdLst>
              <a:gd name="connsiteX0" fmla="*/ 235625 w 583572"/>
              <a:gd name="connsiteY0" fmla="*/ 471178 h 583572"/>
              <a:gd name="connsiteX1" fmla="*/ 396978 w 583572"/>
              <a:gd name="connsiteY1" fmla="*/ 407075 h 583572"/>
              <a:gd name="connsiteX2" fmla="*/ 573476 w 583572"/>
              <a:gd name="connsiteY2" fmla="*/ 583573 h 583572"/>
              <a:gd name="connsiteX3" fmla="*/ 583573 w 583572"/>
              <a:gd name="connsiteY3" fmla="*/ 573476 h 583572"/>
              <a:gd name="connsiteX4" fmla="*/ 407075 w 583572"/>
              <a:gd name="connsiteY4" fmla="*/ 396978 h 583572"/>
              <a:gd name="connsiteX5" fmla="*/ 402312 w 583572"/>
              <a:gd name="connsiteY5" fmla="*/ 68937 h 583572"/>
              <a:gd name="connsiteX6" fmla="*/ 68937 w 583572"/>
              <a:gd name="connsiteY6" fmla="*/ 68937 h 583572"/>
              <a:gd name="connsiteX7" fmla="*/ 68937 w 583572"/>
              <a:gd name="connsiteY7" fmla="*/ 402312 h 583572"/>
              <a:gd name="connsiteX8" fmla="*/ 235625 w 583572"/>
              <a:gd name="connsiteY8" fmla="*/ 471273 h 583572"/>
              <a:gd name="connsiteX9" fmla="*/ 79034 w 583572"/>
              <a:gd name="connsiteY9" fmla="*/ 78938 h 583572"/>
              <a:gd name="connsiteX10" fmla="*/ 235625 w 583572"/>
              <a:gd name="connsiteY10" fmla="*/ 14168 h 583572"/>
              <a:gd name="connsiteX11" fmla="*/ 392216 w 583572"/>
              <a:gd name="connsiteY11" fmla="*/ 78938 h 583572"/>
              <a:gd name="connsiteX12" fmla="*/ 392216 w 583572"/>
              <a:gd name="connsiteY12" fmla="*/ 392120 h 583572"/>
              <a:gd name="connsiteX13" fmla="*/ 79034 w 583572"/>
              <a:gd name="connsiteY13" fmla="*/ 392120 h 583572"/>
              <a:gd name="connsiteX14" fmla="*/ 79034 w 583572"/>
              <a:gd name="connsiteY14" fmla="*/ 78938 h 583572"/>
              <a:gd name="connsiteX15" fmla="*/ 136279 w 583572"/>
              <a:gd name="connsiteY15" fmla="*/ 334875 h 583572"/>
              <a:gd name="connsiteX16" fmla="*/ 136565 w 583572"/>
              <a:gd name="connsiteY16" fmla="*/ 335066 h 583572"/>
              <a:gd name="connsiteX17" fmla="*/ 235625 w 583572"/>
              <a:gd name="connsiteY17" fmla="*/ 376023 h 583572"/>
              <a:gd name="connsiteX18" fmla="*/ 376118 w 583572"/>
              <a:gd name="connsiteY18" fmla="*/ 235529 h 583572"/>
              <a:gd name="connsiteX19" fmla="*/ 235625 w 583572"/>
              <a:gd name="connsiteY19" fmla="*/ 95036 h 583572"/>
              <a:gd name="connsiteX20" fmla="*/ 95131 w 583572"/>
              <a:gd name="connsiteY20" fmla="*/ 235529 h 583572"/>
              <a:gd name="connsiteX21" fmla="*/ 136088 w 583572"/>
              <a:gd name="connsiteY21" fmla="*/ 334589 h 583572"/>
              <a:gd name="connsiteX22" fmla="*/ 136279 w 583572"/>
              <a:gd name="connsiteY22" fmla="*/ 334875 h 583572"/>
              <a:gd name="connsiteX23" fmla="*/ 240673 w 583572"/>
              <a:gd name="connsiteY23" fmla="*/ 240578 h 583572"/>
              <a:gd name="connsiteX24" fmla="*/ 240673 w 583572"/>
              <a:gd name="connsiteY24" fmla="*/ 240578 h 583572"/>
              <a:gd name="connsiteX25" fmla="*/ 240673 w 583572"/>
              <a:gd name="connsiteY25" fmla="*/ 240578 h 583572"/>
              <a:gd name="connsiteX26" fmla="*/ 240673 w 583572"/>
              <a:gd name="connsiteY26" fmla="*/ 240578 h 583572"/>
              <a:gd name="connsiteX27" fmla="*/ 240673 w 583572"/>
              <a:gd name="connsiteY27" fmla="*/ 240578 h 583572"/>
              <a:gd name="connsiteX28" fmla="*/ 240673 w 583572"/>
              <a:gd name="connsiteY28" fmla="*/ 240578 h 583572"/>
              <a:gd name="connsiteX29" fmla="*/ 242483 w 583572"/>
              <a:gd name="connsiteY29" fmla="*/ 237149 h 583572"/>
              <a:gd name="connsiteX30" fmla="*/ 242483 w 583572"/>
              <a:gd name="connsiteY30" fmla="*/ 237149 h 583572"/>
              <a:gd name="connsiteX31" fmla="*/ 242483 w 583572"/>
              <a:gd name="connsiteY31" fmla="*/ 237149 h 583572"/>
              <a:gd name="connsiteX32" fmla="*/ 242483 w 583572"/>
              <a:gd name="connsiteY32" fmla="*/ 237149 h 583572"/>
              <a:gd name="connsiteX33" fmla="*/ 242483 w 583572"/>
              <a:gd name="connsiteY33" fmla="*/ 237149 h 583572"/>
              <a:gd name="connsiteX34" fmla="*/ 242483 w 583572"/>
              <a:gd name="connsiteY34" fmla="*/ 237149 h 583572"/>
              <a:gd name="connsiteX35" fmla="*/ 242483 w 583572"/>
              <a:gd name="connsiteY35" fmla="*/ 237149 h 583572"/>
              <a:gd name="connsiteX36" fmla="*/ 242483 w 583572"/>
              <a:gd name="connsiteY36" fmla="*/ 237149 h 583572"/>
              <a:gd name="connsiteX37" fmla="*/ 242483 w 583572"/>
              <a:gd name="connsiteY37" fmla="*/ 237149 h 583572"/>
              <a:gd name="connsiteX38" fmla="*/ 242483 w 583572"/>
              <a:gd name="connsiteY38" fmla="*/ 237149 h 583572"/>
              <a:gd name="connsiteX39" fmla="*/ 242483 w 583572"/>
              <a:gd name="connsiteY39" fmla="*/ 237149 h 583572"/>
              <a:gd name="connsiteX40" fmla="*/ 242483 w 583572"/>
              <a:gd name="connsiteY40" fmla="*/ 237149 h 583572"/>
              <a:gd name="connsiteX41" fmla="*/ 242483 w 583572"/>
              <a:gd name="connsiteY41" fmla="*/ 237149 h 583572"/>
              <a:gd name="connsiteX42" fmla="*/ 242483 w 583572"/>
              <a:gd name="connsiteY42" fmla="*/ 237149 h 583572"/>
              <a:gd name="connsiteX43" fmla="*/ 242483 w 583572"/>
              <a:gd name="connsiteY43" fmla="*/ 237149 h 583572"/>
              <a:gd name="connsiteX44" fmla="*/ 242483 w 583572"/>
              <a:gd name="connsiteY44" fmla="*/ 237149 h 583572"/>
              <a:gd name="connsiteX45" fmla="*/ 242483 w 583572"/>
              <a:gd name="connsiteY45" fmla="*/ 237149 h 583572"/>
              <a:gd name="connsiteX46" fmla="*/ 242483 w 583572"/>
              <a:gd name="connsiteY46" fmla="*/ 237149 h 583572"/>
              <a:gd name="connsiteX47" fmla="*/ 242483 w 583572"/>
              <a:gd name="connsiteY47" fmla="*/ 237149 h 583572"/>
              <a:gd name="connsiteX48" fmla="*/ 242483 w 583572"/>
              <a:gd name="connsiteY48" fmla="*/ 237149 h 583572"/>
              <a:gd name="connsiteX49" fmla="*/ 242483 w 583572"/>
              <a:gd name="connsiteY49" fmla="*/ 237149 h 583572"/>
              <a:gd name="connsiteX50" fmla="*/ 242483 w 583572"/>
              <a:gd name="connsiteY50" fmla="*/ 237149 h 583572"/>
              <a:gd name="connsiteX51" fmla="*/ 242483 w 583572"/>
              <a:gd name="connsiteY51" fmla="*/ 237149 h 583572"/>
              <a:gd name="connsiteX52" fmla="*/ 242483 w 583572"/>
              <a:gd name="connsiteY52" fmla="*/ 237149 h 583572"/>
              <a:gd name="connsiteX53" fmla="*/ 242483 w 583572"/>
              <a:gd name="connsiteY53" fmla="*/ 237149 h 583572"/>
              <a:gd name="connsiteX54" fmla="*/ 242483 w 583572"/>
              <a:gd name="connsiteY54" fmla="*/ 237149 h 583572"/>
              <a:gd name="connsiteX55" fmla="*/ 242483 w 583572"/>
              <a:gd name="connsiteY55" fmla="*/ 235910 h 583572"/>
              <a:gd name="connsiteX56" fmla="*/ 242483 w 583572"/>
              <a:gd name="connsiteY56" fmla="*/ 110085 h 583572"/>
              <a:gd name="connsiteX57" fmla="*/ 361545 w 583572"/>
              <a:gd name="connsiteY57" fmla="*/ 235910 h 583572"/>
              <a:gd name="connsiteX58" fmla="*/ 235339 w 583572"/>
              <a:gd name="connsiteY58" fmla="*/ 362117 h 583572"/>
              <a:gd name="connsiteX59" fmla="*/ 151424 w 583572"/>
              <a:gd name="connsiteY59" fmla="*/ 329922 h 583572"/>
              <a:gd name="connsiteX60" fmla="*/ 240387 w 583572"/>
              <a:gd name="connsiteY60" fmla="*/ 240959 h 583572"/>
              <a:gd name="connsiteX61" fmla="*/ 228481 w 583572"/>
              <a:gd name="connsiteY61" fmla="*/ 109704 h 583572"/>
              <a:gd name="connsiteX62" fmla="*/ 228481 w 583572"/>
              <a:gd name="connsiteY62" fmla="*/ 228386 h 583572"/>
              <a:gd name="connsiteX63" fmla="*/ 109799 w 583572"/>
              <a:gd name="connsiteY63" fmla="*/ 228386 h 583572"/>
              <a:gd name="connsiteX64" fmla="*/ 228481 w 583572"/>
              <a:gd name="connsiteY64" fmla="*/ 109704 h 583572"/>
              <a:gd name="connsiteX65" fmla="*/ 218384 w 583572"/>
              <a:gd name="connsiteY65" fmla="*/ 242673 h 583572"/>
              <a:gd name="connsiteX66" fmla="*/ 141613 w 583572"/>
              <a:gd name="connsiteY66" fmla="*/ 319445 h 583572"/>
              <a:gd name="connsiteX67" fmla="*/ 109799 w 583572"/>
              <a:gd name="connsiteY67" fmla="*/ 242673 h 583572"/>
              <a:gd name="connsiteX68" fmla="*/ 218384 w 583572"/>
              <a:gd name="connsiteY68" fmla="*/ 242673 h 583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83572" h="583572">
                <a:moveTo>
                  <a:pt x="235625" y="471178"/>
                </a:moveTo>
                <a:cubicBezTo>
                  <a:pt x="293727" y="471178"/>
                  <a:pt x="351734" y="449651"/>
                  <a:pt x="396978" y="407075"/>
                </a:cubicBezTo>
                <a:lnTo>
                  <a:pt x="573476" y="583573"/>
                </a:lnTo>
                <a:lnTo>
                  <a:pt x="583573" y="573476"/>
                </a:lnTo>
                <a:lnTo>
                  <a:pt x="407075" y="396978"/>
                </a:lnTo>
                <a:cubicBezTo>
                  <a:pt x="493943" y="304681"/>
                  <a:pt x="492514" y="159139"/>
                  <a:pt x="402312" y="68937"/>
                </a:cubicBezTo>
                <a:cubicBezTo>
                  <a:pt x="310396" y="-22979"/>
                  <a:pt x="160853" y="-22979"/>
                  <a:pt x="68937" y="68937"/>
                </a:cubicBezTo>
                <a:cubicBezTo>
                  <a:pt x="-22979" y="160853"/>
                  <a:pt x="-22979" y="310396"/>
                  <a:pt x="68937" y="402312"/>
                </a:cubicBezTo>
                <a:cubicBezTo>
                  <a:pt x="114943" y="448318"/>
                  <a:pt x="175236" y="471273"/>
                  <a:pt x="235625" y="471273"/>
                </a:cubicBezTo>
                <a:close/>
                <a:moveTo>
                  <a:pt x="79034" y="78938"/>
                </a:moveTo>
                <a:cubicBezTo>
                  <a:pt x="122182" y="35790"/>
                  <a:pt x="178951" y="14168"/>
                  <a:pt x="235625" y="14168"/>
                </a:cubicBezTo>
                <a:cubicBezTo>
                  <a:pt x="292298" y="14168"/>
                  <a:pt x="349067" y="35790"/>
                  <a:pt x="392216" y="78938"/>
                </a:cubicBezTo>
                <a:cubicBezTo>
                  <a:pt x="478607" y="165330"/>
                  <a:pt x="478607" y="305824"/>
                  <a:pt x="392216" y="392120"/>
                </a:cubicBezTo>
                <a:cubicBezTo>
                  <a:pt x="305824" y="478417"/>
                  <a:pt x="165330" y="478512"/>
                  <a:pt x="79034" y="392120"/>
                </a:cubicBezTo>
                <a:cubicBezTo>
                  <a:pt x="-7263" y="305729"/>
                  <a:pt x="-7358" y="165235"/>
                  <a:pt x="79034" y="78938"/>
                </a:cubicBezTo>
                <a:close/>
                <a:moveTo>
                  <a:pt x="136279" y="334875"/>
                </a:moveTo>
                <a:cubicBezTo>
                  <a:pt x="136279" y="334875"/>
                  <a:pt x="136469" y="334875"/>
                  <a:pt x="136565" y="335066"/>
                </a:cubicBezTo>
                <a:cubicBezTo>
                  <a:pt x="161996" y="360402"/>
                  <a:pt x="197048" y="376023"/>
                  <a:pt x="235625" y="376023"/>
                </a:cubicBezTo>
                <a:cubicBezTo>
                  <a:pt x="313063" y="376023"/>
                  <a:pt x="376118" y="312968"/>
                  <a:pt x="376118" y="235529"/>
                </a:cubicBezTo>
                <a:cubicBezTo>
                  <a:pt x="376118" y="158091"/>
                  <a:pt x="313063" y="95036"/>
                  <a:pt x="235625" y="95036"/>
                </a:cubicBezTo>
                <a:cubicBezTo>
                  <a:pt x="158186" y="95036"/>
                  <a:pt x="95131" y="158091"/>
                  <a:pt x="95131" y="235529"/>
                </a:cubicBezTo>
                <a:cubicBezTo>
                  <a:pt x="95131" y="274201"/>
                  <a:pt x="110847" y="309158"/>
                  <a:pt x="136088" y="334589"/>
                </a:cubicBezTo>
                <a:cubicBezTo>
                  <a:pt x="136088" y="334589"/>
                  <a:pt x="136088" y="334780"/>
                  <a:pt x="136279" y="334875"/>
                </a:cubicBezTo>
                <a:close/>
                <a:moveTo>
                  <a:pt x="240673" y="240578"/>
                </a:moveTo>
                <a:lnTo>
                  <a:pt x="240673" y="240578"/>
                </a:lnTo>
                <a:cubicBezTo>
                  <a:pt x="240673" y="240578"/>
                  <a:pt x="240673" y="240578"/>
                  <a:pt x="240673" y="240578"/>
                </a:cubicBezTo>
                <a:cubicBezTo>
                  <a:pt x="240673" y="240578"/>
                  <a:pt x="240673" y="240578"/>
                  <a:pt x="240673" y="240578"/>
                </a:cubicBezTo>
                <a:cubicBezTo>
                  <a:pt x="240673" y="240578"/>
                  <a:pt x="240673" y="240578"/>
                  <a:pt x="240673" y="240578"/>
                </a:cubicBezTo>
                <a:lnTo>
                  <a:pt x="240673" y="240578"/>
                </a:lnTo>
                <a:cubicBezTo>
                  <a:pt x="241625" y="239625"/>
                  <a:pt x="242197" y="238387"/>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cubicBezTo>
                  <a:pt x="242483" y="237149"/>
                  <a:pt x="242483" y="237149"/>
                  <a:pt x="242483" y="237149"/>
                </a:cubicBezTo>
                <a:lnTo>
                  <a:pt x="242483" y="237149"/>
                </a:lnTo>
                <a:cubicBezTo>
                  <a:pt x="242483" y="237149"/>
                  <a:pt x="242483" y="237149"/>
                  <a:pt x="242483" y="237149"/>
                </a:cubicBezTo>
                <a:lnTo>
                  <a:pt x="242483" y="237149"/>
                </a:lnTo>
                <a:cubicBezTo>
                  <a:pt x="242483" y="237149"/>
                  <a:pt x="242483" y="237149"/>
                  <a:pt x="242483" y="237149"/>
                </a:cubicBezTo>
                <a:lnTo>
                  <a:pt x="242483" y="237149"/>
                </a:lnTo>
                <a:cubicBezTo>
                  <a:pt x="242483" y="237149"/>
                  <a:pt x="242578" y="236291"/>
                  <a:pt x="242483" y="235910"/>
                </a:cubicBezTo>
                <a:lnTo>
                  <a:pt x="242483" y="110085"/>
                </a:lnTo>
                <a:cubicBezTo>
                  <a:pt x="308777" y="113800"/>
                  <a:pt x="361545" y="168759"/>
                  <a:pt x="361545" y="235910"/>
                </a:cubicBezTo>
                <a:cubicBezTo>
                  <a:pt x="361545" y="303062"/>
                  <a:pt x="304967" y="362117"/>
                  <a:pt x="235339" y="362117"/>
                </a:cubicBezTo>
                <a:cubicBezTo>
                  <a:pt x="203144" y="362117"/>
                  <a:pt x="173712" y="349829"/>
                  <a:pt x="151424" y="329922"/>
                </a:cubicBezTo>
                <a:lnTo>
                  <a:pt x="240387" y="240959"/>
                </a:lnTo>
                <a:close/>
                <a:moveTo>
                  <a:pt x="228481" y="109704"/>
                </a:moveTo>
                <a:lnTo>
                  <a:pt x="228481" y="228386"/>
                </a:lnTo>
                <a:lnTo>
                  <a:pt x="109799" y="228386"/>
                </a:lnTo>
                <a:cubicBezTo>
                  <a:pt x="113419" y="164473"/>
                  <a:pt x="164663" y="113324"/>
                  <a:pt x="228481" y="109704"/>
                </a:cubicBezTo>
                <a:close/>
                <a:moveTo>
                  <a:pt x="218384" y="242673"/>
                </a:moveTo>
                <a:lnTo>
                  <a:pt x="141613" y="319445"/>
                </a:lnTo>
                <a:cubicBezTo>
                  <a:pt x="123134" y="298775"/>
                  <a:pt x="111419" y="272105"/>
                  <a:pt x="109799" y="242673"/>
                </a:cubicBezTo>
                <a:lnTo>
                  <a:pt x="218384" y="242673"/>
                </a:lnTo>
                <a:close/>
              </a:path>
            </a:pathLst>
          </a:custGeom>
          <a:solidFill>
            <a:schemeClr val="tx1"/>
          </a:solidFill>
          <a:ln w="9525" cap="flat">
            <a:noFill/>
            <a:prstDash val="solid"/>
            <a:miter/>
          </a:ln>
        </p:spPr>
        <p:txBody>
          <a:bodyPr rtlCol="0" anchor="ctr"/>
          <a:lstStyle/>
          <a:p>
            <a:endParaRPr lang="en-US" dirty="0">
              <a:latin typeface="Inter" panose="02000503000000020004" pitchFamily="2" charset="0"/>
            </a:endParaRPr>
          </a:p>
        </p:txBody>
      </p:sp>
      <p:sp>
        <p:nvSpPr>
          <p:cNvPr id="15" name="TextBox 14">
            <a:extLst>
              <a:ext uri="{FF2B5EF4-FFF2-40B4-BE49-F238E27FC236}">
                <a16:creationId xmlns:a16="http://schemas.microsoft.com/office/drawing/2014/main" id="{051BEC28-AC89-8E56-78EE-96E61CD7995C}"/>
              </a:ext>
            </a:extLst>
          </p:cNvPr>
          <p:cNvSpPr txBox="1"/>
          <p:nvPr/>
        </p:nvSpPr>
        <p:spPr>
          <a:xfrm>
            <a:off x="8138317" y="2835011"/>
            <a:ext cx="2750347" cy="307777"/>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2000" dirty="0">
                <a:latin typeface="Inter" panose="02000503000000020004" pitchFamily="2" charset="0"/>
                <a:ea typeface="ＭＳ Ｐゴシック" charset="0"/>
              </a:rPr>
              <a:t>Takeaway #3</a:t>
            </a:r>
          </a:p>
        </p:txBody>
      </p:sp>
      <p:sp>
        <p:nvSpPr>
          <p:cNvPr id="14" name="TextBox 13">
            <a:extLst>
              <a:ext uri="{FF2B5EF4-FFF2-40B4-BE49-F238E27FC236}">
                <a16:creationId xmlns:a16="http://schemas.microsoft.com/office/drawing/2014/main" id="{C6AF373E-1D01-4F39-FD0F-B11F3816FD1F}"/>
              </a:ext>
            </a:extLst>
          </p:cNvPr>
          <p:cNvSpPr txBox="1"/>
          <p:nvPr/>
        </p:nvSpPr>
        <p:spPr>
          <a:xfrm>
            <a:off x="8138316" y="3301082"/>
            <a:ext cx="2750347" cy="1605568"/>
          </a:xfrm>
          <a:prstGeom prst="rect">
            <a:avLst/>
          </a:prstGeom>
          <a:noFill/>
        </p:spPr>
        <p:txBody>
          <a:bodyPr wrap="square" lIns="0" tIns="0" rIns="0" bIns="0" rtlCol="0">
            <a:spAutoFit/>
          </a:bodyPr>
          <a:lstStyle/>
          <a:p>
            <a:pPr defTabSz="912276" fontAlgn="base">
              <a:spcAft>
                <a:spcPts val="1000"/>
              </a:spcAft>
              <a:buClr>
                <a:schemeClr val="bg1"/>
              </a:buClr>
              <a:buSzPct val="100000"/>
            </a:pPr>
            <a:r>
              <a:rPr lang="en-US" sz="1600" dirty="0">
                <a:latin typeface="Inter" panose="02000503000000020004" pitchFamily="2" charset="0"/>
                <a:ea typeface="ＭＳ Ｐゴシック" charset="0"/>
              </a:rPr>
              <a:t>Keep it extensible and expandable.</a:t>
            </a:r>
          </a:p>
          <a:p>
            <a:pPr defTabSz="912276" fontAlgn="base">
              <a:spcAft>
                <a:spcPts val="1000"/>
              </a:spcAft>
              <a:buClr>
                <a:schemeClr val="bg1"/>
              </a:buClr>
              <a:buSzPct val="100000"/>
            </a:pPr>
            <a:r>
              <a:rPr lang="en-US" sz="1600" kern="1200" dirty="0">
                <a:latin typeface="Inter" panose="02000503000000020004" pitchFamily="2" charset="0"/>
                <a:ea typeface="ＭＳ Ｐゴシック" charset="0"/>
              </a:rPr>
              <a:t>Make mistakes, lea</a:t>
            </a:r>
            <a:r>
              <a:rPr lang="en-US" sz="1600" dirty="0">
                <a:latin typeface="Inter" panose="02000503000000020004" pitchFamily="2" charset="0"/>
                <a:ea typeface="ＭＳ Ｐゴシック" charset="0"/>
              </a:rPr>
              <a:t>rn fast and use your existing development pipelines to grow</a:t>
            </a:r>
            <a:endParaRPr lang="en-US" sz="1600" kern="1200" dirty="0">
              <a:latin typeface="Inter" panose="02000503000000020004" pitchFamily="2" charset="0"/>
              <a:ea typeface="ＭＳ Ｐゴシック" charset="0"/>
            </a:endParaRPr>
          </a:p>
        </p:txBody>
      </p:sp>
    </p:spTree>
    <p:extLst>
      <p:ext uri="{BB962C8B-B14F-4D97-AF65-F5344CB8AC3E}">
        <p14:creationId xmlns:p14="http://schemas.microsoft.com/office/powerpoint/2010/main" val="2466290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0968-3B02-1B70-15C7-A7CB95034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36160-6EF8-5713-32DA-0B9D7A0FEAAC}"/>
              </a:ext>
            </a:extLst>
          </p:cNvPr>
          <p:cNvSpPr>
            <a:spLocks noGrp="1"/>
          </p:cNvSpPr>
          <p:nvPr>
            <p:ph type="title"/>
          </p:nvPr>
        </p:nvSpPr>
        <p:spPr>
          <a:xfrm>
            <a:off x="5746750" y="1631745"/>
            <a:ext cx="5878513" cy="1554163"/>
          </a:xfrm>
        </p:spPr>
        <p:txBody>
          <a:bodyPr/>
          <a:lstStyle/>
          <a:p>
            <a:r>
              <a:rPr lang="en-US" sz="2800" dirty="0"/>
              <a:t>From Zero to Agentic: </a:t>
            </a:r>
            <a:br>
              <a:rPr lang="en-US" sz="2800" dirty="0"/>
            </a:br>
            <a:r>
              <a:rPr lang="en-US" sz="2800" dirty="0"/>
              <a:t>Building Your First AI-Driven Threat Investigation in Splunk Enterprise Security</a:t>
            </a:r>
          </a:p>
        </p:txBody>
      </p:sp>
      <p:sp>
        <p:nvSpPr>
          <p:cNvPr id="3" name="Text Placeholder 2">
            <a:extLst>
              <a:ext uri="{FF2B5EF4-FFF2-40B4-BE49-F238E27FC236}">
                <a16:creationId xmlns:a16="http://schemas.microsoft.com/office/drawing/2014/main" id="{B66B97A0-A2DF-87CB-F34A-7634E0C11C55}"/>
              </a:ext>
            </a:extLst>
          </p:cNvPr>
          <p:cNvSpPr>
            <a:spLocks noGrp="1"/>
          </p:cNvSpPr>
          <p:nvPr>
            <p:ph type="body" sz="quarter" idx="13"/>
          </p:nvPr>
        </p:nvSpPr>
        <p:spPr>
          <a:xfrm>
            <a:off x="5746750" y="3277983"/>
            <a:ext cx="5878513" cy="223837"/>
          </a:xfrm>
        </p:spPr>
        <p:txBody>
          <a:bodyPr/>
          <a:lstStyle/>
          <a:p>
            <a:r>
              <a:rPr lang="en-US" dirty="0"/>
              <a:t>SEC1215</a:t>
            </a:r>
          </a:p>
          <a:p>
            <a:endParaRPr lang="en-US" dirty="0"/>
          </a:p>
          <a:p>
            <a:endParaRPr lang="en-US" dirty="0"/>
          </a:p>
        </p:txBody>
      </p:sp>
      <p:sp>
        <p:nvSpPr>
          <p:cNvPr id="4" name="Text Placeholder 3">
            <a:extLst>
              <a:ext uri="{FF2B5EF4-FFF2-40B4-BE49-F238E27FC236}">
                <a16:creationId xmlns:a16="http://schemas.microsoft.com/office/drawing/2014/main" id="{070FB1C2-93D0-5F15-B94A-8C025404729D}"/>
              </a:ext>
            </a:extLst>
          </p:cNvPr>
          <p:cNvSpPr>
            <a:spLocks noGrp="1"/>
          </p:cNvSpPr>
          <p:nvPr>
            <p:ph type="body" sz="quarter" idx="11"/>
          </p:nvPr>
        </p:nvSpPr>
        <p:spPr>
          <a:xfrm>
            <a:off x="5746750" y="4009292"/>
            <a:ext cx="5878513" cy="1674163"/>
          </a:xfrm>
        </p:spPr>
        <p:txBody>
          <a:bodyPr/>
          <a:lstStyle/>
          <a:p>
            <a:pPr lvl="0"/>
            <a:r>
              <a:rPr lang="en-US" dirty="0"/>
              <a:t>David Pollard</a:t>
            </a:r>
          </a:p>
          <a:p>
            <a:pPr lvl="0"/>
            <a:r>
              <a:rPr lang="en-US" dirty="0"/>
              <a:t>Unshakeable Salt Ltd,  @UnshakeableSalt</a:t>
            </a:r>
            <a:br>
              <a:rPr lang="en-US" dirty="0"/>
            </a:br>
            <a:br>
              <a:rPr lang="en-US" dirty="0"/>
            </a:br>
            <a:r>
              <a:rPr lang="en-US" dirty="0"/>
              <a:t>Resources:</a:t>
            </a:r>
            <a:br>
              <a:rPr lang="en-US" dirty="0"/>
            </a:br>
            <a:r>
              <a:rPr lang="en-US" dirty="0"/>
              <a:t>https://</a:t>
            </a:r>
            <a:r>
              <a:rPr lang="en-US" dirty="0" err="1"/>
              <a:t>github.com</a:t>
            </a:r>
            <a:r>
              <a:rPr lang="en-US" dirty="0"/>
              <a:t>/</a:t>
            </a:r>
            <a:r>
              <a:rPr lang="en-US" dirty="0" err="1"/>
              <a:t>UnshakeableSaltLtd</a:t>
            </a:r>
            <a:r>
              <a:rPr lang="en-US" dirty="0"/>
              <a:t>/</a:t>
            </a:r>
            <a:r>
              <a:rPr lang="en-US" dirty="0" err="1"/>
              <a:t>SplunkConf</a:t>
            </a:r>
            <a:endParaRPr lang="en-US" dirty="0"/>
          </a:p>
        </p:txBody>
      </p:sp>
      <p:pic>
        <p:nvPicPr>
          <p:cNvPr id="12" name="Picture Placeholder 11">
            <a:extLst>
              <a:ext uri="{FF2B5EF4-FFF2-40B4-BE49-F238E27FC236}">
                <a16:creationId xmlns:a16="http://schemas.microsoft.com/office/drawing/2014/main" id="{14DEB1B0-17B2-6E40-B35A-4B1BF44636C6}"/>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t="1300" b="1300"/>
          <a:stretch>
            <a:fillRect/>
          </a:stretch>
        </p:blipFill>
        <p:spPr>
          <a:prstGeom prst="roundRect">
            <a:avLst>
              <a:gd name="adj" fmla="val 5474"/>
            </a:avLst>
          </a:prstGeom>
          <a:noFill/>
        </p:spPr>
      </p:pic>
    </p:spTree>
    <p:extLst>
      <p:ext uri="{BB962C8B-B14F-4D97-AF65-F5344CB8AC3E}">
        <p14:creationId xmlns:p14="http://schemas.microsoft.com/office/powerpoint/2010/main" val="2551562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716A7-213A-DDE5-DCE0-21000546B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8E572-9E3A-E51A-CB34-A31754180379}"/>
              </a:ext>
            </a:extLst>
          </p:cNvPr>
          <p:cNvSpPr>
            <a:spLocks noGrp="1"/>
          </p:cNvSpPr>
          <p:nvPr>
            <p:ph type="title"/>
          </p:nvPr>
        </p:nvSpPr>
        <p:spPr>
          <a:xfrm>
            <a:off x="323850" y="3114676"/>
            <a:ext cx="4316976" cy="623888"/>
          </a:xfrm>
        </p:spPr>
        <p:txBody>
          <a:bodyPr/>
          <a:lstStyle/>
          <a:p>
            <a:r>
              <a:rPr lang="en-US" sz="4400" dirty="0"/>
              <a:t>Thank you</a:t>
            </a:r>
          </a:p>
        </p:txBody>
      </p:sp>
    </p:spTree>
    <p:extLst>
      <p:ext uri="{BB962C8B-B14F-4D97-AF65-F5344CB8AC3E}">
        <p14:creationId xmlns:p14="http://schemas.microsoft.com/office/powerpoint/2010/main" val="3336222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Splunk Template_Light">
  <a:themeElements>
    <a:clrScheme name="Splunk Template _Light">
      <a:dk1>
        <a:srgbClr val="FFFFFF"/>
      </a:dk1>
      <a:lt1>
        <a:srgbClr val="000000"/>
      </a:lt1>
      <a:dk2>
        <a:srgbClr val="F1F4FA"/>
      </a:dk2>
      <a:lt2>
        <a:srgbClr val="04060A"/>
      </a:lt2>
      <a:accent1>
        <a:srgbClr val="02C8FF"/>
      </a:accent1>
      <a:accent2>
        <a:srgbClr val="0A60FF"/>
      </a:accent2>
      <a:accent3>
        <a:srgbClr val="FF007F"/>
      </a:accent3>
      <a:accent4>
        <a:srgbClr val="FF9000"/>
      </a:accent4>
      <a:accent5>
        <a:srgbClr val="E9EDF4"/>
      </a:accent5>
      <a:accent6>
        <a:srgbClr val="04060A"/>
      </a:accent6>
      <a:hlink>
        <a:srgbClr val="095FFF"/>
      </a:hlink>
      <a:folHlink>
        <a:srgbClr val="BBC1C9"/>
      </a:folHlink>
    </a:clrScheme>
    <a:fontScheme name="Splunk_Inter_04-14-2026">
      <a:majorFont>
        <a:latin typeface="Inter SemiBold"/>
        <a:ea typeface=""/>
        <a:cs typeface=""/>
      </a:majorFont>
      <a:minorFont>
        <a:latin typeface="Int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gradFill flip="none" rotWithShape="1">
          <a:gsLst>
            <a:gs pos="28000">
              <a:schemeClr val="accent4"/>
            </a:gs>
            <a:gs pos="93000">
              <a:schemeClr val="accent3"/>
            </a:gs>
          </a:gsLst>
          <a:lin ang="10800000" scaled="1"/>
          <a:tileRect/>
        </a:gradFill>
        <a:ln w="15875">
          <a:solidFill>
            <a:schemeClr val="bg2"/>
          </a:solidFill>
        </a:ln>
        <a:effectLst/>
      </a:spPr>
      <a:bodyPr wrap="square" lIns="182880" tIns="182880" rIns="182880" bIns="182880" rtlCol="0" anchor="t" anchorCtr="0">
        <a:noAutofit/>
      </a:bodyPr>
      <a:lstStyle>
        <a:defPPr marL="182880" indent="-182880" algn="l">
          <a:buFont typeface="Arial" panose="020B0604020202020204" pitchFamily="34" charset="0"/>
          <a:buChar char="•"/>
          <a:defRPr sz="1600"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marL="182880" indent="-182880" algn="l" defTabSz="912276" rtl="0" eaLnBrk="1" fontAlgn="base" hangingPunct="1">
          <a:lnSpc>
            <a:spcPct val="100000"/>
          </a:lnSpc>
          <a:spcBef>
            <a:spcPts val="0"/>
          </a:spcBef>
          <a:spcAft>
            <a:spcPts val="1000"/>
          </a:spcAft>
          <a:buClr>
            <a:schemeClr val="bg1"/>
          </a:buClr>
          <a:buSzPct val="100000"/>
          <a:buFont typeface="Arial" panose="020B0604020202020204" pitchFamily="34" charset="0"/>
          <a:buChar char="•"/>
          <a:defRPr sz="1600" kern="1200" dirty="0" err="1" smtClean="0">
            <a:solidFill>
              <a:schemeClr val="bg1"/>
            </a:solidFill>
            <a:latin typeface="+mn-lt"/>
            <a:ea typeface="ＭＳ Ｐゴシック" charset="0"/>
          </a:defRPr>
        </a:defPPr>
      </a:lstStyle>
    </a:txDef>
  </a:objectDefaults>
  <a:extraClrSchemeLst/>
  <a:extLst>
    <a:ext uri="{05A4C25C-085E-4340-85A3-A5531E510DB2}">
      <thm15:themeFamily xmlns:thm15="http://schemas.microsoft.com/office/thememl/2012/main" name="conf26_SEC1215 Presentation_v1.pptx" id="{1640AA1F-01B3-664A-8E58-AB22105436D7}" vid="{538CE726-5326-DE4A-87EC-D62BF2C5BE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isco PowerPoint 02-26-2025">
      <a:majorFont>
        <a:latin typeface="CiscoSansTT Medium"/>
        <a:ea typeface=""/>
        <a:cs typeface=""/>
      </a:majorFont>
      <a:minorFont>
        <a:latin typeface="CiscoSansT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023c571-ab7f-4e41-8d03-2262f05dcfa9" xsi:nil="true"/>
    <lcf76f155ced4ddcb4097134ff3c332f xmlns="436e6cc3-73db-45b7-95c7-6e848b5dcabc">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FC90483F6D65343AB8A3F0A3FE1718C" ma:contentTypeVersion="11" ma:contentTypeDescription="Create a new document." ma:contentTypeScope="" ma:versionID="ba2fe747e3ddf38885f0a6275a022522">
  <xsd:schema xmlns:xsd="http://www.w3.org/2001/XMLSchema" xmlns:xs="http://www.w3.org/2001/XMLSchema" xmlns:p="http://schemas.microsoft.com/office/2006/metadata/properties" xmlns:ns2="436e6cc3-73db-45b7-95c7-6e848b5dcabc" xmlns:ns3="3023c571-ab7f-4e41-8d03-2262f05dcfa9" targetNamespace="http://schemas.microsoft.com/office/2006/metadata/properties" ma:root="true" ma:fieldsID="97a6c8595afaa3df55ca0d3f559b3b67" ns2:_="" ns3:_="">
    <xsd:import namespace="436e6cc3-73db-45b7-95c7-6e848b5dcabc"/>
    <xsd:import namespace="3023c571-ab7f-4e41-8d03-2262f05dcf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e6cc3-73db-45b7-95c7-6e848b5dca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10261dd-85c0-4e16-8580-30375acfae1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023c571-ab7f-4e41-8d03-2262f05dcf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aab1e4d-98fa-4c8f-8981-90ca02cff468}" ma:internalName="TaxCatchAll" ma:showField="CatchAllData" ma:web="3023c571-ab7f-4e41-8d03-2262f05dcfa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F4BF782-4FFE-4FA9-B058-D73184FB1945}">
  <ds:schemaRefs>
    <ds:schemaRef ds:uri="http://purl.org/dc/dcmitype/"/>
    <ds:schemaRef ds:uri="http://purl.org/dc/elements/1.1/"/>
    <ds:schemaRef ds:uri="http://schemas.microsoft.com/office/2006/documentManagement/types"/>
    <ds:schemaRef ds:uri="3023c571-ab7f-4e41-8d03-2262f05dcfa9"/>
    <ds:schemaRef ds:uri="http://www.w3.org/XML/1998/namespace"/>
    <ds:schemaRef ds:uri="http://schemas.microsoft.com/office/2006/metadata/properties"/>
    <ds:schemaRef ds:uri="http://purl.org/dc/terms/"/>
    <ds:schemaRef ds:uri="http://schemas.microsoft.com/office/infopath/2007/PartnerControls"/>
    <ds:schemaRef ds:uri="http://schemas.openxmlformats.org/package/2006/metadata/core-properties"/>
    <ds:schemaRef ds:uri="436e6cc3-73db-45b7-95c7-6e848b5dcabc"/>
  </ds:schemaRefs>
</ds:datastoreItem>
</file>

<file path=customXml/itemProps2.xml><?xml version="1.0" encoding="utf-8"?>
<ds:datastoreItem xmlns:ds="http://schemas.openxmlformats.org/officeDocument/2006/customXml" ds:itemID="{1D0B9CF5-D5D6-4BCA-8BB3-2F2D5F46048E}">
  <ds:schemaRefs>
    <ds:schemaRef ds:uri="http://schemas.microsoft.com/sharepoint/v3/contenttype/forms"/>
  </ds:schemaRefs>
</ds:datastoreItem>
</file>

<file path=customXml/itemProps3.xml><?xml version="1.0" encoding="utf-8"?>
<ds:datastoreItem xmlns:ds="http://schemas.openxmlformats.org/officeDocument/2006/customXml" ds:itemID="{99BCD870-3D38-4491-B0DA-B0825E42F2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e6cc3-73db-45b7-95c7-6e848b5dcabc"/>
    <ds:schemaRef ds:uri="3023c571-ab7f-4e41-8d03-2262f05dcfa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c8f49a32-fde3-48a5-9266-b5b0972a22dc}" enabled="1" method="Privileged" siteId="{5ae1af62-9505-4097-a69a-c1553ef7840e}" removed="0"/>
</clbl:labelList>
</file>

<file path=docProps/app.xml><?xml version="1.0" encoding="utf-8"?>
<Properties xmlns="http://schemas.openxmlformats.org/officeDocument/2006/extended-properties" xmlns:vt="http://schemas.openxmlformats.org/officeDocument/2006/docPropsVTypes">
  <Template/>
  <TotalTime>11629</TotalTime>
  <Words>5651</Words>
  <Application>Microsoft Macintosh PowerPoint</Application>
  <PresentationFormat>Widescreen</PresentationFormat>
  <Paragraphs>458</Paragraphs>
  <Slides>22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Aptos</vt:lpstr>
      <vt:lpstr>Inter</vt:lpstr>
      <vt:lpstr>Splunk Data Sans Pro</vt:lpstr>
      <vt:lpstr>Inter Light</vt:lpstr>
      <vt:lpstr>MS PGothic</vt:lpstr>
      <vt:lpstr>Source Code Pro</vt:lpstr>
      <vt:lpstr>Inter SemiBold</vt:lpstr>
      <vt:lpstr>Splunk Template_Light</vt:lpstr>
      <vt:lpstr>From Zero to Agentic:  Building Your First AI-Driven Threat Investigation in Splunk Enterprise Security</vt:lpstr>
      <vt:lpstr>From Zero to Agentic: Building Your First AI-Driven Threat Investigation in Splunk Enterprise Security</vt:lpstr>
      <vt:lpstr>PowerPoint Presentation</vt:lpstr>
      <vt:lpstr>‘Agentic AI’  is Easy to Say,                                           - Hard to Ship</vt:lpstr>
      <vt:lpstr>We have no SOAR,  we have no AI  Take a finding we see in Enterprise Security, where we normally have to rely on a person performing an action, manually gathering some enrichment data,  rekeying it into our platform and waiting for the next decision point.  ‘Apply some Agentic AI magic'</vt:lpstr>
      <vt:lpstr>PowerPoint Presentation</vt:lpstr>
      <vt:lpstr>Other LLM and AI Providers are available…</vt:lpstr>
      <vt:lpstr>Choosing the Right LLM for SecOps</vt:lpstr>
      <vt:lpstr>The Agentic Loop, One Synchronous Step</vt:lpstr>
      <vt:lpstr>Phase 1: ES Alert Action Feeds the Agentic AI</vt:lpstr>
      <vt:lpstr>What Splunk Gives You for Free vs. What You Build</vt:lpstr>
      <vt:lpstr>Phase 2, Take 1:  What We Thought We Needed</vt:lpstr>
      <vt:lpstr>Phase 3, Take 2: One Payload, Three Existing Write-Back Paths</vt:lpstr>
      <vt:lpstr>Live DEMO</vt:lpstr>
      <vt:lpstr>LIVE DEMO SCRIPT</vt:lpstr>
      <vt:lpstr>PowerPoint Presentation</vt:lpstr>
      <vt:lpstr>Pitfalls We Hit</vt:lpstr>
      <vt:lpstr>PowerPoint Presentation</vt:lpstr>
      <vt:lpstr>PowerPoint Presentation</vt:lpstr>
      <vt:lpstr>From Zero to Agentic: Building Your First AI-Driven Threat Investigation in Splunk Enterprise Security</vt:lpstr>
      <vt:lpstr>From Zero to Agentic:  Building Your First AI-Driven Threat Investigation in Splunk Enterprise Security</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David Pollard</dc:creator>
  <cp:keywords/>
  <dc:description/>
  <cp:lastModifiedBy>D Pollard</cp:lastModifiedBy>
  <cp:revision>173</cp:revision>
  <dcterms:created xsi:type="dcterms:W3CDTF">2026-01-01T21:26:30Z</dcterms:created>
  <dcterms:modified xsi:type="dcterms:W3CDTF">2026-08-03T14:06:09Z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2025-05-15T21:49:40Z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219e4d3d-e52c-4661-a7c5-2e875435f34b</vt:lpwstr>
  </property>
  <property fmtid="{D5CDD505-2E9C-101B-9397-08002B2CF9AE}" pid="8" name="MSIP_Label_c8f49a32-fde3-48a5-9266-b5b0972a22dc_ContentBits">
    <vt:lpwstr>2</vt:lpwstr>
  </property>
  <property fmtid="{D5CDD505-2E9C-101B-9397-08002B2CF9AE}" pid="9" name="MSIP_Label_c8f49a32-fde3-48a5-9266-b5b0972a22dc_Tag">
    <vt:lpwstr>10, 3, 0, 1</vt:lpwstr>
  </property>
  <property fmtid="{D5CDD505-2E9C-101B-9397-08002B2CF9AE}" pid="10" name="ClassificationContentMarkingFooterLocations">
    <vt:lpwstr>Cisco Dark 05-12-2025:8</vt:lpwstr>
  </property>
  <property fmtid="{D5CDD505-2E9C-101B-9397-08002B2CF9AE}" pid="11" name="ClassificationContentMarkingFooterText">
    <vt:lpwstr>Cisco Confidential</vt:lpwstr>
  </property>
  <property fmtid="{D5CDD505-2E9C-101B-9397-08002B2CF9AE}" pid="12" name="ContentTypeId">
    <vt:lpwstr>0x0101002FC90483F6D65343AB8A3F0A3FE1718C</vt:lpwstr>
  </property>
</Properties>
</file>